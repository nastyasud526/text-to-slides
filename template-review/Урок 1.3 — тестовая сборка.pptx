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34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Один текст на плашке. Text.plain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Введение + текст +вывод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Введение + текст +вывод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Введение + 5 пунктов с короткими заголовками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Введение - определение термина + пояснение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Текст+пример.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Термин определение + пояснение +пример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Введение + текст +вывод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Текст + сравнение двух схожих элементов или явлений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Один текст на плашке. Text.plain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Текст + сравнение двух схожих элементов или явлений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Введение + текст +вывод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Один текст на плашке. Text.plain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33">
            <a:extLst>
              <a:ext uri="{FF2B5EF4-FFF2-40B4-BE49-F238E27FC236}">
                <a16:creationId xmlns:a16="http://schemas.microsoft.com/office/drawing/2014/main" id="{2F96415F-CD0A-41D0-AB9C-C53C7E33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449" y="3002440"/>
            <a:ext cx="4702800" cy="1778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58" name="Google Shape;1258;p33">
            <a:extLst>
              <a:ext uri="{FF2B5EF4-FFF2-40B4-BE49-F238E27FC236}">
                <a16:creationId xmlns:a16="http://schemas.microsoft.com/office/drawing/2014/main" id="{EBE21DC3-D87D-451E-908A-0F4326EDB55C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3839433" y="1323640"/>
            <a:ext cx="2088800" cy="14404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rgbClr val="3F454F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9pPr>
          </a:lstStyle>
          <a:p>
            <a:r>
              <a:t>xx%</a:t>
            </a:r>
          </a:p>
        </p:txBody>
      </p:sp>
      <p:sp>
        <p:nvSpPr>
          <p:cNvPr id="1259" name="Google Shape;1259;p33">
            <a:extLst>
              <a:ext uri="{FF2B5EF4-FFF2-40B4-BE49-F238E27FC236}">
                <a16:creationId xmlns:a16="http://schemas.microsoft.com/office/drawing/2014/main" id="{3D5E204D-A166-400D-A049-2F32C40D3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9449" y="5019631"/>
            <a:ext cx="3185600" cy="777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9pPr>
          </a:lstStyle>
          <a:p>
            <a:endParaRPr/>
          </a:p>
        </p:txBody>
      </p:sp>
      <p:cxnSp>
        <p:nvCxnSpPr>
          <p:cNvPr id="1272" name="Google Shape;1260;p33"/>
          <p:cNvCxnSpPr/>
          <p:nvPr/>
        </p:nvCxnSpPr>
        <p:spPr>
          <a:xfrm rot="10800000">
            <a:off x="3971184" y="2820651"/>
            <a:ext cx="8220800" cy="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>
            <a:extLst>
              <a:ext uri="{FF2B5EF4-FFF2-40B4-BE49-F238E27FC236}">
                <a16:creationId xmlns:a16="http://schemas.microsoft.com/office/drawing/2014/main" id="{90FD6B1D-6012-41D5-A54B-6645C2155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6600" y="1658100"/>
            <a:ext cx="6328400" cy="2736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latin typeface="Bahnschrift SemiBold Condensed"/>
                <a:ea typeface="Bahnschrift SemiBold Condensed"/>
                <a:cs typeface="Bahnschrift SemiBold Condense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0A1F4081-0714-4830-AB4A-1AD9C186E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1267" y="4394900"/>
            <a:ext cx="4389600" cy="1056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latin typeface="Nunito"/>
                <a:ea typeface="Nunito"/>
                <a:cs typeface="Nunito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30">
            <a:extLst>
              <a:ext uri="{FF2B5EF4-FFF2-40B4-BE49-F238E27FC236}">
                <a16:creationId xmlns:a16="http://schemas.microsoft.com/office/drawing/2014/main" id="{D6EA95A7-FB20-48A4-A769-D0B455FB1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522580"/>
            <a:ext cx="4553520" cy="21892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9466">
                <a:latin typeface="Bahnschrift SemiBold Condensed"/>
                <a:ea typeface="Bahnschrift SemiBold Condensed"/>
                <a:cs typeface="Bahnschrift SemiBold Condensed"/>
              </a:defRPr>
            </a:lvl1pPr>
            <a:lvl2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162" name="Google Shape;1162;p30">
            <a:extLst>
              <a:ext uri="{FF2B5EF4-FFF2-40B4-BE49-F238E27FC236}">
                <a16:creationId xmlns:a16="http://schemas.microsoft.com/office/drawing/2014/main" id="{199B9BF5-5D93-417D-ABAC-C99682080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9433" y="2586565"/>
            <a:ext cx="4701600" cy="2189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Nunito"/>
                <a:ea typeface="Nunito"/>
                <a:cs typeface="Nunito"/>
              </a:defRPr>
            </a:lvl1pPr>
            <a:lvl2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72" name="Google Shape;1163;p30"/>
          <p:cNvCxnSpPr/>
          <p:nvPr/>
        </p:nvCxnSpPr>
        <p:spPr>
          <a:xfrm>
            <a:off x="6096000" y="-162400"/>
            <a:ext cx="0" cy="501400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inancial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AE91289-EEA3-411C-9BBE-FCAB2434F4D1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399213" y="0"/>
            <a:ext cx="5821363" cy="6858000"/>
          </a:xfrm>
          <a:custGeom>
            <a:avLst/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ahLst/>
            <a:cxnLst/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t>Image placeholder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21" Type="http://schemas.openxmlformats.org/officeDocument/2006/relationships/image" Target="../media/image32.svg"/><Relationship Id="rId7" Type="http://schemas.openxmlformats.org/officeDocument/2006/relationships/image" Target="../media/image19.svg"/><Relationship Id="rId12" Type="http://schemas.openxmlformats.org/officeDocument/2006/relationships/image" Target="../media/image24.svg"/><Relationship Id="rId17" Type="http://schemas.openxmlformats.org/officeDocument/2006/relationships/image" Target="../media/image29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sv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3.svg"/><Relationship Id="rId5" Type="http://schemas.openxmlformats.org/officeDocument/2006/relationships/image" Target="../media/image17.png"/><Relationship Id="rId15" Type="http://schemas.openxmlformats.org/officeDocument/2006/relationships/image" Target="../media/image27.svg"/><Relationship Id="rId10" Type="http://schemas.openxmlformats.org/officeDocument/2006/relationships/image" Target="../media/image22.svg"/><Relationship Id="rId19" Type="http://schemas.openxmlformats.org/officeDocument/2006/relationships/image" Target="../media/image30.svg"/><Relationship Id="rId4" Type="http://schemas.openxmlformats.org/officeDocument/2006/relationships/image" Target="../media/image16.svg"/><Relationship Id="rId9" Type="http://schemas.openxmlformats.org/officeDocument/2006/relationships/image" Target="../media/image21.svg"/><Relationship Id="rId14" Type="http://schemas.openxmlformats.org/officeDocument/2006/relationships/image" Target="../media/image2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21" Type="http://schemas.openxmlformats.org/officeDocument/2006/relationships/image" Target="../media/image32.svg"/><Relationship Id="rId7" Type="http://schemas.openxmlformats.org/officeDocument/2006/relationships/image" Target="../media/image19.svg"/><Relationship Id="rId12" Type="http://schemas.openxmlformats.org/officeDocument/2006/relationships/image" Target="../media/image24.svg"/><Relationship Id="rId17" Type="http://schemas.openxmlformats.org/officeDocument/2006/relationships/image" Target="../media/image29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8.sv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3.svg"/><Relationship Id="rId5" Type="http://schemas.openxmlformats.org/officeDocument/2006/relationships/image" Target="../media/image17.png"/><Relationship Id="rId15" Type="http://schemas.openxmlformats.org/officeDocument/2006/relationships/image" Target="../media/image27.svg"/><Relationship Id="rId10" Type="http://schemas.openxmlformats.org/officeDocument/2006/relationships/image" Target="../media/image22.svg"/><Relationship Id="rId19" Type="http://schemas.openxmlformats.org/officeDocument/2006/relationships/image" Target="../media/image30.svg"/><Relationship Id="rId4" Type="http://schemas.openxmlformats.org/officeDocument/2006/relationships/image" Target="../media/image16.svg"/><Relationship Id="rId9" Type="http://schemas.openxmlformats.org/officeDocument/2006/relationships/image" Target="../media/image21.svg"/><Relationship Id="rId14" Type="http://schemas.openxmlformats.org/officeDocument/2006/relationships/image" Target="../media/image2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22.svg"/><Relationship Id="rId18" Type="http://schemas.openxmlformats.org/officeDocument/2006/relationships/image" Target="../media/image27.svg"/><Relationship Id="rId3" Type="http://schemas.openxmlformats.org/officeDocument/2006/relationships/image" Target="../media/image17.png"/><Relationship Id="rId7" Type="http://schemas.openxmlformats.org/officeDocument/2006/relationships/image" Target="../media/image18.svg"/><Relationship Id="rId12" Type="http://schemas.openxmlformats.org/officeDocument/2006/relationships/image" Target="../media/image16.svg"/><Relationship Id="rId17" Type="http://schemas.openxmlformats.org/officeDocument/2006/relationships/image" Target="../media/image26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5.svg"/><Relationship Id="rId20" Type="http://schemas.openxmlformats.org/officeDocument/2006/relationships/image" Target="../media/image2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11" Type="http://schemas.openxmlformats.org/officeDocument/2006/relationships/image" Target="../media/image21.svg"/><Relationship Id="rId5" Type="http://schemas.openxmlformats.org/officeDocument/2006/relationships/image" Target="../media/image8.svg"/><Relationship Id="rId15" Type="http://schemas.openxmlformats.org/officeDocument/2006/relationships/image" Target="../media/image24.svg"/><Relationship Id="rId10" Type="http://schemas.openxmlformats.org/officeDocument/2006/relationships/image" Target="../media/image20.svg"/><Relationship Id="rId19" Type="http://schemas.openxmlformats.org/officeDocument/2006/relationships/image" Target="../media/image28.svg"/><Relationship Id="rId4" Type="http://schemas.openxmlformats.org/officeDocument/2006/relationships/image" Target="../media/image1.png"/><Relationship Id="rId9" Type="http://schemas.openxmlformats.org/officeDocument/2006/relationships/image" Target="../media/image19.svg"/><Relationship Id="rId14" Type="http://schemas.openxmlformats.org/officeDocument/2006/relationships/image" Target="../media/image2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23.svg"/><Relationship Id="rId18" Type="http://schemas.openxmlformats.org/officeDocument/2006/relationships/image" Target="../media/image28.svg"/><Relationship Id="rId3" Type="http://schemas.openxmlformats.org/officeDocument/2006/relationships/image" Target="../media/image1.png"/><Relationship Id="rId21" Type="http://schemas.openxmlformats.org/officeDocument/2006/relationships/image" Target="../media/image31.png"/><Relationship Id="rId7" Type="http://schemas.openxmlformats.org/officeDocument/2006/relationships/image" Target="../media/image18.svg"/><Relationship Id="rId12" Type="http://schemas.openxmlformats.org/officeDocument/2006/relationships/image" Target="../media/image22.svg"/><Relationship Id="rId17" Type="http://schemas.openxmlformats.org/officeDocument/2006/relationships/image" Target="../media/image27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6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1.svg"/><Relationship Id="rId5" Type="http://schemas.openxmlformats.org/officeDocument/2006/relationships/image" Target="../media/image33.svg"/><Relationship Id="rId15" Type="http://schemas.openxmlformats.org/officeDocument/2006/relationships/image" Target="../media/image25.svg"/><Relationship Id="rId10" Type="http://schemas.openxmlformats.org/officeDocument/2006/relationships/image" Target="../media/image20.svg"/><Relationship Id="rId19" Type="http://schemas.openxmlformats.org/officeDocument/2006/relationships/image" Target="../media/image29.svg"/><Relationship Id="rId4" Type="http://schemas.openxmlformats.org/officeDocument/2006/relationships/image" Target="../media/image16.svg"/><Relationship Id="rId9" Type="http://schemas.openxmlformats.org/officeDocument/2006/relationships/image" Target="../media/image19.svg"/><Relationship Id="rId14" Type="http://schemas.openxmlformats.org/officeDocument/2006/relationships/image" Target="../media/image2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3.svg"/><Relationship Id="rId18" Type="http://schemas.openxmlformats.org/officeDocument/2006/relationships/image" Target="../media/image28.svg"/><Relationship Id="rId3" Type="http://schemas.openxmlformats.org/officeDocument/2006/relationships/image" Target="../media/image1.png"/><Relationship Id="rId7" Type="http://schemas.openxmlformats.org/officeDocument/2006/relationships/image" Target="../media/image32.svg"/><Relationship Id="rId12" Type="http://schemas.openxmlformats.org/officeDocument/2006/relationships/image" Target="../media/image22.svg"/><Relationship Id="rId17" Type="http://schemas.openxmlformats.org/officeDocument/2006/relationships/image" Target="../media/image27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6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16.svg"/><Relationship Id="rId5" Type="http://schemas.openxmlformats.org/officeDocument/2006/relationships/image" Target="../media/image17.png"/><Relationship Id="rId15" Type="http://schemas.openxmlformats.org/officeDocument/2006/relationships/image" Target="../media/image25.svg"/><Relationship Id="rId10" Type="http://schemas.openxmlformats.org/officeDocument/2006/relationships/image" Target="../media/image21.svg"/><Relationship Id="rId19" Type="http://schemas.openxmlformats.org/officeDocument/2006/relationships/image" Target="../media/image29.svg"/><Relationship Id="rId4" Type="http://schemas.openxmlformats.org/officeDocument/2006/relationships/image" Target="../media/image34.svg"/><Relationship Id="rId9" Type="http://schemas.openxmlformats.org/officeDocument/2006/relationships/image" Target="../media/image20.svg"/><Relationship Id="rId14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19.svg"/><Relationship Id="rId12" Type="http://schemas.openxmlformats.org/officeDocument/2006/relationships/image" Target="../media/image24.svg"/><Relationship Id="rId17" Type="http://schemas.openxmlformats.org/officeDocument/2006/relationships/image" Target="../media/image29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svg"/><Relationship Id="rId11" Type="http://schemas.openxmlformats.org/officeDocument/2006/relationships/image" Target="../media/image23.svg"/><Relationship Id="rId5" Type="http://schemas.openxmlformats.org/officeDocument/2006/relationships/image" Target="../media/image18.svg"/><Relationship Id="rId15" Type="http://schemas.openxmlformats.org/officeDocument/2006/relationships/image" Target="../media/image27.svg"/><Relationship Id="rId10" Type="http://schemas.openxmlformats.org/officeDocument/2006/relationships/image" Target="../media/image22.svg"/><Relationship Id="rId19" Type="http://schemas.openxmlformats.org/officeDocument/2006/relationships/image" Target="../media/image31.png"/><Relationship Id="rId4" Type="http://schemas.openxmlformats.org/officeDocument/2006/relationships/image" Target="../media/image16.svg"/><Relationship Id="rId9" Type="http://schemas.openxmlformats.org/officeDocument/2006/relationships/image" Target="../media/image21.svg"/><Relationship Id="rId14" Type="http://schemas.openxmlformats.org/officeDocument/2006/relationships/image" Target="../media/image3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21" Type="http://schemas.openxmlformats.org/officeDocument/2006/relationships/image" Target="../media/image32.svg"/><Relationship Id="rId7" Type="http://schemas.openxmlformats.org/officeDocument/2006/relationships/image" Target="../media/image19.svg"/><Relationship Id="rId12" Type="http://schemas.openxmlformats.org/officeDocument/2006/relationships/image" Target="../media/image24.svg"/><Relationship Id="rId17" Type="http://schemas.openxmlformats.org/officeDocument/2006/relationships/image" Target="../media/image29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8.sv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3.svg"/><Relationship Id="rId5" Type="http://schemas.openxmlformats.org/officeDocument/2006/relationships/image" Target="../media/image17.png"/><Relationship Id="rId15" Type="http://schemas.openxmlformats.org/officeDocument/2006/relationships/image" Target="../media/image27.svg"/><Relationship Id="rId10" Type="http://schemas.openxmlformats.org/officeDocument/2006/relationships/image" Target="../media/image22.svg"/><Relationship Id="rId19" Type="http://schemas.openxmlformats.org/officeDocument/2006/relationships/image" Target="../media/image30.svg"/><Relationship Id="rId4" Type="http://schemas.openxmlformats.org/officeDocument/2006/relationships/image" Target="../media/image16.svg"/><Relationship Id="rId9" Type="http://schemas.openxmlformats.org/officeDocument/2006/relationships/image" Target="../media/image21.svg"/><Relationship Id="rId14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19.svg"/><Relationship Id="rId12" Type="http://schemas.openxmlformats.org/officeDocument/2006/relationships/image" Target="../media/image24.svg"/><Relationship Id="rId17" Type="http://schemas.openxmlformats.org/officeDocument/2006/relationships/image" Target="../media/image29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svg"/><Relationship Id="rId11" Type="http://schemas.openxmlformats.org/officeDocument/2006/relationships/image" Target="../media/image23.svg"/><Relationship Id="rId5" Type="http://schemas.openxmlformats.org/officeDocument/2006/relationships/image" Target="../media/image18.svg"/><Relationship Id="rId15" Type="http://schemas.openxmlformats.org/officeDocument/2006/relationships/image" Target="../media/image27.sv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svg"/><Relationship Id="rId14" Type="http://schemas.openxmlformats.org/officeDocument/2006/relationships/image" Target="../media/image26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19.svg"/><Relationship Id="rId12" Type="http://schemas.openxmlformats.org/officeDocument/2006/relationships/image" Target="../media/image24.svg"/><Relationship Id="rId17" Type="http://schemas.openxmlformats.org/officeDocument/2006/relationships/image" Target="../media/image29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svg"/><Relationship Id="rId11" Type="http://schemas.openxmlformats.org/officeDocument/2006/relationships/image" Target="../media/image23.svg"/><Relationship Id="rId5" Type="http://schemas.openxmlformats.org/officeDocument/2006/relationships/image" Target="../media/image18.svg"/><Relationship Id="rId15" Type="http://schemas.openxmlformats.org/officeDocument/2006/relationships/image" Target="../media/image27.sv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svg"/><Relationship Id="rId14" Type="http://schemas.openxmlformats.org/officeDocument/2006/relationships/image" Target="../media/image2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svg"/><Relationship Id="rId18" Type="http://schemas.openxmlformats.org/officeDocument/2006/relationships/image" Target="../media/image8.svg"/><Relationship Id="rId3" Type="http://schemas.openxmlformats.org/officeDocument/2006/relationships/image" Target="../media/image1.png"/><Relationship Id="rId21" Type="http://schemas.openxmlformats.org/officeDocument/2006/relationships/image" Target="../media/image32.svg"/><Relationship Id="rId7" Type="http://schemas.openxmlformats.org/officeDocument/2006/relationships/image" Target="../media/image19.svg"/><Relationship Id="rId12" Type="http://schemas.openxmlformats.org/officeDocument/2006/relationships/image" Target="../media/image24.svg"/><Relationship Id="rId17" Type="http://schemas.openxmlformats.org/officeDocument/2006/relationships/image" Target="../media/image29.sv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8.sv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3.svg"/><Relationship Id="rId5" Type="http://schemas.openxmlformats.org/officeDocument/2006/relationships/image" Target="../media/image17.png"/><Relationship Id="rId15" Type="http://schemas.openxmlformats.org/officeDocument/2006/relationships/image" Target="../media/image27.svg"/><Relationship Id="rId10" Type="http://schemas.openxmlformats.org/officeDocument/2006/relationships/image" Target="../media/image22.svg"/><Relationship Id="rId19" Type="http://schemas.openxmlformats.org/officeDocument/2006/relationships/image" Target="../media/image30.svg"/><Relationship Id="rId4" Type="http://schemas.openxmlformats.org/officeDocument/2006/relationships/image" Target="../media/image16.svg"/><Relationship Id="rId9" Type="http://schemas.openxmlformats.org/officeDocument/2006/relationships/image" Target="../media/image21.svg"/><Relationship Id="rId14" Type="http://schemas.openxmlformats.org/officeDocument/2006/relationships/image" Target="../media/image26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LESSON_NUMBER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r>
              <a:rPr>
                <a:solidFill>
                  <a:srgbClr val="3F454F"/>
                </a:solidFill>
              </a:rPr>
              <a:t>УРОК 1.3</a:t>
            </a:r>
          </a:p>
        </p:txBody>
      </p:sp>
      <p:sp>
        <p:nvSpPr>
          <p:cNvPr id="2101" name="LESSON_TITLE">
            <a:extLst>
              <a:ext uri="{FF2B5EF4-FFF2-40B4-BE49-F238E27FC236}">
                <a16:creationId xmlns:a16="http://schemas.microsoft.com/office/drawing/2014/main" id="{9139D206-85DC-4D9D-97DA-3FD895BE0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1202" y="3298835"/>
            <a:ext cx="4701600" cy="106141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Autofit/>
          </a:bodyPr>
          <a:lstStyle/>
          <a:p>
            <a:pPr marL="0" indent="0">
              <a:buNone/>
            </a:pPr>
            <a:r>
              <a:rPr sz="48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КАК ВЕДЁТ СЕБЯ МАСТЕР</a:t>
            </a:r>
            <a:endParaRPr sz="4800">
              <a:solidFill>
                <a:srgbClr val="DE4A42"/>
              </a:solidFill>
              <a:latin typeface="Bahnschrift SemiBold Condensed"/>
              <a:ea typeface="Bahnschrift SemiBold Condensed"/>
              <a:cs typeface="Bahnschrift SemiBold Condensed"/>
            </a:endParaRPr>
          </a:p>
        </p:txBody>
      </p:sp>
      <p:pic>
        <p:nvPicPr>
          <p:cNvPr id="2118" name="!!gear-0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 rot="1980000">
            <a:off x="-2657475" y="-2505075"/>
            <a:ext cx="3000375" cy="3000375"/>
          </a:xfrm>
          <a:prstGeom prst="rect">
            <a:avLst/>
          </a:prstGeom>
        </p:spPr>
      </p:pic>
      <p:pic>
        <p:nvPicPr>
          <p:cNvPr id="2119" name="!!gear-0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 rot="3000000">
            <a:off x="11811000" y="-1724025"/>
            <a:ext cx="2497455" cy="2497455"/>
          </a:xfrm>
          <a:prstGeom prst="rect">
            <a:avLst/>
          </a:prstGeom>
        </p:spPr>
      </p:pic>
      <p:pic>
        <p:nvPicPr>
          <p:cNvPr id="2120" name="!!gear-0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 rot="4020000">
            <a:off x="-1532866" y="3960709"/>
            <a:ext cx="3310700" cy="3310700"/>
          </a:xfrm>
          <a:prstGeom prst="rect">
            <a:avLst/>
          </a:prstGeom>
        </p:spPr>
      </p:pic>
      <p:pic>
        <p:nvPicPr>
          <p:cNvPr id="2121" name="!!gear-0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rot="5040000">
            <a:off x="10133668" y="-3168958"/>
            <a:ext cx="2333625" cy="2333625"/>
          </a:xfrm>
          <a:prstGeom prst="rect">
            <a:avLst/>
          </a:prstGeom>
        </p:spPr>
      </p:pic>
      <p:pic>
        <p:nvPicPr>
          <p:cNvPr id="2122" name="!!gear-0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 rot="6060000">
            <a:off x="190500" y="6353175"/>
            <a:ext cx="1757363" cy="1757363"/>
          </a:xfrm>
          <a:prstGeom prst="rect">
            <a:avLst/>
          </a:prstGeom>
        </p:spPr>
      </p:pic>
      <p:pic>
        <p:nvPicPr>
          <p:cNvPr id="2123" name="!!gear-0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 rot="7080000">
            <a:off x="12182475" y="2609850"/>
            <a:ext cx="2117408" cy="2117408"/>
          </a:xfrm>
          <a:prstGeom prst="rect">
            <a:avLst/>
          </a:prstGeom>
        </p:spPr>
      </p:pic>
      <p:pic>
        <p:nvPicPr>
          <p:cNvPr id="2124" name="!!gear-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 rot="8100000">
            <a:off x="9710281" y="-1520279"/>
            <a:ext cx="3180398" cy="3180398"/>
          </a:xfrm>
          <a:prstGeom prst="rect">
            <a:avLst/>
          </a:prstGeom>
        </p:spPr>
      </p:pic>
      <p:pic>
        <p:nvPicPr>
          <p:cNvPr id="2125" name="!!gear-0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 rot="9120000">
            <a:off x="6286500" y="6743700"/>
            <a:ext cx="1913573" cy="1913573"/>
          </a:xfrm>
          <a:prstGeom prst="rect">
            <a:avLst/>
          </a:prstGeom>
        </p:spPr>
      </p:pic>
      <p:pic>
        <p:nvPicPr>
          <p:cNvPr id="2126" name="!!gear-0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 rot="10140000">
            <a:off x="-3937442" y="1874103"/>
            <a:ext cx="1800225" cy="1800225"/>
          </a:xfrm>
          <a:prstGeom prst="rect">
            <a:avLst/>
          </a:prstGeom>
        </p:spPr>
      </p:pic>
      <p:pic>
        <p:nvPicPr>
          <p:cNvPr id="2127" name="!!gear-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 rot="11160000">
            <a:off x="12249150" y="514350"/>
            <a:ext cx="2008823" cy="2008823"/>
          </a:xfrm>
          <a:prstGeom prst="rect">
            <a:avLst/>
          </a:prstGeom>
        </p:spPr>
      </p:pic>
      <p:pic>
        <p:nvPicPr>
          <p:cNvPr id="2128" name="!!gear-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 rot="12180000">
            <a:off x="10644363" y="5766631"/>
            <a:ext cx="1615440" cy="1615440"/>
          </a:xfrm>
          <a:prstGeom prst="rect">
            <a:avLst/>
          </a:prstGeom>
        </p:spPr>
      </p:pic>
      <p:pic>
        <p:nvPicPr>
          <p:cNvPr id="2129" name="!!gear-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 rot="13200000">
            <a:off x="326806" y="6218699"/>
            <a:ext cx="2333625" cy="2333625"/>
          </a:xfrm>
          <a:prstGeom prst="rect">
            <a:avLst/>
          </a:prstGeom>
        </p:spPr>
      </p:pic>
      <p:pic>
        <p:nvPicPr>
          <p:cNvPr id="2130" name="!!gear-1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 rot="14220000">
            <a:off x="1533525" y="-1600200"/>
            <a:ext cx="1414463" cy="1414463"/>
          </a:xfrm>
          <a:prstGeom prst="rect">
            <a:avLst/>
          </a:prstGeom>
        </p:spPr>
      </p:pic>
      <p:pic>
        <p:nvPicPr>
          <p:cNvPr id="2131" name="!!gear-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/>
        </p:blipFill>
        <p:spPr>
          <a:xfrm rot="15240000">
            <a:off x="11715750" y="4895850"/>
            <a:ext cx="2225993" cy="2225993"/>
          </a:xfrm>
          <a:prstGeom prst="rect">
            <a:avLst/>
          </a:prstGeom>
        </p:spPr>
      </p:pic>
      <p:sp>
        <p:nvSpPr>
          <p:cNvPr id="18" name="MODULE_LABEL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122484" y="531994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МОДУЛЬ 01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-1" y="1120874"/>
            <a:ext cx="1562101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1615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70E772F2-E101-4AF5-9E8D-F777EBEE9622}"/>
              </a:ext>
            </a:extLst>
          </p:cNvPr>
          <p:cNvSpPr>
            <a:spLocks noGrp="1"/>
          </p:cNvSpPr>
          <p:nvPr/>
        </p:nvSpPr>
        <p:spPr>
          <a:xfrm>
            <a:off x="920750" y="495300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ПОВЕДЕНИЕ МАСТЕРА ВЛИЯЕТ НА РАБОТУ ЛЮДЕЙ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DA4464F9-ABA9-4C49-BE41-278DB1A4C9BE}"/>
              </a:ext>
            </a:extLst>
          </p:cNvPr>
          <p:cNvSpPr>
            <a:spLocks noGrp="1"/>
          </p:cNvSpPr>
          <p:nvPr/>
        </p:nvSpPr>
        <p:spPr>
          <a:xfrm>
            <a:off x="1057275" y="1857375"/>
            <a:ext cx="8234063" cy="3889375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40000"/>
              </a:lnSpc>
              <a:spcAft>
                <a:spcPts val="1700"/>
              </a:spcAft>
              <a:buNone/>
            </a:pP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Алексей: Я понял, ради чего работает мастер и что считать результатом. Но от чего зависит, смогу ли я добиваться этого результата каждый день?</a:t>
            </a:r>
            <a:br/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Денис: От того, как ты ведёшь себя с людьми. Поведение мастера — такой же рабочий инструмент, как расстановка людей или сменный план.</a:t>
            </a:r>
            <a:endParaRPr sz="170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276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Рисунок 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3438" y="7696134"/>
            <a:ext cx="3061710" cy="306171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>
                <a:latin typeface="Bahnschrift SemiBold Condensed"/>
                <a:ea typeface="Bahnschrift SemiBold Condensed"/>
                <a:cs typeface="Bahnschrift SemiBold Condensed"/>
              </a:rPr>
              <a:t>НАСТРОЕНИЕ МАСТЕРА ПЕРЕДАЁТСЯ УЧАСТКУ</a:t>
            </a:r>
            <a:endParaRPr sz="3000"/>
          </a:p>
        </p:txBody>
      </p:sp>
      <p:pic>
        <p:nvPicPr>
          <p:cNvPr id="51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6" name="INTRO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808636" y="858223"/>
            <a:ext cx="8774743" cy="1267853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  <a:buNone/>
            </a:pP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В 2002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году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профессор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Школы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бизнеса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Уортон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Сигал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Бурсейд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провела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эксперимент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. В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рабочие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группы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подсаживали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человека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со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стабильно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хорошим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или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плохим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настроением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.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Люди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знали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,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это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часть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b="1" dirty="0" err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эксперимента</a:t>
            </a:r>
            <a:r>
              <a:rPr sz="1600" b="1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.</a:t>
            </a:r>
            <a:endParaRPr sz="1600" b="1" dirty="0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54" name="Рисунок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6562" y="8264023"/>
            <a:ext cx="1857375" cy="1857375"/>
          </a:xfrm>
          <a:prstGeom prst="rect">
            <a:avLst/>
          </a:prstGeom>
        </p:spPr>
      </p:pic>
      <p:pic>
        <p:nvPicPr>
          <p:cNvPr id="55" name="Рисунок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56" name="Рисунок 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46523" y="8037009"/>
            <a:ext cx="1257300" cy="1257300"/>
          </a:xfrm>
          <a:prstGeom prst="rect">
            <a:avLst/>
          </a:prstGeom>
        </p:spPr>
      </p:pic>
      <p:pic>
        <p:nvPicPr>
          <p:cNvPr id="57" name="Рисунок 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58" name="Рисунок 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3081914" y="7655895"/>
            <a:ext cx="3714750" cy="3714750"/>
          </a:xfrm>
          <a:prstGeom prst="rect">
            <a:avLst/>
          </a:prstGeom>
        </p:spPr>
      </p:pic>
      <p:pic>
        <p:nvPicPr>
          <p:cNvPr id="59" name="Рисунок 1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04924" y="6286493"/>
            <a:ext cx="2257425" cy="2257425"/>
          </a:xfrm>
          <a:prstGeom prst="rect">
            <a:avLst/>
          </a:prstGeom>
        </p:spPr>
      </p:pic>
      <p:pic>
        <p:nvPicPr>
          <p:cNvPr id="60" name="Рисунок 1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61" name="Рисунок 2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62" name="Рисунок 2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307352" y="-2033388"/>
            <a:ext cx="1801446" cy="1801446"/>
          </a:xfrm>
          <a:prstGeom prst="rect">
            <a:avLst/>
          </a:prstGeom>
        </p:spPr>
      </p:pic>
      <p:pic>
        <p:nvPicPr>
          <p:cNvPr id="63" name="Рисунок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64" name="Рисунок 3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65" name="Рисунок 3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723513" y="-2840121"/>
            <a:ext cx="2019300" cy="2019300"/>
          </a:xfrm>
          <a:prstGeom prst="rect">
            <a:avLst/>
          </a:prstGeom>
        </p:spPr>
      </p:pic>
      <p:pic>
        <p:nvPicPr>
          <p:cNvPr id="66" name="!!gear-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2024658" y="7400095"/>
            <a:ext cx="3676709" cy="3676709"/>
          </a:xfrm>
          <a:prstGeom prst="rect">
            <a:avLst/>
          </a:prstGeom>
        </p:spPr>
      </p:pic>
      <p:pic>
        <p:nvPicPr>
          <p:cNvPr id="67" name="Рисунок 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8805" y="2054824"/>
            <a:ext cx="6385027" cy="4324684"/>
          </a:xfrm>
          <a:prstGeom prst="rect">
            <a:avLst/>
          </a:prstGeom>
          <a:effectLst>
            <a:outerShdw blurRad="190500" sx="102000" sy="102000" algn="ctr" rotWithShape="0">
              <a:schemeClr val="bg1">
                <a:lumMod val="50000"/>
                <a:alpha val="16000"/>
              </a:schemeClr>
            </a:outerShdw>
          </a:effectLst>
        </p:spPr>
      </p:pic>
      <p:pic>
        <p:nvPicPr>
          <p:cNvPr id="68" name="Image 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59869" y="3217578"/>
            <a:ext cx="1172137" cy="1420088"/>
          </a:xfrm>
          <a:prstGeom prst="rect">
            <a:avLst/>
          </a:prstGeom>
          <a:effectLst>
            <a:outerShdw blurRad="76200" dist="63500" dir="2700000" algn="tl" rotWithShape="0">
              <a:prstClr val="black">
                <a:alpha val="15000"/>
              </a:prstClr>
            </a:outerShdw>
          </a:effectLst>
        </p:spPr>
      </p:pic>
      <p:pic>
        <p:nvPicPr>
          <p:cNvPr id="69" name="Рисунок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929589" y="7983035"/>
            <a:ext cx="2419350" cy="2419350"/>
          </a:xfrm>
          <a:prstGeom prst="rect">
            <a:avLst/>
          </a:prstGeom>
        </p:spPr>
      </p:pic>
      <p:sp>
        <p:nvSpPr>
          <p:cNvPr id="30" name="CASE_BODY">
            <a:extLst>
              <a:ext uri="{FF2B5EF4-FFF2-40B4-BE49-F238E27FC236}">
                <a16:creationId xmlns:a16="http://schemas.microsoft.com/office/drawing/2014/main" id="{37688EA1-9EF9-4CDB-99AA-CB59563EA557}"/>
              </a:ext>
            </a:extLst>
          </p:cNvPr>
          <p:cNvSpPr>
            <a:spLocks noGrp="1"/>
          </p:cNvSpPr>
          <p:nvPr/>
        </p:nvSpPr>
        <p:spPr>
          <a:xfrm>
            <a:off x="1245051" y="2412088"/>
            <a:ext cx="5338766" cy="359830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>
                <a:latin typeface="Nunito"/>
                <a:ea typeface="Nunito"/>
                <a:cs typeface="Nunito"/>
              </a:rPr>
              <a:t>Настроение подсаженного человека распространялось на всю группу. Участники перенимали его состояние, хотя сами этого не замечали. В группах с хорошим настроением было меньше конфликтов и лучше взаимодействие. В группах с негативным настроением участники чаще конфликтовали и хуже координировали работу.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9A3FF-EE07-4051-B044-3B44BE6B1B54}"/>
              </a:ext>
            </a:extLst>
          </p:cNvPr>
          <p:cNvSpPr>
            <a:spLocks noGrp="1"/>
          </p:cNvSpPr>
          <p:nvPr/>
        </p:nvSpPr>
        <p:spPr>
          <a:xfrm>
            <a:off x="8532006" y="2449110"/>
            <a:ext cx="3214517" cy="33362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buNone/>
            </a:pPr>
            <a:endParaRPr sz="1600">
              <a:latin typeface="Nunito"/>
              <a:ea typeface="Nunito"/>
              <a:cs typeface="Nunito"/>
            </a:endParaRPr>
          </a:p>
        </p:txBody>
      </p:sp>
      <p:sp>
        <p:nvSpPr>
          <p:cNvPr id="4" name="CONCLUSION">
            <a:extLst>
              <a:ext uri="{FF2B5EF4-FFF2-40B4-BE49-F238E27FC236}">
                <a16:creationId xmlns:a16="http://schemas.microsoft.com/office/drawing/2014/main" id="{8C1D51BD-BCC7-4C60-9B33-0C360DEAD7F5}"/>
              </a:ext>
            </a:extLst>
          </p:cNvPr>
          <p:cNvSpPr>
            <a:spLocks noGrp="1"/>
          </p:cNvSpPr>
          <p:nvPr/>
        </p:nvSpPr>
        <p:spPr>
          <a:xfrm>
            <a:off x="8723513" y="2054824"/>
            <a:ext cx="3214517" cy="43246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2400">
                <a:solidFill>
                  <a:srgbClr val="F5340B"/>
                </a:solidFill>
                <a:latin typeface="Bahnschrift Condensed"/>
                <a:ea typeface="Bahnschrift Condensed"/>
                <a:cs typeface="Bahnschrift Condensed"/>
              </a:rPr>
              <a:t>За поведением руководителя люди наблюдают особенно внимательно. </a:t>
            </a:r>
            <a:r>
              <a:rPr sz="1800">
                <a:latin typeface="Nunito"/>
                <a:ea typeface="Nunito"/>
                <a:cs typeface="Nunito"/>
              </a:rPr>
              <a:t>Поэтому состояние, в котором мастер выходит на участок, влияет на общий тон работы, реакции людей и их взаимодействие друг с другом.</a:t>
            </a:r>
          </a:p>
        </p:txBody>
      </p:sp>
    </p:spTree>
    <p:extLst>
      <p:ext uri="{BB962C8B-B14F-4D97-AF65-F5344CB8AC3E}">
        <p14:creationId xmlns:p14="http://schemas.microsoft.com/office/powerpoint/2010/main" val="4283868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Рисунок 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3438" y="7696134"/>
            <a:ext cx="3061710" cy="306171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>
                <a:latin typeface="Bahnschrift SemiBold Condensed"/>
                <a:ea typeface="Bahnschrift SemiBold Condensed"/>
                <a:cs typeface="Bahnschrift SemiBold Condensed"/>
              </a:rPr>
              <a:t>ОТ РЕАКЦИИ МАСТЕРА ЗАВИСИТ, СООБЩАТ ЛИ ЕМУ О ПРОБЛЕМЕ</a:t>
            </a:r>
            <a:endParaRPr sz="3000"/>
          </a:p>
        </p:txBody>
      </p:sp>
      <p:pic>
        <p:nvPicPr>
          <p:cNvPr id="51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6" name="INTRO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808636" y="858223"/>
            <a:ext cx="8774743" cy="1267853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Состояние и поведение мастера влияют не только на настроение участка. От них зависит, решатся ли рабочие сообщать ему неприятные новости.</a:t>
            </a:r>
            <a:endParaRPr sz="1600" b="1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54" name="Рисунок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6562" y="8264023"/>
            <a:ext cx="1857375" cy="1857375"/>
          </a:xfrm>
          <a:prstGeom prst="rect">
            <a:avLst/>
          </a:prstGeom>
        </p:spPr>
      </p:pic>
      <p:pic>
        <p:nvPicPr>
          <p:cNvPr id="55" name="Рисунок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56" name="Рисунок 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46523" y="8037009"/>
            <a:ext cx="1257300" cy="1257300"/>
          </a:xfrm>
          <a:prstGeom prst="rect">
            <a:avLst/>
          </a:prstGeom>
        </p:spPr>
      </p:pic>
      <p:pic>
        <p:nvPicPr>
          <p:cNvPr id="57" name="Рисунок 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58" name="Рисунок 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3081914" y="7655895"/>
            <a:ext cx="3714750" cy="3714750"/>
          </a:xfrm>
          <a:prstGeom prst="rect">
            <a:avLst/>
          </a:prstGeom>
        </p:spPr>
      </p:pic>
      <p:pic>
        <p:nvPicPr>
          <p:cNvPr id="59" name="Рисунок 1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04924" y="6286493"/>
            <a:ext cx="2257425" cy="2257425"/>
          </a:xfrm>
          <a:prstGeom prst="rect">
            <a:avLst/>
          </a:prstGeom>
        </p:spPr>
      </p:pic>
      <p:pic>
        <p:nvPicPr>
          <p:cNvPr id="60" name="Рисунок 1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61" name="Рисунок 2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62" name="Рисунок 2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307352" y="-2033388"/>
            <a:ext cx="1801446" cy="1801446"/>
          </a:xfrm>
          <a:prstGeom prst="rect">
            <a:avLst/>
          </a:prstGeom>
        </p:spPr>
      </p:pic>
      <p:pic>
        <p:nvPicPr>
          <p:cNvPr id="63" name="Рисунок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64" name="Рисунок 3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65" name="Рисунок 3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723513" y="-2840121"/>
            <a:ext cx="2019300" cy="2019300"/>
          </a:xfrm>
          <a:prstGeom prst="rect">
            <a:avLst/>
          </a:prstGeom>
        </p:spPr>
      </p:pic>
      <p:pic>
        <p:nvPicPr>
          <p:cNvPr id="66" name="!!gear-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2024658" y="7400095"/>
            <a:ext cx="3676709" cy="3676709"/>
          </a:xfrm>
          <a:prstGeom prst="rect">
            <a:avLst/>
          </a:prstGeom>
        </p:spPr>
      </p:pic>
      <p:pic>
        <p:nvPicPr>
          <p:cNvPr id="67" name="Рисунок 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8805" y="2054824"/>
            <a:ext cx="6385027" cy="4324684"/>
          </a:xfrm>
          <a:prstGeom prst="rect">
            <a:avLst/>
          </a:prstGeom>
        </p:spPr>
      </p:pic>
      <p:pic>
        <p:nvPicPr>
          <p:cNvPr id="68" name="Image 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59869" y="3217578"/>
            <a:ext cx="1172137" cy="1420088"/>
          </a:xfrm>
          <a:prstGeom prst="rect">
            <a:avLst/>
          </a:prstGeom>
        </p:spPr>
      </p:pic>
      <p:pic>
        <p:nvPicPr>
          <p:cNvPr id="69" name="Рисунок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929589" y="7983035"/>
            <a:ext cx="2419350" cy="2419350"/>
          </a:xfrm>
          <a:prstGeom prst="rect">
            <a:avLst/>
          </a:prstGeom>
        </p:spPr>
      </p:pic>
      <p:sp>
        <p:nvSpPr>
          <p:cNvPr id="30" name="CASE_BODY">
            <a:extLst>
              <a:ext uri="{FF2B5EF4-FFF2-40B4-BE49-F238E27FC236}">
                <a16:creationId xmlns:a16="http://schemas.microsoft.com/office/drawing/2014/main" id="{37688EA1-9EF9-4CDB-99AA-CB59563EA557}"/>
              </a:ext>
            </a:extLst>
          </p:cNvPr>
          <p:cNvSpPr>
            <a:spLocks noGrp="1"/>
          </p:cNvSpPr>
          <p:nvPr/>
        </p:nvSpPr>
        <p:spPr>
          <a:xfrm>
            <a:off x="1245051" y="2412088"/>
            <a:ext cx="5338766" cy="359830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>
                <a:latin typeface="Nunito"/>
                <a:ea typeface="Nunito"/>
                <a:cs typeface="Nunito"/>
              </a:rPr>
              <a:t>В 1999 году профессор Гарвардской школы бизнеса Эми Эдмондсон изучала медицинские команды. Она обнаружила парадокс: лучшие команды сообщали о большем количестве ошибок.</a:t>
            </a:r>
            <a:br/>
            <a:br/>
            <a:r>
              <a:rPr sz="1600">
                <a:latin typeface="Nunito"/>
                <a:ea typeface="Nunito"/>
                <a:cs typeface="Nunito"/>
              </a:rPr>
              <a:t>Дело было не в том, что они ошибались чаще. В командах, где руководитель спокойно принимал сообщение и разбирал ошибку по существу, люди не боялись говорить о проблемах. Поэтому ошибки замечали раньше.</a:t>
            </a:r>
            <a:br/>
            <a:br/>
            <a:r>
              <a:rPr sz="1600">
                <a:latin typeface="Nunito"/>
                <a:ea typeface="Nunito"/>
                <a:cs typeface="Nunito"/>
              </a:rPr>
              <a:t>Там, где руководитель кричал, обвинял или наказывал за сам факт плохой новости, люди старались молчать. Ошибки обнаруживали позднее, когда исправление обходилось дороже.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9A3FF-EE07-4051-B044-3B44BE6B1B54}"/>
              </a:ext>
            </a:extLst>
          </p:cNvPr>
          <p:cNvSpPr>
            <a:spLocks noGrp="1"/>
          </p:cNvSpPr>
          <p:nvPr/>
        </p:nvSpPr>
        <p:spPr>
          <a:xfrm>
            <a:off x="8532006" y="2449110"/>
            <a:ext cx="3214517" cy="33362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buNone/>
            </a:pPr>
            <a:endParaRPr sz="1600">
              <a:latin typeface="Nunito"/>
              <a:ea typeface="Nunito"/>
              <a:cs typeface="Nunito"/>
            </a:endParaRPr>
          </a:p>
        </p:txBody>
      </p:sp>
      <p:sp>
        <p:nvSpPr>
          <p:cNvPr id="4" name="CONCLUSION">
            <a:extLst>
              <a:ext uri="{FF2B5EF4-FFF2-40B4-BE49-F238E27FC236}">
                <a16:creationId xmlns:a16="http://schemas.microsoft.com/office/drawing/2014/main" id="{8C1D51BD-BCC7-4C60-9B33-0C360DEAD7F5}"/>
              </a:ext>
            </a:extLst>
          </p:cNvPr>
          <p:cNvSpPr>
            <a:spLocks noGrp="1"/>
          </p:cNvSpPr>
          <p:nvPr/>
        </p:nvSpPr>
        <p:spPr>
          <a:xfrm>
            <a:off x="8723513" y="2054824"/>
            <a:ext cx="3214517" cy="43246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2400">
                <a:solidFill>
                  <a:srgbClr val="F5340B"/>
                </a:solidFill>
                <a:latin typeface="Bahnschrift Condensed"/>
                <a:ea typeface="Bahnschrift Condensed"/>
                <a:cs typeface="Bahnschrift Condensed"/>
              </a:rPr>
              <a:t>Для мастера это означает: </a:t>
            </a:r>
            <a:r>
              <a:rPr sz="1800">
                <a:latin typeface="Nunito"/>
                <a:ea typeface="Nunito"/>
                <a:cs typeface="Nunito"/>
              </a:rPr>
              <a:t>брак и угрозу срыва невозможно обнаружить вовремя, если рабочий боится подойти и рассказать о проблеме.</a:t>
            </a:r>
          </a:p>
        </p:txBody>
      </p:sp>
    </p:spTree>
    <p:extLst>
      <p:ext uri="{BB962C8B-B14F-4D97-AF65-F5344CB8AC3E}">
        <p14:creationId xmlns:p14="http://schemas.microsoft.com/office/powerpoint/2010/main" val="4283868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70E772F2-E101-4AF5-9E8D-F777EBEE9622}"/>
              </a:ext>
            </a:extLst>
          </p:cNvPr>
          <p:cNvSpPr>
            <a:spLocks noGrp="1"/>
          </p:cNvSpPr>
          <p:nvPr/>
        </p:nvSpPr>
        <p:spPr>
          <a:xfrm>
            <a:off x="381074" y="495300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ДЛЯ РАЗНЫХ ЗАДАЧ НУЖНО РАЗНОЕ ПОВЕДЕНИЕ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79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3775A66A-620B-4051-B5AD-4AE91BFC10A5}"/>
              </a:ext>
            </a:extLst>
          </p:cNvPr>
          <p:cNvSpPr>
            <a:spLocks noGrp="1"/>
          </p:cNvSpPr>
          <p:nvPr/>
        </p:nvSpPr>
        <p:spPr>
          <a:xfrm flipV="1">
            <a:off x="211016" y="49162"/>
            <a:ext cx="0" cy="1120875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81" name="!!gear-07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 rot="13438421">
            <a:off x="11498682" y="6938924"/>
            <a:ext cx="4191761" cy="4191761"/>
          </a:xfrm>
          <a:prstGeom prst="rect">
            <a:avLst/>
          </a:prstGeom>
        </p:spPr>
      </p:pic>
      <p:pic>
        <p:nvPicPr>
          <p:cNvPr id="82" name="!!gear-1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 rot="17518421">
            <a:off x="15508407" y="4407845"/>
            <a:ext cx="2129148" cy="2129148"/>
          </a:xfrm>
          <a:prstGeom prst="rect">
            <a:avLst/>
          </a:prstGeom>
        </p:spPr>
      </p:pic>
      <p:pic>
        <p:nvPicPr>
          <p:cNvPr id="83" name="Рисунок 2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84" name="Рисунок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6697" y="-1615475"/>
            <a:ext cx="2419350" cy="2419350"/>
          </a:xfrm>
          <a:prstGeom prst="rect">
            <a:avLst/>
          </a:prstGeom>
        </p:spPr>
      </p:pic>
      <p:pic>
        <p:nvPicPr>
          <p:cNvPr id="85" name="Рисунок 6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86" name="Рисунок 8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87" name="Рисунок 10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88" name="Рисунок 12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01727" y="-3107032"/>
            <a:ext cx="2305050" cy="2305050"/>
          </a:xfrm>
          <a:prstGeom prst="rect">
            <a:avLst/>
          </a:prstGeom>
        </p:spPr>
      </p:pic>
      <p:pic>
        <p:nvPicPr>
          <p:cNvPr id="89" name="Рисунок 1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90" name="Рисунок 16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91" name="Рисунок 18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92" name="Рисунок 20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93" name="Рисунок 22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94" name="Рисунок 2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3744243" y="-603250"/>
            <a:ext cx="3314700" cy="3314700"/>
          </a:xfrm>
          <a:prstGeom prst="rect">
            <a:avLst/>
          </a:prstGeom>
        </p:spPr>
      </p:pic>
      <p:pic>
        <p:nvPicPr>
          <p:cNvPr id="95" name="Рисунок 3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96" name="Рисунок 36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sp>
        <p:nvSpPr>
          <p:cNvPr id="2" name="INTRO">
            <a:extLst>
              <a:ext uri="{FF2B5EF4-FFF2-40B4-BE49-F238E27FC236}">
                <a16:creationId xmlns:a16="http://schemas.microsoft.com/office/drawing/2014/main" id="{4EA8474D-80B6-4827-8B93-9E806795C8E4}"/>
              </a:ext>
            </a:extLst>
          </p:cNvPr>
          <p:cNvSpPr>
            <a:spLocks noGrp="1"/>
          </p:cNvSpPr>
          <p:nvPr/>
        </p:nvSpPr>
        <p:spPr>
          <a:xfrm>
            <a:off x="527538" y="1371600"/>
            <a:ext cx="10615990" cy="91678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Nunito"/>
                <a:ea typeface="Nunito"/>
                <a:cs typeface="Nunito"/>
              </a:rPr>
              <a:t>Одного подхода на все случаи нет. Поведение мастера зависит от задачи.</a:t>
            </a: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33AC517A-3E0E-45A9-9664-5F35A4C91A0A}"/>
              </a:ext>
            </a:extLst>
          </p:cNvPr>
          <p:cNvSpPr>
            <a:spLocks noGrp="1"/>
          </p:cNvSpPr>
          <p:nvPr/>
        </p:nvSpPr>
        <p:spPr>
          <a:xfrm>
            <a:off x="608850" y="2371053"/>
            <a:ext cx="1720850" cy="1965940"/>
          </a:xfrm>
          <a:custGeom>
            <a:avLst/>
            <a:gdLst>
              <a:gd name="T0" fmla="*/ 0 w 2737"/>
              <a:gd name="T1" fmla="*/ 853 h 3125"/>
              <a:gd name="T2" fmla="*/ 69 w 2737"/>
              <a:gd name="T3" fmla="*/ 733 h 3125"/>
              <a:gd name="T4" fmla="*/ 1299 w 2737"/>
              <a:gd name="T5" fmla="*/ 22 h 3125"/>
              <a:gd name="T6" fmla="*/ 1438 w 2737"/>
              <a:gd name="T7" fmla="*/ 22 h 3125"/>
              <a:gd name="T8" fmla="*/ 2668 w 2737"/>
              <a:gd name="T9" fmla="*/ 733 h 3125"/>
              <a:gd name="T10" fmla="*/ 2737 w 2737"/>
              <a:gd name="T11" fmla="*/ 853 h 3125"/>
              <a:gd name="T12" fmla="*/ 2737 w 2737"/>
              <a:gd name="T13" fmla="*/ 2273 h 3125"/>
              <a:gd name="T14" fmla="*/ 2668 w 2737"/>
              <a:gd name="T15" fmla="*/ 2393 h 3125"/>
              <a:gd name="T16" fmla="*/ 1438 w 2737"/>
              <a:gd name="T17" fmla="*/ 3103 h 3125"/>
              <a:gd name="T18" fmla="*/ 1299 w 2737"/>
              <a:gd name="T19" fmla="*/ 3103 h 3125"/>
              <a:gd name="T20" fmla="*/ 69 w 2737"/>
              <a:gd name="T21" fmla="*/ 2393 h 3125"/>
              <a:gd name="T22" fmla="*/ 0 w 2737"/>
              <a:gd name="T23" fmla="*/ 2273 h 3125"/>
              <a:gd name="T24" fmla="*/ 0 w 2737"/>
              <a:gd name="T25" fmla="*/ 853 h 3125"/>
            </a:gdLst>
            <a:ahLst/>
            <a:cxnLst/>
            <a:rect l="0" t="0" r="r" b="b"/>
            <a:pathLst>
              <a:path w="2737" h="3125">
                <a:moveTo>
                  <a:pt x="0" y="853"/>
                </a:moveTo>
                <a:cubicBezTo>
                  <a:pt x="0" y="809"/>
                  <a:pt x="31" y="755"/>
                  <a:pt x="69" y="733"/>
                </a:cubicBezTo>
                <a:cubicBezTo>
                  <a:pt x="1299" y="22"/>
                  <a:pt x="1299" y="22"/>
                  <a:pt x="1299" y="22"/>
                </a:cubicBezTo>
                <a:cubicBezTo>
                  <a:pt x="1338" y="0"/>
                  <a:pt x="1400" y="0"/>
                  <a:pt x="1438" y="22"/>
                </a:cubicBezTo>
                <a:cubicBezTo>
                  <a:pt x="2668" y="733"/>
                  <a:pt x="2668" y="733"/>
                  <a:pt x="2668" y="733"/>
                </a:cubicBezTo>
                <a:cubicBezTo>
                  <a:pt x="2706" y="755"/>
                  <a:pt x="2737" y="809"/>
                  <a:pt x="2737" y="853"/>
                </a:cubicBezTo>
                <a:cubicBezTo>
                  <a:pt x="2737" y="2273"/>
                  <a:pt x="2737" y="2273"/>
                  <a:pt x="2737" y="2273"/>
                </a:cubicBezTo>
                <a:cubicBezTo>
                  <a:pt x="2737" y="2317"/>
                  <a:pt x="2706" y="2371"/>
                  <a:pt x="2668" y="2393"/>
                </a:cubicBezTo>
                <a:cubicBezTo>
                  <a:pt x="1438" y="3103"/>
                  <a:pt x="1438" y="3103"/>
                  <a:pt x="1438" y="3103"/>
                </a:cubicBezTo>
                <a:cubicBezTo>
                  <a:pt x="1400" y="3125"/>
                  <a:pt x="1338" y="3125"/>
                  <a:pt x="1299" y="3103"/>
                </a:cubicBezTo>
                <a:cubicBezTo>
                  <a:pt x="69" y="2393"/>
                  <a:pt x="69" y="2393"/>
                  <a:pt x="69" y="2393"/>
                </a:cubicBezTo>
                <a:cubicBezTo>
                  <a:pt x="31" y="2371"/>
                  <a:pt x="0" y="2317"/>
                  <a:pt x="0" y="2273"/>
                </a:cubicBezTo>
                <a:lnTo>
                  <a:pt x="0" y="853"/>
                </a:lnTo>
                <a:close/>
              </a:path>
            </a:pathLst>
          </a:custGeom>
          <a:solidFill>
            <a:schemeClr val="bg1"/>
          </a:solidFill>
          <a:ln w="19050">
            <a:noFill/>
          </a:ln>
          <a:effectLst>
            <a:outerShdw blurRad="190500" dist="190500" dir="2700000" algn="tl" rotWithShape="0">
              <a:prstClr val="black">
                <a:alpha val="10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9" name="CARD_1_TITLE">
            <a:extLst>
              <a:ext uri="{FF2B5EF4-FFF2-40B4-BE49-F238E27FC236}">
                <a16:creationId xmlns:a16="http://schemas.microsoft.com/office/drawing/2014/main" id="{10DD8E58-F4D8-4AB2-8962-09179D81A68E}"/>
              </a:ext>
            </a:extLst>
          </p:cNvPr>
          <p:cNvSpPr>
            <a:spLocks noGrp="1"/>
          </p:cNvSpPr>
          <p:nvPr/>
        </p:nvSpPr>
        <p:spPr>
          <a:xfrm>
            <a:off x="720489" y="2907775"/>
            <a:ext cx="1488796" cy="10096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sz="1600">
                <a:latin typeface="Bahnschrift Condensed"/>
                <a:ea typeface="Bahnschrift Condensed"/>
                <a:cs typeface="Bahnschrift Condensed"/>
              </a:rPr>
              <a:t>ПОСТАВИТЬ ЗАДАЧУ</a:t>
            </a:r>
          </a:p>
        </p:txBody>
      </p:sp>
      <p:sp>
        <p:nvSpPr>
          <p:cNvPr id="3" name="CARD_1_BODY">
            <a:extLst>
              <a:ext uri="{FF2B5EF4-FFF2-40B4-BE49-F238E27FC236}">
                <a16:creationId xmlns:a16="http://schemas.microsoft.com/office/drawing/2014/main" id="{88632AB4-CB78-451D-A8EB-2CF0804184CC}"/>
              </a:ext>
            </a:extLst>
          </p:cNvPr>
          <p:cNvSpPr>
            <a:spLocks noGrp="1"/>
          </p:cNvSpPr>
          <p:nvPr/>
        </p:nvSpPr>
        <p:spPr>
          <a:xfrm>
            <a:off x="563806" y="4532459"/>
            <a:ext cx="1802162" cy="15974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Спокойно и ясно объяснить, что нужно сделать, к какому сроку и какой результат принять.</a:t>
            </a:r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5E46E145-8821-4CFF-B834-374084BC94E2}"/>
              </a:ext>
            </a:extLst>
          </p:cNvPr>
          <p:cNvSpPr>
            <a:spLocks noGrp="1"/>
          </p:cNvSpPr>
          <p:nvPr/>
        </p:nvSpPr>
        <p:spPr>
          <a:xfrm>
            <a:off x="2918920" y="2371053"/>
            <a:ext cx="1720850" cy="1965940"/>
          </a:xfrm>
          <a:custGeom>
            <a:avLst/>
            <a:gdLst>
              <a:gd name="T0" fmla="*/ 0 w 2737"/>
              <a:gd name="T1" fmla="*/ 853 h 3125"/>
              <a:gd name="T2" fmla="*/ 69 w 2737"/>
              <a:gd name="T3" fmla="*/ 733 h 3125"/>
              <a:gd name="T4" fmla="*/ 1299 w 2737"/>
              <a:gd name="T5" fmla="*/ 22 h 3125"/>
              <a:gd name="T6" fmla="*/ 1438 w 2737"/>
              <a:gd name="T7" fmla="*/ 22 h 3125"/>
              <a:gd name="T8" fmla="*/ 2668 w 2737"/>
              <a:gd name="T9" fmla="*/ 733 h 3125"/>
              <a:gd name="T10" fmla="*/ 2737 w 2737"/>
              <a:gd name="T11" fmla="*/ 853 h 3125"/>
              <a:gd name="T12" fmla="*/ 2737 w 2737"/>
              <a:gd name="T13" fmla="*/ 2273 h 3125"/>
              <a:gd name="T14" fmla="*/ 2668 w 2737"/>
              <a:gd name="T15" fmla="*/ 2393 h 3125"/>
              <a:gd name="T16" fmla="*/ 1438 w 2737"/>
              <a:gd name="T17" fmla="*/ 3103 h 3125"/>
              <a:gd name="T18" fmla="*/ 1299 w 2737"/>
              <a:gd name="T19" fmla="*/ 3103 h 3125"/>
              <a:gd name="T20" fmla="*/ 69 w 2737"/>
              <a:gd name="T21" fmla="*/ 2393 h 3125"/>
              <a:gd name="T22" fmla="*/ 0 w 2737"/>
              <a:gd name="T23" fmla="*/ 2273 h 3125"/>
              <a:gd name="T24" fmla="*/ 0 w 2737"/>
              <a:gd name="T25" fmla="*/ 853 h 3125"/>
            </a:gdLst>
            <a:ahLst/>
            <a:cxnLst/>
            <a:rect l="0" t="0" r="r" b="b"/>
            <a:pathLst>
              <a:path w="2737" h="3125">
                <a:moveTo>
                  <a:pt x="0" y="853"/>
                </a:moveTo>
                <a:cubicBezTo>
                  <a:pt x="0" y="809"/>
                  <a:pt x="31" y="755"/>
                  <a:pt x="69" y="733"/>
                </a:cubicBezTo>
                <a:cubicBezTo>
                  <a:pt x="1299" y="22"/>
                  <a:pt x="1299" y="22"/>
                  <a:pt x="1299" y="22"/>
                </a:cubicBezTo>
                <a:cubicBezTo>
                  <a:pt x="1338" y="0"/>
                  <a:pt x="1400" y="0"/>
                  <a:pt x="1438" y="22"/>
                </a:cubicBezTo>
                <a:cubicBezTo>
                  <a:pt x="2668" y="733"/>
                  <a:pt x="2668" y="733"/>
                  <a:pt x="2668" y="733"/>
                </a:cubicBezTo>
                <a:cubicBezTo>
                  <a:pt x="2706" y="755"/>
                  <a:pt x="2737" y="809"/>
                  <a:pt x="2737" y="853"/>
                </a:cubicBezTo>
                <a:cubicBezTo>
                  <a:pt x="2737" y="2273"/>
                  <a:pt x="2737" y="2273"/>
                  <a:pt x="2737" y="2273"/>
                </a:cubicBezTo>
                <a:cubicBezTo>
                  <a:pt x="2737" y="2317"/>
                  <a:pt x="2706" y="2371"/>
                  <a:pt x="2668" y="2393"/>
                </a:cubicBezTo>
                <a:cubicBezTo>
                  <a:pt x="1438" y="3103"/>
                  <a:pt x="1438" y="3103"/>
                  <a:pt x="1438" y="3103"/>
                </a:cubicBezTo>
                <a:cubicBezTo>
                  <a:pt x="1400" y="3125"/>
                  <a:pt x="1338" y="3125"/>
                  <a:pt x="1299" y="3103"/>
                </a:cubicBezTo>
                <a:cubicBezTo>
                  <a:pt x="69" y="2393"/>
                  <a:pt x="69" y="2393"/>
                  <a:pt x="69" y="2393"/>
                </a:cubicBezTo>
                <a:cubicBezTo>
                  <a:pt x="31" y="2371"/>
                  <a:pt x="0" y="2317"/>
                  <a:pt x="0" y="2273"/>
                </a:cubicBezTo>
                <a:lnTo>
                  <a:pt x="0" y="85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190500" dir="2700000" algn="tl" rotWithShape="0">
              <a:prstClr val="black">
                <a:alpha val="10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53" name="CARD_2_TITLE">
            <a:extLst>
              <a:ext uri="{FF2B5EF4-FFF2-40B4-BE49-F238E27FC236}">
                <a16:creationId xmlns:a16="http://schemas.microsoft.com/office/drawing/2014/main" id="{5FCF9AE5-0080-4639-A8D0-4CFC36456AFB}"/>
              </a:ext>
            </a:extLst>
          </p:cNvPr>
          <p:cNvSpPr>
            <a:spLocks noGrp="1"/>
          </p:cNvSpPr>
          <p:nvPr/>
        </p:nvSpPr>
        <p:spPr>
          <a:xfrm>
            <a:off x="3034947" y="2907775"/>
            <a:ext cx="1488796" cy="10096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sz="1600">
                <a:latin typeface="Bahnschrift Condensed"/>
                <a:ea typeface="Bahnschrift Condensed"/>
                <a:cs typeface="Bahnschrift Condensed"/>
              </a:rPr>
              <a:t>РАЗОБРАТЬ ОШИБКУ</a:t>
            </a:r>
          </a:p>
        </p:txBody>
      </p:sp>
      <p:sp>
        <p:nvSpPr>
          <p:cNvPr id="57" name="CARD_2_BODY">
            <a:extLst>
              <a:ext uri="{FF2B5EF4-FFF2-40B4-BE49-F238E27FC236}">
                <a16:creationId xmlns:a16="http://schemas.microsoft.com/office/drawing/2014/main" id="{5BCE8C15-9BA8-4AE6-9177-34E6F1B73BB7}"/>
              </a:ext>
            </a:extLst>
          </p:cNvPr>
          <p:cNvSpPr>
            <a:spLocks noGrp="1"/>
          </p:cNvSpPr>
          <p:nvPr/>
        </p:nvSpPr>
        <p:spPr>
          <a:xfrm>
            <a:off x="2878264" y="4532459"/>
            <a:ext cx="1802162" cy="15974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Сначала выяснить причину, а затем решать, нужны ли обучение, исправление процесса или взыскание.</a:t>
            </a:r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4081C4D6-D563-4D15-964F-801593BDC9F5}"/>
              </a:ext>
            </a:extLst>
          </p:cNvPr>
          <p:cNvSpPr>
            <a:spLocks noGrp="1"/>
          </p:cNvSpPr>
          <p:nvPr/>
        </p:nvSpPr>
        <p:spPr>
          <a:xfrm>
            <a:off x="5192945" y="2371053"/>
            <a:ext cx="1720850" cy="1965940"/>
          </a:xfrm>
          <a:custGeom>
            <a:avLst/>
            <a:gdLst>
              <a:gd name="T0" fmla="*/ 0 w 2737"/>
              <a:gd name="T1" fmla="*/ 853 h 3125"/>
              <a:gd name="T2" fmla="*/ 69 w 2737"/>
              <a:gd name="T3" fmla="*/ 733 h 3125"/>
              <a:gd name="T4" fmla="*/ 1299 w 2737"/>
              <a:gd name="T5" fmla="*/ 22 h 3125"/>
              <a:gd name="T6" fmla="*/ 1438 w 2737"/>
              <a:gd name="T7" fmla="*/ 22 h 3125"/>
              <a:gd name="T8" fmla="*/ 2668 w 2737"/>
              <a:gd name="T9" fmla="*/ 733 h 3125"/>
              <a:gd name="T10" fmla="*/ 2737 w 2737"/>
              <a:gd name="T11" fmla="*/ 853 h 3125"/>
              <a:gd name="T12" fmla="*/ 2737 w 2737"/>
              <a:gd name="T13" fmla="*/ 2273 h 3125"/>
              <a:gd name="T14" fmla="*/ 2668 w 2737"/>
              <a:gd name="T15" fmla="*/ 2393 h 3125"/>
              <a:gd name="T16" fmla="*/ 1438 w 2737"/>
              <a:gd name="T17" fmla="*/ 3103 h 3125"/>
              <a:gd name="T18" fmla="*/ 1299 w 2737"/>
              <a:gd name="T19" fmla="*/ 3103 h 3125"/>
              <a:gd name="T20" fmla="*/ 69 w 2737"/>
              <a:gd name="T21" fmla="*/ 2393 h 3125"/>
              <a:gd name="T22" fmla="*/ 0 w 2737"/>
              <a:gd name="T23" fmla="*/ 2273 h 3125"/>
              <a:gd name="T24" fmla="*/ 0 w 2737"/>
              <a:gd name="T25" fmla="*/ 853 h 3125"/>
            </a:gdLst>
            <a:ahLst/>
            <a:cxnLst/>
            <a:rect l="0" t="0" r="r" b="b"/>
            <a:pathLst>
              <a:path w="2737" h="3125">
                <a:moveTo>
                  <a:pt x="0" y="853"/>
                </a:moveTo>
                <a:cubicBezTo>
                  <a:pt x="0" y="809"/>
                  <a:pt x="31" y="755"/>
                  <a:pt x="69" y="733"/>
                </a:cubicBezTo>
                <a:cubicBezTo>
                  <a:pt x="1299" y="22"/>
                  <a:pt x="1299" y="22"/>
                  <a:pt x="1299" y="22"/>
                </a:cubicBezTo>
                <a:cubicBezTo>
                  <a:pt x="1338" y="0"/>
                  <a:pt x="1400" y="0"/>
                  <a:pt x="1438" y="22"/>
                </a:cubicBezTo>
                <a:cubicBezTo>
                  <a:pt x="2668" y="733"/>
                  <a:pt x="2668" y="733"/>
                  <a:pt x="2668" y="733"/>
                </a:cubicBezTo>
                <a:cubicBezTo>
                  <a:pt x="2706" y="755"/>
                  <a:pt x="2737" y="809"/>
                  <a:pt x="2737" y="853"/>
                </a:cubicBezTo>
                <a:cubicBezTo>
                  <a:pt x="2737" y="2273"/>
                  <a:pt x="2737" y="2273"/>
                  <a:pt x="2737" y="2273"/>
                </a:cubicBezTo>
                <a:cubicBezTo>
                  <a:pt x="2737" y="2317"/>
                  <a:pt x="2706" y="2371"/>
                  <a:pt x="2668" y="2393"/>
                </a:cubicBezTo>
                <a:cubicBezTo>
                  <a:pt x="1438" y="3103"/>
                  <a:pt x="1438" y="3103"/>
                  <a:pt x="1438" y="3103"/>
                </a:cubicBezTo>
                <a:cubicBezTo>
                  <a:pt x="1400" y="3125"/>
                  <a:pt x="1338" y="3125"/>
                  <a:pt x="1299" y="3103"/>
                </a:cubicBezTo>
                <a:cubicBezTo>
                  <a:pt x="69" y="2393"/>
                  <a:pt x="69" y="2393"/>
                  <a:pt x="69" y="2393"/>
                </a:cubicBezTo>
                <a:cubicBezTo>
                  <a:pt x="31" y="2371"/>
                  <a:pt x="0" y="2317"/>
                  <a:pt x="0" y="2273"/>
                </a:cubicBezTo>
                <a:lnTo>
                  <a:pt x="0" y="853"/>
                </a:lnTo>
                <a:close/>
              </a:path>
            </a:pathLst>
          </a:custGeom>
          <a:solidFill>
            <a:srgbClr val="FFB219"/>
          </a:solidFill>
          <a:ln>
            <a:noFill/>
          </a:ln>
          <a:effectLst>
            <a:outerShdw blurRad="190500" dist="190500" dir="2700000" algn="tl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54" name="CARD_3_TITLE">
            <a:extLst>
              <a:ext uri="{FF2B5EF4-FFF2-40B4-BE49-F238E27FC236}">
                <a16:creationId xmlns:a16="http://schemas.microsoft.com/office/drawing/2014/main" id="{B49F5EED-AB9F-401A-A81D-902423FFBA95}"/>
              </a:ext>
            </a:extLst>
          </p:cNvPr>
          <p:cNvSpPr>
            <a:spLocks noGrp="1"/>
          </p:cNvSpPr>
          <p:nvPr/>
        </p:nvSpPr>
        <p:spPr>
          <a:xfrm>
            <a:off x="5298794" y="2907775"/>
            <a:ext cx="1488796" cy="10096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sz="1600">
                <a:latin typeface="Bahnschrift Condensed"/>
                <a:ea typeface="Bahnschrift Condensed"/>
                <a:cs typeface="Bahnschrift Condensed"/>
              </a:rPr>
              <a:t>ОБЕСПЕЧИТЬ СТРОГОСТЬ</a:t>
            </a:r>
          </a:p>
        </p:txBody>
      </p:sp>
      <p:sp>
        <p:nvSpPr>
          <p:cNvPr id="58" name="CARD_3_BODY">
            <a:extLst>
              <a:ext uri="{FF2B5EF4-FFF2-40B4-BE49-F238E27FC236}">
                <a16:creationId xmlns:a16="http://schemas.microsoft.com/office/drawing/2014/main" id="{69B4FD41-EA45-47FB-AFF9-5DAC69F3747E}"/>
              </a:ext>
            </a:extLst>
          </p:cNvPr>
          <p:cNvSpPr>
            <a:spLocks noGrp="1"/>
          </p:cNvSpPr>
          <p:nvPr/>
        </p:nvSpPr>
        <p:spPr>
          <a:xfrm>
            <a:off x="5192722" y="4569620"/>
            <a:ext cx="1802162" cy="15974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Сразу реагировать на нарушение и одинаково требовать выполнения правил от всех.</a:t>
            </a:r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9B339B7B-7353-496B-8CCA-DCC6CBEEFC0E}"/>
              </a:ext>
            </a:extLst>
          </p:cNvPr>
          <p:cNvSpPr>
            <a:spLocks noGrp="1"/>
          </p:cNvSpPr>
          <p:nvPr/>
        </p:nvSpPr>
        <p:spPr>
          <a:xfrm>
            <a:off x="7547831" y="2371053"/>
            <a:ext cx="1720850" cy="1965940"/>
          </a:xfrm>
          <a:custGeom>
            <a:avLst/>
            <a:gdLst>
              <a:gd name="T0" fmla="*/ 0 w 2737"/>
              <a:gd name="T1" fmla="*/ 853 h 3125"/>
              <a:gd name="T2" fmla="*/ 69 w 2737"/>
              <a:gd name="T3" fmla="*/ 733 h 3125"/>
              <a:gd name="T4" fmla="*/ 1299 w 2737"/>
              <a:gd name="T5" fmla="*/ 22 h 3125"/>
              <a:gd name="T6" fmla="*/ 1438 w 2737"/>
              <a:gd name="T7" fmla="*/ 22 h 3125"/>
              <a:gd name="T8" fmla="*/ 2668 w 2737"/>
              <a:gd name="T9" fmla="*/ 733 h 3125"/>
              <a:gd name="T10" fmla="*/ 2737 w 2737"/>
              <a:gd name="T11" fmla="*/ 853 h 3125"/>
              <a:gd name="T12" fmla="*/ 2737 w 2737"/>
              <a:gd name="T13" fmla="*/ 2273 h 3125"/>
              <a:gd name="T14" fmla="*/ 2668 w 2737"/>
              <a:gd name="T15" fmla="*/ 2393 h 3125"/>
              <a:gd name="T16" fmla="*/ 1438 w 2737"/>
              <a:gd name="T17" fmla="*/ 3103 h 3125"/>
              <a:gd name="T18" fmla="*/ 1299 w 2737"/>
              <a:gd name="T19" fmla="*/ 3103 h 3125"/>
              <a:gd name="T20" fmla="*/ 69 w 2737"/>
              <a:gd name="T21" fmla="*/ 2393 h 3125"/>
              <a:gd name="T22" fmla="*/ 0 w 2737"/>
              <a:gd name="T23" fmla="*/ 2273 h 3125"/>
              <a:gd name="T24" fmla="*/ 0 w 2737"/>
              <a:gd name="T25" fmla="*/ 853 h 3125"/>
            </a:gdLst>
            <a:ahLst/>
            <a:cxnLst/>
            <a:rect l="0" t="0" r="r" b="b"/>
            <a:pathLst>
              <a:path w="2737" h="3125">
                <a:moveTo>
                  <a:pt x="0" y="853"/>
                </a:moveTo>
                <a:cubicBezTo>
                  <a:pt x="0" y="809"/>
                  <a:pt x="31" y="755"/>
                  <a:pt x="69" y="733"/>
                </a:cubicBezTo>
                <a:cubicBezTo>
                  <a:pt x="1299" y="22"/>
                  <a:pt x="1299" y="22"/>
                  <a:pt x="1299" y="22"/>
                </a:cubicBezTo>
                <a:cubicBezTo>
                  <a:pt x="1338" y="0"/>
                  <a:pt x="1400" y="0"/>
                  <a:pt x="1438" y="22"/>
                </a:cubicBezTo>
                <a:cubicBezTo>
                  <a:pt x="2668" y="733"/>
                  <a:pt x="2668" y="733"/>
                  <a:pt x="2668" y="733"/>
                </a:cubicBezTo>
                <a:cubicBezTo>
                  <a:pt x="2706" y="755"/>
                  <a:pt x="2737" y="809"/>
                  <a:pt x="2737" y="853"/>
                </a:cubicBezTo>
                <a:cubicBezTo>
                  <a:pt x="2737" y="2273"/>
                  <a:pt x="2737" y="2273"/>
                  <a:pt x="2737" y="2273"/>
                </a:cubicBezTo>
                <a:cubicBezTo>
                  <a:pt x="2737" y="2317"/>
                  <a:pt x="2706" y="2371"/>
                  <a:pt x="2668" y="2393"/>
                </a:cubicBezTo>
                <a:cubicBezTo>
                  <a:pt x="1438" y="3103"/>
                  <a:pt x="1438" y="3103"/>
                  <a:pt x="1438" y="3103"/>
                </a:cubicBezTo>
                <a:cubicBezTo>
                  <a:pt x="1400" y="3125"/>
                  <a:pt x="1338" y="3125"/>
                  <a:pt x="1299" y="3103"/>
                </a:cubicBezTo>
                <a:cubicBezTo>
                  <a:pt x="69" y="2393"/>
                  <a:pt x="69" y="2393"/>
                  <a:pt x="69" y="2393"/>
                </a:cubicBezTo>
                <a:cubicBezTo>
                  <a:pt x="31" y="2371"/>
                  <a:pt x="0" y="2317"/>
                  <a:pt x="0" y="2273"/>
                </a:cubicBezTo>
                <a:lnTo>
                  <a:pt x="0" y="85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190500" dir="2700000" algn="tl" rotWithShape="0">
              <a:prstClr val="black">
                <a:alpha val="10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55" name="CARD_4_TITLE">
            <a:extLst>
              <a:ext uri="{FF2B5EF4-FFF2-40B4-BE49-F238E27FC236}">
                <a16:creationId xmlns:a16="http://schemas.microsoft.com/office/drawing/2014/main" id="{0E05A0B5-0DDD-40A7-9B64-728490851CFD}"/>
              </a:ext>
            </a:extLst>
          </p:cNvPr>
          <p:cNvSpPr>
            <a:spLocks noGrp="1"/>
          </p:cNvSpPr>
          <p:nvPr/>
        </p:nvSpPr>
        <p:spPr>
          <a:xfrm>
            <a:off x="7725107" y="2907775"/>
            <a:ext cx="1488796" cy="10096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sz="1600" b="1">
                <a:latin typeface="Bahnschrift Condensed"/>
                <a:ea typeface="Bahnschrift Condensed"/>
                <a:cs typeface="Bahnschrift Condensed"/>
              </a:rPr>
              <a:t>ПОДДЕРЖАТЬ НОВИЧКА</a:t>
            </a:r>
            <a:endParaRPr sz="1600">
              <a:latin typeface="Bahnschrift Condensed"/>
              <a:ea typeface="Bahnschrift Condensed"/>
              <a:cs typeface="Bahnschrift Condensed"/>
            </a:endParaRPr>
          </a:p>
        </p:txBody>
      </p:sp>
      <p:sp>
        <p:nvSpPr>
          <p:cNvPr id="59" name="CARD_4_BODY">
            <a:extLst>
              <a:ext uri="{FF2B5EF4-FFF2-40B4-BE49-F238E27FC236}">
                <a16:creationId xmlns:a16="http://schemas.microsoft.com/office/drawing/2014/main" id="{CE61BEA3-6E94-4CE9-810B-2AAA9787CFCA}"/>
              </a:ext>
            </a:extLst>
          </p:cNvPr>
          <p:cNvSpPr>
            <a:spLocks noGrp="1"/>
          </p:cNvSpPr>
          <p:nvPr/>
        </p:nvSpPr>
        <p:spPr>
          <a:xfrm>
            <a:off x="7507180" y="4532459"/>
            <a:ext cx="1802162" cy="15974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Замечать затруднения, отвечать на вопросы и помогать освоить работу.</a:t>
            </a:r>
          </a:p>
        </p:txBody>
      </p:sp>
      <p:sp>
        <p:nvSpPr>
          <p:cNvPr id="28" name="Freeform 5">
            <a:extLst>
              <a:ext uri="{FF2B5EF4-FFF2-40B4-BE49-F238E27FC236}">
                <a16:creationId xmlns:a16="http://schemas.microsoft.com/office/drawing/2014/main" id="{784A8850-1D14-4EDE-BE34-9F2B1DF52D00}"/>
              </a:ext>
            </a:extLst>
          </p:cNvPr>
          <p:cNvSpPr>
            <a:spLocks noGrp="1"/>
          </p:cNvSpPr>
          <p:nvPr/>
        </p:nvSpPr>
        <p:spPr>
          <a:xfrm>
            <a:off x="9862295" y="2371053"/>
            <a:ext cx="1720850" cy="1965940"/>
          </a:xfrm>
          <a:custGeom>
            <a:avLst/>
            <a:gdLst>
              <a:gd name="T0" fmla="*/ 0 w 2737"/>
              <a:gd name="T1" fmla="*/ 853 h 3125"/>
              <a:gd name="T2" fmla="*/ 69 w 2737"/>
              <a:gd name="T3" fmla="*/ 733 h 3125"/>
              <a:gd name="T4" fmla="*/ 1299 w 2737"/>
              <a:gd name="T5" fmla="*/ 22 h 3125"/>
              <a:gd name="T6" fmla="*/ 1438 w 2737"/>
              <a:gd name="T7" fmla="*/ 22 h 3125"/>
              <a:gd name="T8" fmla="*/ 2668 w 2737"/>
              <a:gd name="T9" fmla="*/ 733 h 3125"/>
              <a:gd name="T10" fmla="*/ 2737 w 2737"/>
              <a:gd name="T11" fmla="*/ 853 h 3125"/>
              <a:gd name="T12" fmla="*/ 2737 w 2737"/>
              <a:gd name="T13" fmla="*/ 2273 h 3125"/>
              <a:gd name="T14" fmla="*/ 2668 w 2737"/>
              <a:gd name="T15" fmla="*/ 2393 h 3125"/>
              <a:gd name="T16" fmla="*/ 1438 w 2737"/>
              <a:gd name="T17" fmla="*/ 3103 h 3125"/>
              <a:gd name="T18" fmla="*/ 1299 w 2737"/>
              <a:gd name="T19" fmla="*/ 3103 h 3125"/>
              <a:gd name="T20" fmla="*/ 69 w 2737"/>
              <a:gd name="T21" fmla="*/ 2393 h 3125"/>
              <a:gd name="T22" fmla="*/ 0 w 2737"/>
              <a:gd name="T23" fmla="*/ 2273 h 3125"/>
              <a:gd name="T24" fmla="*/ 0 w 2737"/>
              <a:gd name="T25" fmla="*/ 853 h 3125"/>
            </a:gdLst>
            <a:ahLst/>
            <a:cxnLst/>
            <a:rect l="0" t="0" r="r" b="b"/>
            <a:pathLst>
              <a:path w="2737" h="3125">
                <a:moveTo>
                  <a:pt x="0" y="853"/>
                </a:moveTo>
                <a:cubicBezTo>
                  <a:pt x="0" y="809"/>
                  <a:pt x="31" y="755"/>
                  <a:pt x="69" y="733"/>
                </a:cubicBezTo>
                <a:cubicBezTo>
                  <a:pt x="1299" y="22"/>
                  <a:pt x="1299" y="22"/>
                  <a:pt x="1299" y="22"/>
                </a:cubicBezTo>
                <a:cubicBezTo>
                  <a:pt x="1338" y="0"/>
                  <a:pt x="1400" y="0"/>
                  <a:pt x="1438" y="22"/>
                </a:cubicBezTo>
                <a:cubicBezTo>
                  <a:pt x="2668" y="733"/>
                  <a:pt x="2668" y="733"/>
                  <a:pt x="2668" y="733"/>
                </a:cubicBezTo>
                <a:cubicBezTo>
                  <a:pt x="2706" y="755"/>
                  <a:pt x="2737" y="809"/>
                  <a:pt x="2737" y="853"/>
                </a:cubicBezTo>
                <a:cubicBezTo>
                  <a:pt x="2737" y="2273"/>
                  <a:pt x="2737" y="2273"/>
                  <a:pt x="2737" y="2273"/>
                </a:cubicBezTo>
                <a:cubicBezTo>
                  <a:pt x="2737" y="2317"/>
                  <a:pt x="2706" y="2371"/>
                  <a:pt x="2668" y="2393"/>
                </a:cubicBezTo>
                <a:cubicBezTo>
                  <a:pt x="1438" y="3103"/>
                  <a:pt x="1438" y="3103"/>
                  <a:pt x="1438" y="3103"/>
                </a:cubicBezTo>
                <a:cubicBezTo>
                  <a:pt x="1400" y="3125"/>
                  <a:pt x="1338" y="3125"/>
                  <a:pt x="1299" y="3103"/>
                </a:cubicBezTo>
                <a:cubicBezTo>
                  <a:pt x="69" y="2393"/>
                  <a:pt x="69" y="2393"/>
                  <a:pt x="69" y="2393"/>
                </a:cubicBezTo>
                <a:cubicBezTo>
                  <a:pt x="31" y="2371"/>
                  <a:pt x="0" y="2317"/>
                  <a:pt x="0" y="2273"/>
                </a:cubicBezTo>
                <a:lnTo>
                  <a:pt x="0" y="853"/>
                </a:lnTo>
                <a:close/>
              </a:path>
            </a:pathLst>
          </a:custGeom>
          <a:solidFill>
            <a:schemeClr val="bg1"/>
          </a:solidFill>
          <a:ln w="19050">
            <a:noFill/>
          </a:ln>
          <a:effectLst>
            <a:outerShdw blurRad="190500" dist="190500" dir="2700000" algn="tl" rotWithShape="0">
              <a:prstClr val="black">
                <a:alpha val="10000"/>
              </a:prstClr>
            </a:outerShdw>
          </a:effectLst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56" name="CARD_5_TITLE">
            <a:extLst>
              <a:ext uri="{FF2B5EF4-FFF2-40B4-BE49-F238E27FC236}">
                <a16:creationId xmlns:a16="http://schemas.microsoft.com/office/drawing/2014/main" id="{68951281-57B5-4F4B-9BDE-C827FB81C047}"/>
              </a:ext>
            </a:extLst>
          </p:cNvPr>
          <p:cNvSpPr>
            <a:spLocks noGrp="1"/>
          </p:cNvSpPr>
          <p:nvPr/>
        </p:nvSpPr>
        <p:spPr>
          <a:xfrm>
            <a:off x="9978322" y="2907775"/>
            <a:ext cx="1488796" cy="10096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sz="1600">
                <a:latin typeface="Bahnschrift Condensed"/>
                <a:ea typeface="Bahnschrift Condensed"/>
                <a:cs typeface="Bahnschrift Condensed"/>
              </a:rPr>
              <a:t>СООБЩИТЬ О ПРОБЛЕМЕ РУКОВОДИТЕЛЮ</a:t>
            </a:r>
          </a:p>
        </p:txBody>
      </p:sp>
      <p:sp>
        <p:nvSpPr>
          <p:cNvPr id="60" name="CARD_5_BODY">
            <a:extLst>
              <a:ext uri="{FF2B5EF4-FFF2-40B4-BE49-F238E27FC236}">
                <a16:creationId xmlns:a16="http://schemas.microsoft.com/office/drawing/2014/main" id="{996C15E3-25BD-41BD-9228-5CEBD5D49BC5}"/>
              </a:ext>
            </a:extLst>
          </p:cNvPr>
          <p:cNvSpPr>
            <a:spLocks noGrp="1"/>
          </p:cNvSpPr>
          <p:nvPr/>
        </p:nvSpPr>
        <p:spPr>
          <a:xfrm>
            <a:off x="9821639" y="4532459"/>
            <a:ext cx="1802162" cy="15974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Передать факты без приукрашивания и не скрывать угрозу сроку, даже если разговор будет неприятным.</a:t>
            </a:r>
          </a:p>
        </p:txBody>
      </p:sp>
    </p:spTree>
    <p:extLst>
      <p:ext uri="{BB962C8B-B14F-4D97-AF65-F5344CB8AC3E}">
        <p14:creationId xmlns:p14="http://schemas.microsoft.com/office/powerpoint/2010/main" val="604747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Рисунок 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305788" y="6550419"/>
            <a:ext cx="3061710" cy="3061710"/>
          </a:xfrm>
          <a:prstGeom prst="rect">
            <a:avLst/>
          </a:prstGeom>
        </p:spPr>
      </p:pic>
      <p:pic>
        <p:nvPicPr>
          <p:cNvPr id="39" name="Рисунок 3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040" y="3007283"/>
            <a:ext cx="4931735" cy="3214556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ПОДДЕРЖКА НАЧИНАЕТСЯ С ВНИМАНИЯ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41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DEFINITION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1276044" y="3083956"/>
            <a:ext cx="4028661" cy="3223783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400">
                <a:solidFill>
                  <a:srgbClr val="F5340B"/>
                </a:solidFill>
                <a:latin typeface="Bahnschrift Condensed"/>
                <a:ea typeface="Bahnschrift Condensed"/>
                <a:cs typeface="Bahnschrift Condensed"/>
              </a:rPr>
              <a:t>Поддерживать</a:t>
            </a:r>
            <a:r>
              <a:rPr sz="1800">
                <a:latin typeface="Nunito"/>
                <a:ea typeface="Nunito"/>
                <a:cs typeface="Nunito"/>
              </a:rPr>
              <a:t> — значит замечать не только результат работы, но и состояние человека.</a:t>
            </a:r>
          </a:p>
        </p:txBody>
      </p:sp>
      <p:sp>
        <p:nvSpPr>
          <p:cNvPr id="16" name="EXPLANATION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097473" y="1273669"/>
            <a:ext cx="3857644" cy="4974731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Поддержка не означает, что мастер снимает с человека ответственность. Она помогает понять причину и выбрать правильное действие: объяснить, обучить, устранить помеху или потребовать исправить работу.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45" name="Рисунок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46" name="Рисунок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84985" y="6331911"/>
            <a:ext cx="2419350" cy="2419350"/>
          </a:xfrm>
          <a:prstGeom prst="rect">
            <a:avLst/>
          </a:prstGeom>
        </p:spPr>
      </p:pic>
      <p:pic>
        <p:nvPicPr>
          <p:cNvPr id="47" name="Рисунок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669451" y="5715847"/>
            <a:ext cx="1790700" cy="1790700"/>
          </a:xfrm>
          <a:prstGeom prst="rect">
            <a:avLst/>
          </a:prstGeom>
        </p:spPr>
      </p:pic>
      <p:pic>
        <p:nvPicPr>
          <p:cNvPr id="48" name="Рисунок 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97645" y="-730586"/>
            <a:ext cx="1257300" cy="1257300"/>
          </a:xfrm>
          <a:prstGeom prst="rect">
            <a:avLst/>
          </a:prstGeom>
        </p:spPr>
      </p:pic>
      <p:pic>
        <p:nvPicPr>
          <p:cNvPr id="49" name="Рисунок 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50" name="Рисунок 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548212" y="7592447"/>
            <a:ext cx="3714750" cy="3714750"/>
          </a:xfrm>
          <a:prstGeom prst="rect">
            <a:avLst/>
          </a:prstGeom>
        </p:spPr>
      </p:pic>
      <p:pic>
        <p:nvPicPr>
          <p:cNvPr id="51" name="Рисунок 1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52" name="Рисунок 1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53" name="Рисунок 2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54" name="Рисунок 2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55" name="Рисунок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56" name="Рисунок 3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57" name="Рисунок 3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58" name="!!gear-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1375510" y="6667520"/>
            <a:ext cx="3676709" cy="3676709"/>
          </a:xfrm>
          <a:prstGeom prst="rect">
            <a:avLst/>
          </a:prstGeom>
        </p:spPr>
      </p:pic>
      <p:pic>
        <p:nvPicPr>
          <p:cNvPr id="59" name="Image 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25922" y="2831446"/>
            <a:ext cx="1172137" cy="1420088"/>
          </a:xfrm>
          <a:prstGeom prst="rect">
            <a:avLst/>
          </a:prstGeom>
        </p:spPr>
      </p:pic>
      <p:sp>
        <p:nvSpPr>
          <p:cNvPr id="2" name="CONTEXT">
            <a:extLst>
              <a:ext uri="{FF2B5EF4-FFF2-40B4-BE49-F238E27FC236}">
                <a16:creationId xmlns:a16="http://schemas.microsoft.com/office/drawing/2014/main" id="{B6810FF7-C589-4424-B4C8-D1AF84258212}"/>
              </a:ext>
            </a:extLst>
          </p:cNvPr>
          <p:cNvSpPr>
            <a:spLocks noGrp="1"/>
          </p:cNvSpPr>
          <p:nvPr/>
        </p:nvSpPr>
        <p:spPr>
          <a:xfrm>
            <a:off x="798407" y="1529168"/>
            <a:ext cx="50587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latin typeface="Nunito"/>
                <a:ea typeface="Nunito"/>
                <a:cs typeface="Nunito"/>
              </a:rPr>
              <a:t>Рабочий может растеряться, столкнуться с незнакомой операцией, не понять задание или побояться признаться в ошибке. Задача мастера — увидеть затруднение и выяснить, что произошло.</a:t>
            </a:r>
          </a:p>
        </p:txBody>
      </p:sp>
    </p:spTree>
    <p:extLst>
      <p:ext uri="{BB962C8B-B14F-4D97-AF65-F5344CB8AC3E}">
        <p14:creationId xmlns:p14="http://schemas.microsoft.com/office/powerpoint/2010/main" val="2501918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Рисунок 1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337" y="1136104"/>
            <a:ext cx="7716933" cy="269398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ОДОБРЕНИЕ ПОКАЗЫВАЕТ, КАКОЕ ПОВЕДЕНИЕ НУЖНО ПОВТОРЯТЬ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39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BODY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1219895" y="1379761"/>
            <a:ext cx="6743006" cy="2006509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Похвала полезна, когда мастер называет конкретный результат и объясняет, почему он важен.</a:t>
            </a:r>
            <a:br/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Фраза «молодец» сама по себе мало что сообщает. Рабочий должен понять, какое именно действие мастер оценил.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5" name="EXAMPLE_LABEL">
            <a:extLst>
              <a:ext uri="{FF2B5EF4-FFF2-40B4-BE49-F238E27FC236}">
                <a16:creationId xmlns:a16="http://schemas.microsoft.com/office/drawing/2014/main" id="{48195708-8A32-4C6F-B44A-6D34E01BD2F3}"/>
              </a:ext>
            </a:extLst>
          </p:cNvPr>
          <p:cNvSpPr>
            <a:spLocks noGrp="1"/>
          </p:cNvSpPr>
          <p:nvPr/>
        </p:nvSpPr>
        <p:spPr>
          <a:xfrm>
            <a:off x="3236066" y="4106275"/>
            <a:ext cx="3810000" cy="2540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 spc="20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КОНКРЕТНАЯ ПОХВАЛА</a:t>
            </a:r>
            <a:endParaRPr sz="1300"/>
          </a:p>
        </p:txBody>
      </p:sp>
      <p:sp>
        <p:nvSpPr>
          <p:cNvPr id="16" name="EXAMPLE_BODY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3236066" y="4420844"/>
            <a:ext cx="8131194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lnSpc>
                <a:spcPct val="130000"/>
              </a:lnSpc>
              <a:buNone/>
            </a:pP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Денис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: Я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стараюсь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говорить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конкретно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: «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Ты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заранее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заметил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хватает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крепежа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и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сообщил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начала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сборки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Благодаря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этому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бригада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простаивала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Тогда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человек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понимает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именно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сделал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правильно</a:t>
            </a:r>
            <a:r>
              <a:rPr sz="16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600" dirty="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44" name="Рисунок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45" name="Рисунок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46" name="Рисунок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47" name="Рисунок 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8" name="Рисунок 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9" name="Рисунок 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620445" y="4172920"/>
            <a:ext cx="3061710" cy="3061710"/>
          </a:xfrm>
          <a:prstGeom prst="rect">
            <a:avLst/>
          </a:prstGeom>
        </p:spPr>
      </p:pic>
      <p:pic>
        <p:nvPicPr>
          <p:cNvPr id="50" name="Рисунок 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403443" y="6278502"/>
            <a:ext cx="3714750" cy="3714750"/>
          </a:xfrm>
          <a:prstGeom prst="rect">
            <a:avLst/>
          </a:prstGeom>
        </p:spPr>
      </p:pic>
      <p:pic>
        <p:nvPicPr>
          <p:cNvPr id="51" name="Рисунок 1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52" name="Рисунок 1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53" name="Рисунок 2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54" name="Рисунок 2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55" name="Рисунок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56" name="Рисунок 3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57" name="Рисунок 3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58" name="!!gear-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0577606" y="1784075"/>
            <a:ext cx="3676709" cy="36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030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Рисунок 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305788" y="6550419"/>
            <a:ext cx="3061710" cy="306171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СТРОГОСТЬ УДЕРЖИВАЕТ ТРЕБОВАНИЯ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8" name="DEFINITION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808637" y="1130154"/>
            <a:ext cx="5151561" cy="2524819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3200">
                <a:solidFill>
                  <a:srgbClr val="F5340B"/>
                </a:solidFill>
                <a:latin typeface="Bahnschrift Condensed"/>
                <a:ea typeface="Bahnschrift Condensed"/>
                <a:cs typeface="Bahnschrift Condensed"/>
              </a:rPr>
              <a:t>Строгость</a:t>
            </a:r>
            <a:r>
              <a:rPr sz="2400">
                <a:latin typeface="Nunito"/>
                <a:ea typeface="Nunito"/>
                <a:cs typeface="Nunito"/>
              </a:rPr>
              <a:t> — это готовность обозначить требование и не отказаться от него только потому, что разговор неприятен или рабочий сопротивляется.</a:t>
            </a:r>
          </a:p>
        </p:txBody>
      </p:sp>
      <p:sp>
        <p:nvSpPr>
          <p:cNvPr id="16" name="EXPLANATION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7097473" y="1273669"/>
            <a:ext cx="3857644" cy="4974731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Денис: Если правило действует сегодня, а завтра мастер закрывает на то же нарушение глаза, рабочие перестают понимать, чего от них требуют. Поэтому спрашивать нужно одинаково со всех и самому не отступать от своих слов.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48" name="Рисунок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49" name="Рисунок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14952" y="5951287"/>
            <a:ext cx="3104789" cy="3104789"/>
          </a:xfrm>
          <a:prstGeom prst="rect">
            <a:avLst/>
          </a:prstGeom>
        </p:spPr>
      </p:pic>
      <p:pic>
        <p:nvPicPr>
          <p:cNvPr id="50" name="Рисунок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669451" y="5715847"/>
            <a:ext cx="1790700" cy="1790700"/>
          </a:xfrm>
          <a:prstGeom prst="rect">
            <a:avLst/>
          </a:prstGeom>
        </p:spPr>
      </p:pic>
      <p:pic>
        <p:nvPicPr>
          <p:cNvPr id="51" name="Рисунок 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91801" y="-690684"/>
            <a:ext cx="1257300" cy="1257300"/>
          </a:xfrm>
          <a:prstGeom prst="rect">
            <a:avLst/>
          </a:prstGeom>
        </p:spPr>
      </p:pic>
      <p:pic>
        <p:nvPicPr>
          <p:cNvPr id="52" name="Рисунок 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53" name="Рисунок 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051" y="8035107"/>
            <a:ext cx="3714750" cy="3714750"/>
          </a:xfrm>
          <a:prstGeom prst="rect">
            <a:avLst/>
          </a:prstGeom>
        </p:spPr>
      </p:pic>
      <p:pic>
        <p:nvPicPr>
          <p:cNvPr id="54" name="Рисунок 1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55" name="Рисунок 1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56" name="Рисунок 2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57" name="Рисунок 2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27783" y="-2947696"/>
            <a:ext cx="4486257" cy="4486257"/>
          </a:xfrm>
          <a:prstGeom prst="rect">
            <a:avLst/>
          </a:prstGeom>
        </p:spPr>
      </p:pic>
      <p:pic>
        <p:nvPicPr>
          <p:cNvPr id="58" name="Рисунок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59" name="Рисунок 3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60" name="Рисунок 3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61" name="!!gear-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1375510" y="6667520"/>
            <a:ext cx="3676709" cy="3676709"/>
          </a:xfrm>
          <a:prstGeom prst="rect">
            <a:avLst/>
          </a:prstGeom>
        </p:spPr>
      </p:pic>
      <p:pic>
        <p:nvPicPr>
          <p:cNvPr id="62" name="Image 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25922" y="2831446"/>
            <a:ext cx="1172137" cy="1420088"/>
          </a:xfrm>
          <a:prstGeom prst="rect">
            <a:avLst/>
          </a:prstGeom>
        </p:spPr>
      </p:pic>
      <p:sp>
        <p:nvSpPr>
          <p:cNvPr id="2" name="CONTEXT">
            <a:extLst>
              <a:ext uri="{FF2B5EF4-FFF2-40B4-BE49-F238E27FC236}">
                <a16:creationId xmlns:a16="http://schemas.microsoft.com/office/drawing/2014/main" id="{B6810FF7-C589-4424-B4C8-D1AF84258212}"/>
              </a:ext>
            </a:extLst>
          </p:cNvPr>
          <p:cNvSpPr>
            <a:spLocks noGrp="1"/>
          </p:cNvSpPr>
          <p:nvPr/>
        </p:nvSpPr>
        <p:spPr>
          <a:xfrm>
            <a:off x="698805" y="3654972"/>
            <a:ext cx="5058752" cy="251987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600">
                <a:latin typeface="Nunito"/>
                <a:ea typeface="Nunito"/>
                <a:cs typeface="Nunito"/>
              </a:rPr>
              <a:t>Мастер пресекает нарушения, требует результата и одинаково применяет правила ко всем. Он не меняет требования по настроению, из-за симпатии или ради того, чтобы избежать спора.</a:t>
            </a:r>
          </a:p>
        </p:txBody>
      </p:sp>
      <p:sp>
        <p:nvSpPr>
          <p:cNvPr id="26" name="EXAMPLE_LABEL">
            <a:extLst>
              <a:ext uri="{FF2B5EF4-FFF2-40B4-BE49-F238E27FC236}">
                <a16:creationId xmlns:a16="http://schemas.microsoft.com/office/drawing/2014/main" id="{8462BC84-2662-4CC7-AC84-80AE880709D5}"/>
              </a:ext>
            </a:extLst>
          </p:cNvPr>
          <p:cNvSpPr>
            <a:spLocks noGrp="1"/>
          </p:cNvSpPr>
          <p:nvPr/>
        </p:nvSpPr>
        <p:spPr>
          <a:xfrm>
            <a:off x="10048525" y="1407989"/>
            <a:ext cx="3810000" cy="2540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 spc="20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 ДЕНИСА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2488472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Рисунок 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3438" y="7696134"/>
            <a:ext cx="3061710" cy="306171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>
                <a:latin typeface="Bahnschrift SemiBold Condensed"/>
                <a:ea typeface="Bahnschrift SemiBold Condensed"/>
                <a:cs typeface="Bahnschrift SemiBold Condensed"/>
              </a:rPr>
              <a:t>ПОДДЕРЖКА НЕ ЗАМЕНЯЕТ СТРОГОСТЬ</a:t>
            </a:r>
            <a:endParaRPr sz="3000"/>
          </a:p>
        </p:txBody>
      </p:sp>
      <p:pic>
        <p:nvPicPr>
          <p:cNvPr id="51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6" name="INTRO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808636" y="858223"/>
            <a:ext cx="8774743" cy="1267853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В прошлом уроке мы уже разбирали мастера, который хотел сохранить хорошие отношения с рабочими и поэтому не делал замечаний.</a:t>
            </a:r>
            <a:endParaRPr sz="1600" b="1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54" name="Рисунок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6562" y="8264023"/>
            <a:ext cx="1857375" cy="1857375"/>
          </a:xfrm>
          <a:prstGeom prst="rect">
            <a:avLst/>
          </a:prstGeom>
        </p:spPr>
      </p:pic>
      <p:pic>
        <p:nvPicPr>
          <p:cNvPr id="55" name="Рисунок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56" name="Рисунок 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46523" y="8037009"/>
            <a:ext cx="1257300" cy="1257300"/>
          </a:xfrm>
          <a:prstGeom prst="rect">
            <a:avLst/>
          </a:prstGeom>
        </p:spPr>
      </p:pic>
      <p:pic>
        <p:nvPicPr>
          <p:cNvPr id="57" name="Рисунок 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58" name="Рисунок 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3081914" y="7655895"/>
            <a:ext cx="3714750" cy="3714750"/>
          </a:xfrm>
          <a:prstGeom prst="rect">
            <a:avLst/>
          </a:prstGeom>
        </p:spPr>
      </p:pic>
      <p:pic>
        <p:nvPicPr>
          <p:cNvPr id="59" name="Рисунок 1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04924" y="6286493"/>
            <a:ext cx="2257425" cy="2257425"/>
          </a:xfrm>
          <a:prstGeom prst="rect">
            <a:avLst/>
          </a:prstGeom>
        </p:spPr>
      </p:pic>
      <p:pic>
        <p:nvPicPr>
          <p:cNvPr id="60" name="Рисунок 1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61" name="Рисунок 2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62" name="Рисунок 2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307352" y="-2033388"/>
            <a:ext cx="1801446" cy="1801446"/>
          </a:xfrm>
          <a:prstGeom prst="rect">
            <a:avLst/>
          </a:prstGeom>
        </p:spPr>
      </p:pic>
      <p:pic>
        <p:nvPicPr>
          <p:cNvPr id="63" name="Рисунок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64" name="Рисунок 3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65" name="Рисунок 3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723513" y="-2840121"/>
            <a:ext cx="2019300" cy="2019300"/>
          </a:xfrm>
          <a:prstGeom prst="rect">
            <a:avLst/>
          </a:prstGeom>
        </p:spPr>
      </p:pic>
      <p:pic>
        <p:nvPicPr>
          <p:cNvPr id="66" name="!!gear-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2024658" y="7400095"/>
            <a:ext cx="3676709" cy="3676709"/>
          </a:xfrm>
          <a:prstGeom prst="rect">
            <a:avLst/>
          </a:prstGeom>
        </p:spPr>
      </p:pic>
      <p:pic>
        <p:nvPicPr>
          <p:cNvPr id="67" name="Рисунок 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8805" y="2054824"/>
            <a:ext cx="6385027" cy="4324684"/>
          </a:xfrm>
          <a:prstGeom prst="rect">
            <a:avLst/>
          </a:prstGeom>
        </p:spPr>
      </p:pic>
      <p:pic>
        <p:nvPicPr>
          <p:cNvPr id="68" name="Image 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59869" y="3217578"/>
            <a:ext cx="1172137" cy="1420088"/>
          </a:xfrm>
          <a:prstGeom prst="rect">
            <a:avLst/>
          </a:prstGeom>
        </p:spPr>
      </p:pic>
      <p:pic>
        <p:nvPicPr>
          <p:cNvPr id="69" name="Рисунок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929589" y="7983035"/>
            <a:ext cx="2419350" cy="2419350"/>
          </a:xfrm>
          <a:prstGeom prst="rect">
            <a:avLst/>
          </a:prstGeom>
        </p:spPr>
      </p:pic>
      <p:sp>
        <p:nvSpPr>
          <p:cNvPr id="30" name="CASE_BODY">
            <a:extLst>
              <a:ext uri="{FF2B5EF4-FFF2-40B4-BE49-F238E27FC236}">
                <a16:creationId xmlns:a16="http://schemas.microsoft.com/office/drawing/2014/main" id="{37688EA1-9EF9-4CDB-99AA-CB59563EA557}"/>
              </a:ext>
            </a:extLst>
          </p:cNvPr>
          <p:cNvSpPr>
            <a:spLocks noGrp="1"/>
          </p:cNvSpPr>
          <p:nvPr/>
        </p:nvSpPr>
        <p:spPr>
          <a:xfrm>
            <a:off x="1245051" y="2412088"/>
            <a:ext cx="5338766" cy="359830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>
                <a:latin typeface="Nunito"/>
                <a:ea typeface="Nunito"/>
                <a:cs typeface="Nunito"/>
              </a:rPr>
              <a:t>Он пропускал опоздания, невыполненные задания и нарушения безопасности. Однажды рабочий неправильно установил оснастку. Мастер видел, что работу выполняют с нарушением, но не остановил её и не потребовал исправить установку. В результате оснастка сместилась и прищемила рабочему ногу.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9A3FF-EE07-4051-B044-3B44BE6B1B54}"/>
              </a:ext>
            </a:extLst>
          </p:cNvPr>
          <p:cNvSpPr>
            <a:spLocks noGrp="1"/>
          </p:cNvSpPr>
          <p:nvPr/>
        </p:nvSpPr>
        <p:spPr>
          <a:xfrm>
            <a:off x="8532006" y="2449110"/>
            <a:ext cx="3214517" cy="33362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buNone/>
            </a:pPr>
            <a:endParaRPr sz="1600">
              <a:latin typeface="Nunito"/>
              <a:ea typeface="Nunito"/>
              <a:cs typeface="Nunito"/>
            </a:endParaRPr>
          </a:p>
        </p:txBody>
      </p:sp>
      <p:sp>
        <p:nvSpPr>
          <p:cNvPr id="4" name="CONCLUSION">
            <a:extLst>
              <a:ext uri="{FF2B5EF4-FFF2-40B4-BE49-F238E27FC236}">
                <a16:creationId xmlns:a16="http://schemas.microsoft.com/office/drawing/2014/main" id="{8C1D51BD-BCC7-4C60-9B33-0C360DEAD7F5}"/>
              </a:ext>
            </a:extLst>
          </p:cNvPr>
          <p:cNvSpPr>
            <a:spLocks noGrp="1"/>
          </p:cNvSpPr>
          <p:nvPr/>
        </p:nvSpPr>
        <p:spPr>
          <a:xfrm>
            <a:off x="8723513" y="2054824"/>
            <a:ext cx="3214517" cy="43246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2400">
                <a:solidFill>
                  <a:srgbClr val="F5340B"/>
                </a:solidFill>
                <a:latin typeface="Bahnschrift Condensed"/>
                <a:ea typeface="Bahnschrift Condensed"/>
                <a:cs typeface="Bahnschrift Condensed"/>
              </a:rPr>
              <a:t>Проблемой была не поддержка людей, </a:t>
            </a:r>
            <a:r>
              <a:rPr sz="1800">
                <a:latin typeface="Nunito"/>
                <a:ea typeface="Nunito"/>
                <a:cs typeface="Nunito"/>
              </a:rPr>
              <a:t>а отсутствие строгости там, где нужно было остановить нарушение.</a:t>
            </a:r>
          </a:p>
        </p:txBody>
      </p:sp>
    </p:spTree>
    <p:extLst>
      <p:ext uri="{BB962C8B-B14F-4D97-AF65-F5344CB8AC3E}">
        <p14:creationId xmlns:p14="http://schemas.microsoft.com/office/powerpoint/2010/main" val="4283868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INTRO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373" y="1607957"/>
            <a:ext cx="4116740" cy="4390595"/>
          </a:xfrm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r>
              <a:rPr lang="ru-RU" sz="1800" dirty="0">
                <a:solidFill>
                  <a:srgbClr val="F5340B"/>
                </a:solidFill>
                <a:latin typeface="Bahnschrift SemiBold Condensed" panose="020B0502040204020203" pitchFamily="34" charset="0"/>
                <a:ea typeface="Nunito"/>
                <a:cs typeface="Nunito"/>
              </a:rPr>
              <a:t>ДРУГАЯ ОШИБКА — ДОБИВАТЬСЯ РЕЗУЛЬТАТА КРИКОМ И УГРОЗАМИ.</a:t>
            </a:r>
            <a:br>
              <a:rPr lang="ru-RU" sz="1800" dirty="0">
                <a:solidFill>
                  <a:srgbClr val="F5340B"/>
                </a:solidFill>
                <a:latin typeface="Bahnschrift SemiBold Condensed" panose="020B0502040204020203" pitchFamily="34" charset="0"/>
                <a:ea typeface="Nunito"/>
                <a:cs typeface="Nunito"/>
              </a:rPr>
            </a:br>
            <a:br>
              <a:rPr lang="ru-RU" sz="18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</a:br>
            <a:r>
              <a:rPr lang="ru-RU" sz="1800" dirty="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Например, м</a:t>
            </a:r>
            <a:r>
              <a:rPr lang="ru-RU" sz="1800" dirty="0">
                <a:latin typeface="Nunito"/>
                <a:ea typeface="Nunito"/>
                <a:cs typeface="Nunito"/>
              </a:rPr>
              <a:t>астер постоянно кричал на весь цех и резко реагировал на вопросы. Рабочие боялись к нему подходить, поэтому не уточняли задания и скрывали возникающие проблемы. Работа останавливалась, ошибки накапливались, сильные рабочие начинали увольняться.</a:t>
            </a:r>
            <a:br>
              <a:rPr lang="ru-RU" sz="900" dirty="0"/>
            </a:br>
            <a:endParaRPr sz="1800" dirty="0">
              <a:solidFill>
                <a:srgbClr val="3F454F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2153613" y="309159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СТРОГОСТЬ НЕ ОЗНАЧАЕТ ДАВЛЕНИЕ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8427904" y="867959"/>
            <a:ext cx="3122963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noGrp="1"/>
          </p:cNvSpPr>
          <p:nvPr/>
        </p:nvSpPr>
        <p:spPr>
          <a:xfrm flipH="1">
            <a:off x="4785941" y="1475815"/>
            <a:ext cx="0" cy="4862634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120" name="Рисунок 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927" y="8462397"/>
            <a:ext cx="3061710" cy="3061710"/>
          </a:xfrm>
          <a:prstGeom prst="rect">
            <a:avLst/>
          </a:prstGeom>
        </p:spPr>
      </p:pic>
      <p:pic>
        <p:nvPicPr>
          <p:cNvPr id="2121" name="Рисунок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2122" name="Рисунок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2123" name="Рисунок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2124" name="Рисунок 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125" name="Рисунок 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126" name="Рисунок 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403443" y="6278502"/>
            <a:ext cx="3714750" cy="3714750"/>
          </a:xfrm>
          <a:prstGeom prst="rect">
            <a:avLst/>
          </a:prstGeom>
        </p:spPr>
      </p:pic>
      <p:pic>
        <p:nvPicPr>
          <p:cNvPr id="2127" name="Рисунок 1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128" name="Рисунок 1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129" name="Рисунок 2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7565" y="-960701"/>
            <a:ext cx="2019300" cy="2019300"/>
          </a:xfrm>
          <a:prstGeom prst="rect">
            <a:avLst/>
          </a:prstGeom>
        </p:spPr>
      </p:pic>
      <p:pic>
        <p:nvPicPr>
          <p:cNvPr id="2130" name="Рисунок 2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685854" y="7927664"/>
            <a:ext cx="2200915" cy="2200915"/>
          </a:xfrm>
          <a:prstGeom prst="rect">
            <a:avLst/>
          </a:prstGeom>
        </p:spPr>
      </p:pic>
      <p:pic>
        <p:nvPicPr>
          <p:cNvPr id="2131" name="Рисунок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2132" name="Рисунок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2133" name="Рисунок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2134" name="!!gear-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797425" y="5632017"/>
            <a:ext cx="3676709" cy="3676709"/>
          </a:xfrm>
          <a:prstGeom prst="rect">
            <a:avLst/>
          </a:prstGeom>
        </p:spPr>
      </p:pic>
      <p:sp>
        <p:nvSpPr>
          <p:cNvPr id="50" name="Shape 3">
            <a:extLst>
              <a:ext uri="{FF2B5EF4-FFF2-40B4-BE49-F238E27FC236}">
                <a16:creationId xmlns:a16="http://schemas.microsoft.com/office/drawing/2014/main" id="{EACD7373-E84D-4834-AABB-A78BDE8C6627}"/>
              </a:ext>
            </a:extLst>
          </p:cNvPr>
          <p:cNvSpPr>
            <a:spLocks noGrp="1"/>
          </p:cNvSpPr>
          <p:nvPr/>
        </p:nvSpPr>
        <p:spPr>
          <a:xfrm rot="5400000">
            <a:off x="5447190" y="4176624"/>
            <a:ext cx="874729" cy="825500"/>
          </a:xfrm>
          <a:prstGeom prst="hexagon">
            <a:avLst/>
          </a:prstGeom>
          <a:solidFill>
            <a:srgbClr val="FFB219"/>
          </a:solidFill>
        </p:spPr>
      </p:sp>
      <p:sp>
        <p:nvSpPr>
          <p:cNvPr id="51" name="Shape 3">
            <a:extLst>
              <a:ext uri="{FF2B5EF4-FFF2-40B4-BE49-F238E27FC236}">
                <a16:creationId xmlns:a16="http://schemas.microsoft.com/office/drawing/2014/main" id="{EC000AED-7D2D-450B-9159-370E3A658E73}"/>
              </a:ext>
            </a:extLst>
          </p:cNvPr>
          <p:cNvSpPr>
            <a:spLocks noGrp="1"/>
          </p:cNvSpPr>
          <p:nvPr/>
        </p:nvSpPr>
        <p:spPr>
          <a:xfrm rot="5400000">
            <a:off x="5447190" y="1961236"/>
            <a:ext cx="874729" cy="825500"/>
          </a:xfrm>
          <a:prstGeom prst="hexagon">
            <a:avLst/>
          </a:prstGeom>
          <a:solidFill>
            <a:srgbClr val="21C535"/>
          </a:solidFill>
        </p:spPr>
      </p:sp>
      <p:sp>
        <p:nvSpPr>
          <p:cNvPr id="52" name="COMPARE_LEFT_BODY">
            <a:extLst>
              <a:ext uri="{FF2B5EF4-FFF2-40B4-BE49-F238E27FC236}">
                <a16:creationId xmlns:a16="http://schemas.microsoft.com/office/drawing/2014/main" id="{48F1698D-BF5F-4580-8C39-00DEFF347427}"/>
              </a:ext>
            </a:extLst>
          </p:cNvPr>
          <p:cNvSpPr>
            <a:spLocks noGrp="1"/>
          </p:cNvSpPr>
          <p:nvPr/>
        </p:nvSpPr>
        <p:spPr>
          <a:xfrm>
            <a:off x="6720757" y="4246253"/>
            <a:ext cx="426954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dirty="0"/>
            </a:br>
            <a:r>
              <a:rPr sz="1600" dirty="0" err="1">
                <a:latin typeface="Nunito"/>
                <a:ea typeface="Nunito"/>
                <a:cs typeface="Nunito"/>
              </a:rPr>
              <a:t>Давление</a:t>
            </a:r>
            <a:r>
              <a:rPr sz="1600" dirty="0"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latin typeface="Nunito"/>
                <a:ea typeface="Nunito"/>
                <a:cs typeface="Nunito"/>
              </a:rPr>
              <a:t>заставляет</a:t>
            </a:r>
            <a:r>
              <a:rPr sz="1600" dirty="0"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latin typeface="Nunito"/>
                <a:ea typeface="Nunito"/>
                <a:cs typeface="Nunito"/>
              </a:rPr>
              <a:t>человека</a:t>
            </a:r>
            <a:r>
              <a:rPr sz="1600" dirty="0"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latin typeface="Nunito"/>
                <a:ea typeface="Nunito"/>
                <a:cs typeface="Nunito"/>
              </a:rPr>
              <a:t>защищаться</a:t>
            </a:r>
            <a:r>
              <a:rPr sz="1600" dirty="0">
                <a:latin typeface="Nunito"/>
                <a:ea typeface="Nunito"/>
                <a:cs typeface="Nunito"/>
              </a:rPr>
              <a:t>, </a:t>
            </a:r>
            <a:r>
              <a:rPr sz="1600" dirty="0" err="1">
                <a:latin typeface="Nunito"/>
                <a:ea typeface="Nunito"/>
                <a:cs typeface="Nunito"/>
              </a:rPr>
              <a:t>молчать</a:t>
            </a:r>
            <a:r>
              <a:rPr sz="1600" dirty="0"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latin typeface="Nunito"/>
                <a:ea typeface="Nunito"/>
                <a:cs typeface="Nunito"/>
              </a:rPr>
              <a:t>или</a:t>
            </a:r>
            <a:r>
              <a:rPr sz="1600" dirty="0"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latin typeface="Nunito"/>
                <a:ea typeface="Nunito"/>
                <a:cs typeface="Nunito"/>
              </a:rPr>
              <a:t>выполнять</a:t>
            </a:r>
            <a:r>
              <a:rPr sz="1600" dirty="0"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latin typeface="Nunito"/>
                <a:ea typeface="Nunito"/>
                <a:cs typeface="Nunito"/>
              </a:rPr>
              <a:t>указание</a:t>
            </a:r>
            <a:r>
              <a:rPr sz="1600" dirty="0">
                <a:latin typeface="Nunito"/>
                <a:ea typeface="Nunito"/>
                <a:cs typeface="Nunito"/>
              </a:rPr>
              <a:t>, </a:t>
            </a:r>
            <a:r>
              <a:rPr sz="1600" dirty="0" err="1">
                <a:latin typeface="Nunito"/>
                <a:ea typeface="Nunito"/>
                <a:cs typeface="Nunito"/>
              </a:rPr>
              <a:t>не</a:t>
            </a:r>
            <a:r>
              <a:rPr sz="1600" dirty="0"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latin typeface="Nunito"/>
                <a:ea typeface="Nunito"/>
                <a:cs typeface="Nunito"/>
              </a:rPr>
              <a:t>разобравшись</a:t>
            </a:r>
            <a:r>
              <a:rPr sz="1600" dirty="0">
                <a:latin typeface="Nunito"/>
                <a:ea typeface="Nunito"/>
                <a:cs typeface="Nunito"/>
              </a:rPr>
              <a:t> в </a:t>
            </a:r>
            <a:r>
              <a:rPr sz="1600" dirty="0" err="1">
                <a:latin typeface="Nunito"/>
                <a:ea typeface="Nunito"/>
                <a:cs typeface="Nunito"/>
              </a:rPr>
              <a:t>задаче</a:t>
            </a:r>
            <a:r>
              <a:rPr sz="1600" dirty="0">
                <a:latin typeface="Nunito"/>
                <a:ea typeface="Nunito"/>
                <a:cs typeface="Nunito"/>
              </a:rPr>
              <a:t>.</a:t>
            </a:r>
          </a:p>
        </p:txBody>
      </p:sp>
      <p:sp>
        <p:nvSpPr>
          <p:cNvPr id="53" name="COMPARE_RIGHT_BODY">
            <a:extLst>
              <a:ext uri="{FF2B5EF4-FFF2-40B4-BE49-F238E27FC236}">
                <a16:creationId xmlns:a16="http://schemas.microsoft.com/office/drawing/2014/main" id="{DB930535-AFE8-4031-8E0D-ACC949FA7AA3}"/>
              </a:ext>
            </a:extLst>
          </p:cNvPr>
          <p:cNvSpPr>
            <a:spLocks noGrp="1"/>
          </p:cNvSpPr>
          <p:nvPr/>
        </p:nvSpPr>
        <p:spPr>
          <a:xfrm>
            <a:off x="6720756" y="2014395"/>
            <a:ext cx="426954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latin typeface="Nunito"/>
                <a:ea typeface="Nunito"/>
                <a:cs typeface="Nunito"/>
              </a:rPr>
              <a:t>Строгость</a:t>
            </a:r>
            <a:r>
              <a:rPr sz="1600" dirty="0"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latin typeface="Nunito"/>
                <a:ea typeface="Nunito"/>
                <a:cs typeface="Nunito"/>
              </a:rPr>
              <a:t>удерживает</a:t>
            </a:r>
            <a:r>
              <a:rPr sz="1600" dirty="0"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latin typeface="Nunito"/>
                <a:ea typeface="Nunito"/>
                <a:cs typeface="Nunito"/>
              </a:rPr>
              <a:t>понятное</a:t>
            </a:r>
            <a:r>
              <a:rPr sz="1600" dirty="0">
                <a:latin typeface="Nunito"/>
                <a:ea typeface="Nunito"/>
                <a:cs typeface="Nunito"/>
              </a:rPr>
              <a:t> </a:t>
            </a:r>
            <a:r>
              <a:rPr sz="1600" dirty="0" err="1">
                <a:latin typeface="Nunito"/>
                <a:ea typeface="Nunito"/>
                <a:cs typeface="Nunito"/>
              </a:rPr>
              <a:t>требование</a:t>
            </a:r>
            <a:r>
              <a:rPr sz="1600" dirty="0">
                <a:latin typeface="Nunito"/>
                <a:ea typeface="Nunito"/>
                <a:cs typeface="Nunito"/>
              </a:rPr>
              <a:t>.</a:t>
            </a:r>
            <a:r>
              <a:rPr lang="ru-RU" sz="1600" dirty="0">
                <a:latin typeface="Nunito"/>
                <a:ea typeface="Nunito"/>
                <a:cs typeface="Nunito"/>
              </a:rPr>
              <a:t> Рабочие знают, что за выполнение правила с них спросят, и это создает понятный и предсказуемый порядок работы. </a:t>
            </a:r>
            <a:endParaRPr sz="1600" dirty="0">
              <a:latin typeface="Nunito"/>
              <a:ea typeface="Nunito"/>
              <a:cs typeface="Nunito"/>
            </a:endParaRPr>
          </a:p>
        </p:txBody>
      </p:sp>
      <p:sp>
        <p:nvSpPr>
          <p:cNvPr id="54" name="COMPARE_LEFT_LABEL">
            <a:extLst>
              <a:ext uri="{FF2B5EF4-FFF2-40B4-BE49-F238E27FC236}">
                <a16:creationId xmlns:a16="http://schemas.microsoft.com/office/drawing/2014/main" id="{A0DC0A8F-8693-4879-8FAB-D728522CD194}"/>
              </a:ext>
            </a:extLst>
          </p:cNvPr>
          <p:cNvSpPr>
            <a:spLocks noGrp="1"/>
          </p:cNvSpPr>
          <p:nvPr/>
        </p:nvSpPr>
        <p:spPr>
          <a:xfrm>
            <a:off x="6694127" y="1607957"/>
            <a:ext cx="1833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Bahnschrift SemiBold Condensed"/>
                <a:ea typeface="Bahnschrift SemiBold Condensed"/>
                <a:cs typeface="Bahnschrift SemiBold Condensed"/>
              </a:rPr>
              <a:t>СТРОГОСТЬ</a:t>
            </a:r>
          </a:p>
        </p:txBody>
      </p:sp>
      <p:sp>
        <p:nvSpPr>
          <p:cNvPr id="55" name="COMPARE_RIGHT_LABEL">
            <a:extLst>
              <a:ext uri="{FF2B5EF4-FFF2-40B4-BE49-F238E27FC236}">
                <a16:creationId xmlns:a16="http://schemas.microsoft.com/office/drawing/2014/main" id="{A266F069-417F-493A-A5E0-76A4D05C9C5D}"/>
              </a:ext>
            </a:extLst>
          </p:cNvPr>
          <p:cNvSpPr>
            <a:spLocks noGrp="1"/>
          </p:cNvSpPr>
          <p:nvPr/>
        </p:nvSpPr>
        <p:spPr>
          <a:xfrm>
            <a:off x="6708008" y="3847081"/>
            <a:ext cx="2945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Bahnschrift SemiBold Condensed"/>
                <a:ea typeface="Bahnschrift SemiBold Condensed"/>
                <a:cs typeface="Bahnschrift SemiBold Condensed"/>
              </a:rPr>
              <a:t>ДАВЛЕНИЕ</a:t>
            </a:r>
          </a:p>
        </p:txBody>
      </p:sp>
    </p:spTree>
    <p:extLst>
      <p:ext uri="{BB962C8B-B14F-4D97-AF65-F5344CB8AC3E}">
        <p14:creationId xmlns:p14="http://schemas.microsoft.com/office/powerpoint/2010/main" val="2518375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70E772F2-E101-4AF5-9E8D-F777EBEE9622}"/>
              </a:ext>
            </a:extLst>
          </p:cNvPr>
          <p:cNvSpPr>
            <a:spLocks noGrp="1"/>
          </p:cNvSpPr>
          <p:nvPr/>
        </p:nvSpPr>
        <p:spPr>
          <a:xfrm>
            <a:off x="920750" y="495300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ДВОЙНОЕ ДАВЛЕНИЕ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DA4464F9-ABA9-4C49-BE41-278DB1A4C9BE}"/>
              </a:ext>
            </a:extLst>
          </p:cNvPr>
          <p:cNvSpPr>
            <a:spLocks noGrp="1"/>
          </p:cNvSpPr>
          <p:nvPr/>
        </p:nvSpPr>
        <p:spPr>
          <a:xfrm>
            <a:off x="1057275" y="1857375"/>
            <a:ext cx="8234063" cy="3889375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40000"/>
              </a:lnSpc>
              <a:spcAft>
                <a:spcPts val="1700"/>
              </a:spcAft>
              <a:buNone/>
            </a:pP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 работает между требованиями производства и возможностями участка.</a:t>
            </a:r>
            <a:br/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Сверху требуют выполнить план и выдержать срок. На участке могут не хватать людей, материала или оборудования. Рабочие могут быть уставшими, сопротивляться изменениям или не хотеть брать дополнительную нагрузку.</a:t>
            </a:r>
            <a:br/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Под двойным давлением мастер рискует выбрать решение, которое быстро снимает напряжение, но не решает проблему.</a:t>
            </a:r>
            <a:br/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Вкладка 1. Давить на рабочих</a:t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 обещает руководителю выполнить заказ и требует ускориться, не проверив, есть ли для этого материалы, оборудование и люди.</a:t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Если ограничение действительно мешает работе, давление не ускорит заказ. Рабочие начнут скрывать проблемы, а риск брака и нарушений вырастет.</a:t>
            </a:r>
            <a:br/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Вкладка 2. Идти на поводу у рабочих</a:t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 заранее принимает позицию «люди не будут это делать» и не проверяет, можно ли перераспределить работу, изменить порядок операций или привлечь помощь.</a:t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Если объективных препятствий нет, мастер должен удержать требование производства, даже когда рабочим неудобно менять привычный порядок или брать дополнительную нагрузку.</a:t>
            </a:r>
            <a:br/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Вкладка 3. Сорваться</a:t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 кричит, обвиняет людей или резко отвечает руководителю. Напряжение на несколько минут разряжается, но проблема остаётся, а доверие к мастеру снижается.</a:t>
            </a:r>
            <a:br/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Вкладка 4. Уступить ради тишины</a:t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 откладывает неприятный разговор, отменяет требование или обещает невыполнимое, чтобы быстрее прекратить спор.</a:t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Нарушение повторяется, срок всё равно оказывается под угрозой, а рабочие перестают понимать, каких правил мастер придерживается.</a:t>
            </a:r>
            <a:br/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Вкладка 5. Сохранить управление</a:t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 проверяет факты, отделяет объективное ограничение от сопротивления и выбирает действие по ситуации.</a:t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Он не требует невозможного, но и не отказывается от задачи только потому, что она вызывает недовольство. О проблемах сообщает руководителю заранее и предлагает варианты решения.</a:t>
            </a:r>
            <a:endParaRPr sz="170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276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INTRO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373" y="1765648"/>
            <a:ext cx="4116740" cy="3166392"/>
          </a:xfrm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Перед началом смены и после напряжённой ситуации проверьте своё состояние и реакцию людей.</a:t>
            </a: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noGrp="1"/>
          </p:cNvSpPr>
          <p:nvPr/>
        </p:nvSpPr>
        <p:spPr>
          <a:xfrm>
            <a:off x="2153613" y="309159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СНАЧАЛА ЗАМЕТЬТЕ НАПРЯЖЕНИЕ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noGrp="1"/>
          </p:cNvSpPr>
          <p:nvPr/>
        </p:nvSpPr>
        <p:spPr>
          <a:xfrm flipV="1">
            <a:off x="8427904" y="867959"/>
            <a:ext cx="3122963" cy="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noGrp="1"/>
          </p:cNvSpPr>
          <p:nvPr/>
        </p:nvSpPr>
        <p:spPr>
          <a:xfrm flipH="1">
            <a:off x="4785941" y="1475815"/>
            <a:ext cx="0" cy="4862634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120" name="Рисунок 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927" y="8462397"/>
            <a:ext cx="3061710" cy="3061710"/>
          </a:xfrm>
          <a:prstGeom prst="rect">
            <a:avLst/>
          </a:prstGeom>
        </p:spPr>
      </p:pic>
      <p:pic>
        <p:nvPicPr>
          <p:cNvPr id="2121" name="Рисунок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2122" name="Рисунок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2123" name="Рисунок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2124" name="Рисунок 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125" name="Рисунок 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126" name="Рисунок 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403443" y="6278502"/>
            <a:ext cx="3714750" cy="3714750"/>
          </a:xfrm>
          <a:prstGeom prst="rect">
            <a:avLst/>
          </a:prstGeom>
        </p:spPr>
      </p:pic>
      <p:pic>
        <p:nvPicPr>
          <p:cNvPr id="2127" name="Рисунок 1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128" name="Рисунок 1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129" name="Рисунок 2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7565" y="-960701"/>
            <a:ext cx="2019300" cy="2019300"/>
          </a:xfrm>
          <a:prstGeom prst="rect">
            <a:avLst/>
          </a:prstGeom>
        </p:spPr>
      </p:pic>
      <p:pic>
        <p:nvPicPr>
          <p:cNvPr id="2130" name="Рисунок 2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685854" y="7927664"/>
            <a:ext cx="2200915" cy="2200915"/>
          </a:xfrm>
          <a:prstGeom prst="rect">
            <a:avLst/>
          </a:prstGeom>
        </p:spPr>
      </p:pic>
      <p:pic>
        <p:nvPicPr>
          <p:cNvPr id="2131" name="Рисунок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2132" name="Рисунок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2133" name="Рисунок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2134" name="!!gear-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797425" y="5632017"/>
            <a:ext cx="3676709" cy="3676709"/>
          </a:xfrm>
          <a:prstGeom prst="rect">
            <a:avLst/>
          </a:prstGeom>
        </p:spPr>
      </p:pic>
      <p:sp>
        <p:nvSpPr>
          <p:cNvPr id="50" name="Shape 3">
            <a:extLst>
              <a:ext uri="{FF2B5EF4-FFF2-40B4-BE49-F238E27FC236}">
                <a16:creationId xmlns:a16="http://schemas.microsoft.com/office/drawing/2014/main" id="{EACD7373-E84D-4834-AABB-A78BDE8C6627}"/>
              </a:ext>
            </a:extLst>
          </p:cNvPr>
          <p:cNvSpPr>
            <a:spLocks noGrp="1"/>
          </p:cNvSpPr>
          <p:nvPr/>
        </p:nvSpPr>
        <p:spPr>
          <a:xfrm rot="5400000">
            <a:off x="5447190" y="4491258"/>
            <a:ext cx="874729" cy="825500"/>
          </a:xfrm>
          <a:prstGeom prst="hexagon">
            <a:avLst/>
          </a:prstGeom>
          <a:solidFill>
            <a:srgbClr val="FFB219"/>
          </a:solidFill>
        </p:spPr>
      </p:sp>
      <p:sp>
        <p:nvSpPr>
          <p:cNvPr id="51" name="Shape 3">
            <a:extLst>
              <a:ext uri="{FF2B5EF4-FFF2-40B4-BE49-F238E27FC236}">
                <a16:creationId xmlns:a16="http://schemas.microsoft.com/office/drawing/2014/main" id="{EC000AED-7D2D-450B-9159-370E3A658E73}"/>
              </a:ext>
            </a:extLst>
          </p:cNvPr>
          <p:cNvSpPr>
            <a:spLocks noGrp="1"/>
          </p:cNvSpPr>
          <p:nvPr/>
        </p:nvSpPr>
        <p:spPr>
          <a:xfrm rot="5400000">
            <a:off x="5447190" y="1961236"/>
            <a:ext cx="874729" cy="825500"/>
          </a:xfrm>
          <a:prstGeom prst="hexagon">
            <a:avLst/>
          </a:prstGeom>
          <a:solidFill>
            <a:srgbClr val="21C535"/>
          </a:solidFill>
        </p:spPr>
      </p:sp>
      <p:sp>
        <p:nvSpPr>
          <p:cNvPr id="52" name="COMPARE_LEFT_BODY">
            <a:extLst>
              <a:ext uri="{FF2B5EF4-FFF2-40B4-BE49-F238E27FC236}">
                <a16:creationId xmlns:a16="http://schemas.microsoft.com/office/drawing/2014/main" id="{48F1698D-BF5F-4580-8C39-00DEFF347427}"/>
              </a:ext>
            </a:extLst>
          </p:cNvPr>
          <p:cNvSpPr>
            <a:spLocks noGrp="1"/>
          </p:cNvSpPr>
          <p:nvPr/>
        </p:nvSpPr>
        <p:spPr>
          <a:xfrm>
            <a:off x="6720757" y="4560887"/>
            <a:ext cx="495785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400" dirty="0" err="1">
                <a:latin typeface="Nunito"/>
                <a:ea typeface="Nunito"/>
                <a:cs typeface="Nunito"/>
              </a:rPr>
              <a:t>Рабочие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стали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избегать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разговоров</a:t>
            </a:r>
            <a:r>
              <a:rPr sz="1400" dirty="0">
                <a:latin typeface="Nunito"/>
                <a:ea typeface="Nunito"/>
                <a:cs typeface="Nunito"/>
              </a:rPr>
              <a:t>?</a:t>
            </a:r>
            <a:endParaRPr lang="ru-RU" sz="1400" dirty="0">
              <a:latin typeface="Nunito"/>
              <a:ea typeface="Nunito"/>
              <a:cs typeface="Nuni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dirty="0" err="1">
                <a:latin typeface="Nunito"/>
                <a:ea typeface="Nunito"/>
                <a:cs typeface="Nunito"/>
              </a:rPr>
              <a:t>На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вопросы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отвечают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односложно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или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раздражённо</a:t>
            </a:r>
            <a:r>
              <a:rPr sz="1400" dirty="0">
                <a:latin typeface="Nunito"/>
                <a:ea typeface="Nunito"/>
                <a:cs typeface="Nunito"/>
              </a:rPr>
              <a:t>?</a:t>
            </a:r>
            <a:br>
              <a:rPr sz="1400" dirty="0"/>
            </a:br>
            <a:r>
              <a:rPr sz="1400" dirty="0" err="1">
                <a:latin typeface="Nunito"/>
                <a:ea typeface="Nunito"/>
                <a:cs typeface="Nunito"/>
              </a:rPr>
              <a:t>Чаще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спорят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из-за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мелочей</a:t>
            </a:r>
            <a:r>
              <a:rPr sz="1400" dirty="0">
                <a:latin typeface="Nunito"/>
                <a:ea typeface="Nunito"/>
                <a:cs typeface="Nunito"/>
              </a:rPr>
              <a:t>?</a:t>
            </a:r>
            <a:endParaRPr lang="ru-RU" sz="1400" dirty="0">
              <a:latin typeface="Nunito"/>
              <a:ea typeface="Nunito"/>
              <a:cs typeface="Nuni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dirty="0" err="1">
                <a:latin typeface="Nunito"/>
                <a:ea typeface="Nunito"/>
                <a:cs typeface="Nunito"/>
              </a:rPr>
              <a:t>Перестали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сообщать</a:t>
            </a:r>
            <a:r>
              <a:rPr sz="1400" dirty="0">
                <a:latin typeface="Nunito"/>
                <a:ea typeface="Nunito"/>
                <a:cs typeface="Nunito"/>
              </a:rPr>
              <a:t> о </a:t>
            </a:r>
            <a:r>
              <a:rPr sz="1400" dirty="0" err="1">
                <a:latin typeface="Nunito"/>
                <a:ea typeface="Nunito"/>
                <a:cs typeface="Nunito"/>
              </a:rPr>
              <a:t>возникающих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трудностях</a:t>
            </a:r>
            <a:r>
              <a:rPr sz="1400" dirty="0">
                <a:latin typeface="Nunito"/>
                <a:ea typeface="Nunito"/>
                <a:cs typeface="Nunito"/>
              </a:rPr>
              <a:t>?</a:t>
            </a:r>
            <a:br>
              <a:rPr sz="1400" dirty="0"/>
            </a:br>
            <a:br>
              <a:rPr sz="1400" dirty="0"/>
            </a:br>
            <a:r>
              <a:rPr sz="1400" dirty="0" err="1">
                <a:latin typeface="Nunito"/>
                <a:ea typeface="Nunito"/>
                <a:cs typeface="Nunito"/>
              </a:rPr>
              <a:t>Такие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изменения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могут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показать</a:t>
            </a:r>
            <a:r>
              <a:rPr sz="1400" dirty="0">
                <a:latin typeface="Nunito"/>
                <a:ea typeface="Nunito"/>
                <a:cs typeface="Nunito"/>
              </a:rPr>
              <a:t>, </a:t>
            </a:r>
            <a:r>
              <a:rPr sz="1400" dirty="0" err="1">
                <a:latin typeface="Nunito"/>
                <a:ea typeface="Nunito"/>
                <a:cs typeface="Nunito"/>
              </a:rPr>
              <a:t>что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люди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ждут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негативной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реакции</a:t>
            </a:r>
            <a:r>
              <a:rPr sz="1400" dirty="0">
                <a:latin typeface="Nunito"/>
                <a:ea typeface="Nunito"/>
                <a:cs typeface="Nunito"/>
              </a:rPr>
              <a:t> и </a:t>
            </a:r>
            <a:r>
              <a:rPr sz="1400" dirty="0" err="1">
                <a:latin typeface="Nunito"/>
                <a:ea typeface="Nunito"/>
                <a:cs typeface="Nunito"/>
              </a:rPr>
              <a:t>начинают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скрывать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проблемы</a:t>
            </a:r>
            <a:r>
              <a:rPr sz="1400" dirty="0">
                <a:latin typeface="Nunito"/>
                <a:ea typeface="Nunito"/>
                <a:cs typeface="Nunito"/>
              </a:rPr>
              <a:t>.</a:t>
            </a:r>
          </a:p>
        </p:txBody>
      </p:sp>
      <p:sp>
        <p:nvSpPr>
          <p:cNvPr id="53" name="COMPARE_RIGHT_BODY">
            <a:extLst>
              <a:ext uri="{FF2B5EF4-FFF2-40B4-BE49-F238E27FC236}">
                <a16:creationId xmlns:a16="http://schemas.microsoft.com/office/drawing/2014/main" id="{DB930535-AFE8-4031-8E0D-ACC949FA7AA3}"/>
              </a:ext>
            </a:extLst>
          </p:cNvPr>
          <p:cNvSpPr>
            <a:spLocks noGrp="1"/>
          </p:cNvSpPr>
          <p:nvPr/>
        </p:nvSpPr>
        <p:spPr>
          <a:xfrm>
            <a:off x="6720756" y="2014395"/>
            <a:ext cx="495785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400" dirty="0">
                <a:latin typeface="Nunito"/>
                <a:ea typeface="Nunito"/>
                <a:cs typeface="Nunito"/>
              </a:rPr>
              <a:t>Я </a:t>
            </a:r>
            <a:r>
              <a:rPr sz="1400" dirty="0" err="1">
                <a:latin typeface="Nunito"/>
                <a:ea typeface="Nunito"/>
                <a:cs typeface="Nunito"/>
              </a:rPr>
              <a:t>говорю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спокойно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или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уже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отвечаю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резко</a:t>
            </a:r>
            <a:r>
              <a:rPr sz="1400" dirty="0">
                <a:latin typeface="Nunito"/>
                <a:ea typeface="Nunito"/>
                <a:cs typeface="Nunito"/>
              </a:rPr>
              <a:t>?</a:t>
            </a:r>
            <a:endParaRPr lang="ru-RU" sz="1400" dirty="0">
              <a:latin typeface="Nunito"/>
              <a:ea typeface="Nunito"/>
              <a:cs typeface="Nuni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dirty="0">
                <a:latin typeface="Nunito"/>
                <a:ea typeface="Nunito"/>
                <a:cs typeface="Nunito"/>
              </a:rPr>
              <a:t>Я </a:t>
            </a:r>
            <a:r>
              <a:rPr sz="1400" dirty="0" err="1">
                <a:latin typeface="Nunito"/>
                <a:ea typeface="Nunito"/>
                <a:cs typeface="Nunito"/>
              </a:rPr>
              <a:t>разбираюсь</a:t>
            </a:r>
            <a:r>
              <a:rPr sz="1400" dirty="0">
                <a:latin typeface="Nunito"/>
                <a:ea typeface="Nunito"/>
                <a:cs typeface="Nunito"/>
              </a:rPr>
              <a:t> в </a:t>
            </a:r>
            <a:r>
              <a:rPr sz="1400" dirty="0" err="1">
                <a:latin typeface="Nunito"/>
                <a:ea typeface="Nunito"/>
                <a:cs typeface="Nunito"/>
              </a:rPr>
              <a:t>ситуации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или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хочу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быстрее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прекратить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разговор</a:t>
            </a:r>
            <a:r>
              <a:rPr sz="1400" dirty="0">
                <a:latin typeface="Nunito"/>
                <a:ea typeface="Nunito"/>
                <a:cs typeface="Nunito"/>
              </a:rPr>
              <a:t>?</a:t>
            </a:r>
            <a:endParaRPr lang="ru-RU" sz="1400" dirty="0">
              <a:latin typeface="Nunito"/>
              <a:ea typeface="Nunito"/>
              <a:cs typeface="Nuni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dirty="0">
                <a:latin typeface="Nunito"/>
                <a:ea typeface="Nunito"/>
                <a:cs typeface="Nunito"/>
              </a:rPr>
              <a:t>Я </a:t>
            </a:r>
            <a:r>
              <a:rPr sz="1400" dirty="0" err="1">
                <a:latin typeface="Nunito"/>
                <a:ea typeface="Nunito"/>
                <a:cs typeface="Nunito"/>
              </a:rPr>
              <a:t>сохраняю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требование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или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готов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уступить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только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ради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тишины</a:t>
            </a:r>
            <a:r>
              <a:rPr sz="1400" dirty="0">
                <a:latin typeface="Nunito"/>
                <a:ea typeface="Nunito"/>
                <a:cs typeface="Nunito"/>
              </a:rPr>
              <a:t>?</a:t>
            </a:r>
            <a:br>
              <a:rPr sz="1400" dirty="0"/>
            </a:br>
            <a:br>
              <a:rPr sz="1400" dirty="0"/>
            </a:br>
            <a:r>
              <a:rPr sz="1400" dirty="0" err="1">
                <a:latin typeface="Nunito"/>
                <a:ea typeface="Nunito"/>
                <a:cs typeface="Nunito"/>
              </a:rPr>
              <a:t>Напряжение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мастера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заметно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по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голосу</a:t>
            </a:r>
            <a:r>
              <a:rPr sz="1400" dirty="0">
                <a:latin typeface="Nunito"/>
                <a:ea typeface="Nunito"/>
                <a:cs typeface="Nunito"/>
              </a:rPr>
              <a:t>, </a:t>
            </a:r>
            <a:r>
              <a:rPr sz="1400" dirty="0" err="1">
                <a:latin typeface="Nunito"/>
                <a:ea typeface="Nunito"/>
                <a:cs typeface="Nunito"/>
              </a:rPr>
              <a:t>выражению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лица</a:t>
            </a:r>
            <a:r>
              <a:rPr sz="1400" dirty="0">
                <a:latin typeface="Nunito"/>
                <a:ea typeface="Nunito"/>
                <a:cs typeface="Nunito"/>
              </a:rPr>
              <a:t> и </a:t>
            </a:r>
            <a:r>
              <a:rPr sz="1400" dirty="0" err="1">
                <a:latin typeface="Nunito"/>
                <a:ea typeface="Nunito"/>
                <a:cs typeface="Nunito"/>
              </a:rPr>
              <a:t>реакции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на</a:t>
            </a:r>
            <a:r>
              <a:rPr sz="1400" dirty="0">
                <a:latin typeface="Nunito"/>
                <a:ea typeface="Nunito"/>
                <a:cs typeface="Nunito"/>
              </a:rPr>
              <a:t> </a:t>
            </a:r>
            <a:r>
              <a:rPr sz="1400" dirty="0" err="1">
                <a:latin typeface="Nunito"/>
                <a:ea typeface="Nunito"/>
                <a:cs typeface="Nunito"/>
              </a:rPr>
              <a:t>вопросы</a:t>
            </a:r>
            <a:r>
              <a:rPr sz="1400" dirty="0">
                <a:latin typeface="Nunito"/>
                <a:ea typeface="Nunito"/>
                <a:cs typeface="Nunito"/>
              </a:rPr>
              <a:t>.</a:t>
            </a:r>
          </a:p>
        </p:txBody>
      </p:sp>
      <p:sp>
        <p:nvSpPr>
          <p:cNvPr id="54" name="COMPARE_LEFT_LABEL">
            <a:extLst>
              <a:ext uri="{FF2B5EF4-FFF2-40B4-BE49-F238E27FC236}">
                <a16:creationId xmlns:a16="http://schemas.microsoft.com/office/drawing/2014/main" id="{A0DC0A8F-8693-4879-8FAB-D728522CD194}"/>
              </a:ext>
            </a:extLst>
          </p:cNvPr>
          <p:cNvSpPr>
            <a:spLocks noGrp="1"/>
          </p:cNvSpPr>
          <p:nvPr/>
        </p:nvSpPr>
        <p:spPr>
          <a:xfrm>
            <a:off x="6694126" y="1607957"/>
            <a:ext cx="4593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latin typeface="Bahnschrift SemiBold Condensed"/>
                <a:ea typeface="Bahnschrift SemiBold Condensed"/>
                <a:cs typeface="Bahnschrift SemiBold Condensed"/>
              </a:rPr>
              <a:t>ЧТО ПРОИСХОДИТ СО МНОЙ?</a:t>
            </a:r>
          </a:p>
        </p:txBody>
      </p:sp>
      <p:sp>
        <p:nvSpPr>
          <p:cNvPr id="55" name="COMPARE_RIGHT_LABEL">
            <a:extLst>
              <a:ext uri="{FF2B5EF4-FFF2-40B4-BE49-F238E27FC236}">
                <a16:creationId xmlns:a16="http://schemas.microsoft.com/office/drawing/2014/main" id="{A266F069-417F-493A-A5E0-76A4D05C9C5D}"/>
              </a:ext>
            </a:extLst>
          </p:cNvPr>
          <p:cNvSpPr>
            <a:spLocks noGrp="1"/>
          </p:cNvSpPr>
          <p:nvPr/>
        </p:nvSpPr>
        <p:spPr>
          <a:xfrm>
            <a:off x="6708007" y="4161715"/>
            <a:ext cx="4766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latin typeface="Bahnschrift SemiBold Condensed"/>
                <a:ea typeface="Bahnschrift SemiBold Condensed"/>
                <a:cs typeface="Bahnschrift SemiBold Condensed"/>
              </a:rPr>
              <a:t>ЧТО ПРОИСХОДИТ С ЛЮДЬМИ?</a:t>
            </a:r>
          </a:p>
        </p:txBody>
      </p:sp>
    </p:spTree>
    <p:extLst>
      <p:ext uri="{BB962C8B-B14F-4D97-AF65-F5344CB8AC3E}">
        <p14:creationId xmlns:p14="http://schemas.microsoft.com/office/powerpoint/2010/main" val="2518375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Рисунок 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3438" y="7696134"/>
            <a:ext cx="3061710" cy="306171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08637" y="353126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>
                <a:latin typeface="Bahnschrift SemiBold Condensed"/>
                <a:ea typeface="Bahnschrift SemiBold Condensed"/>
                <a:cs typeface="Bahnschrift SemiBold Condensed"/>
              </a:rPr>
              <a:t>ПОСЛЕ АВРАЛА НУЖНО ВОССТАНОВИТЬ РАБОЧЕЕ СОСТОЯНИЕ</a:t>
            </a:r>
            <a:endParaRPr sz="3000"/>
          </a:p>
        </p:txBody>
      </p:sp>
      <p:pic>
        <p:nvPicPr>
          <p:cNvPr id="51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6" name="INTRO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808636" y="858223"/>
            <a:ext cx="8774743" cy="1267853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После аврала, конфликта или тяжёлого разговора напряжение не исчезает сразу. Если мастер продолжит общаться с людьми в том же состоянии, он может сорваться уже в следующей обычной ситуации.</a:t>
            </a:r>
            <a:endParaRPr sz="1600" b="1">
              <a:solidFill>
                <a:srgbClr val="676C74"/>
              </a:solidFill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 flipH="1">
            <a:off x="698805" y="1"/>
            <a:ext cx="235" cy="901700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54" name="Рисунок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6562" y="8264023"/>
            <a:ext cx="1857375" cy="1857375"/>
          </a:xfrm>
          <a:prstGeom prst="rect">
            <a:avLst/>
          </a:prstGeom>
        </p:spPr>
      </p:pic>
      <p:pic>
        <p:nvPicPr>
          <p:cNvPr id="55" name="Рисунок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56" name="Рисунок 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46523" y="8037009"/>
            <a:ext cx="1257300" cy="1257300"/>
          </a:xfrm>
          <a:prstGeom prst="rect">
            <a:avLst/>
          </a:prstGeom>
        </p:spPr>
      </p:pic>
      <p:pic>
        <p:nvPicPr>
          <p:cNvPr id="57" name="Рисунок 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58" name="Рисунок 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3081914" y="7655895"/>
            <a:ext cx="3714750" cy="3714750"/>
          </a:xfrm>
          <a:prstGeom prst="rect">
            <a:avLst/>
          </a:prstGeom>
        </p:spPr>
      </p:pic>
      <p:pic>
        <p:nvPicPr>
          <p:cNvPr id="59" name="Рисунок 1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04924" y="6286493"/>
            <a:ext cx="2257425" cy="2257425"/>
          </a:xfrm>
          <a:prstGeom prst="rect">
            <a:avLst/>
          </a:prstGeom>
        </p:spPr>
      </p:pic>
      <p:pic>
        <p:nvPicPr>
          <p:cNvPr id="60" name="Рисунок 1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61" name="Рисунок 2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62" name="Рисунок 2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307352" y="-2033388"/>
            <a:ext cx="1801446" cy="1801446"/>
          </a:xfrm>
          <a:prstGeom prst="rect">
            <a:avLst/>
          </a:prstGeom>
        </p:spPr>
      </p:pic>
      <p:pic>
        <p:nvPicPr>
          <p:cNvPr id="63" name="Рисунок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64" name="Рисунок 3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65" name="Рисунок 3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723513" y="-2840121"/>
            <a:ext cx="2019300" cy="2019300"/>
          </a:xfrm>
          <a:prstGeom prst="rect">
            <a:avLst/>
          </a:prstGeom>
        </p:spPr>
      </p:pic>
      <p:pic>
        <p:nvPicPr>
          <p:cNvPr id="66" name="!!gear-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 rot="13438421">
            <a:off x="12024658" y="7400095"/>
            <a:ext cx="3676709" cy="3676709"/>
          </a:xfrm>
          <a:prstGeom prst="rect">
            <a:avLst/>
          </a:prstGeom>
        </p:spPr>
      </p:pic>
      <p:pic>
        <p:nvPicPr>
          <p:cNvPr id="67" name="Рисунок 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8805" y="2054824"/>
            <a:ext cx="6385027" cy="4324684"/>
          </a:xfrm>
          <a:prstGeom prst="rect">
            <a:avLst/>
          </a:prstGeom>
        </p:spPr>
      </p:pic>
      <p:pic>
        <p:nvPicPr>
          <p:cNvPr id="68" name="Image 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59869" y="3217578"/>
            <a:ext cx="1172137" cy="1420088"/>
          </a:xfrm>
          <a:prstGeom prst="rect">
            <a:avLst/>
          </a:prstGeom>
        </p:spPr>
      </p:pic>
      <p:pic>
        <p:nvPicPr>
          <p:cNvPr id="69" name="Рисунок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929589" y="7983035"/>
            <a:ext cx="2419350" cy="2419350"/>
          </a:xfrm>
          <a:prstGeom prst="rect">
            <a:avLst/>
          </a:prstGeom>
        </p:spPr>
      </p:pic>
      <p:sp>
        <p:nvSpPr>
          <p:cNvPr id="30" name="CASE_BODY">
            <a:extLst>
              <a:ext uri="{FF2B5EF4-FFF2-40B4-BE49-F238E27FC236}">
                <a16:creationId xmlns:a16="http://schemas.microsoft.com/office/drawing/2014/main" id="{37688EA1-9EF9-4CDB-99AA-CB59563EA557}"/>
              </a:ext>
            </a:extLst>
          </p:cNvPr>
          <p:cNvSpPr>
            <a:spLocks noGrp="1"/>
          </p:cNvSpPr>
          <p:nvPr/>
        </p:nvSpPr>
        <p:spPr>
          <a:xfrm>
            <a:off x="1245051" y="2412088"/>
            <a:ext cx="5338766" cy="359830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>
                <a:latin typeface="Nunito"/>
                <a:ea typeface="Nunito"/>
                <a:cs typeface="Nunito"/>
              </a:rPr>
              <a:t>Нужно сделать короткую паузу и отделить завершившуюся проблему от следующей задачи:</a:t>
            </a:r>
            <a:br/>
            <a:r>
              <a:rPr sz="1600">
                <a:latin typeface="Nunito"/>
                <a:ea typeface="Nunito"/>
                <a:cs typeface="Nunito"/>
              </a:rPr>
              <a:t>выйти из места конфликта;</a:t>
            </a:r>
            <a:br/>
            <a:r>
              <a:rPr sz="1600">
                <a:latin typeface="Nunito"/>
                <a:ea typeface="Nunito"/>
                <a:cs typeface="Nunito"/>
              </a:rPr>
              <a:t>восстановить спокойный голос и темп речи;</a:t>
            </a:r>
            <a:br/>
            <a:r>
              <a:rPr sz="1600">
                <a:latin typeface="Nunito"/>
                <a:ea typeface="Nunito"/>
                <a:cs typeface="Nunito"/>
              </a:rPr>
              <a:t>проверить, какое решение уже принято и что ещё нужно сделать;</a:t>
            </a:r>
            <a:br/>
            <a:r>
              <a:rPr sz="1600">
                <a:latin typeface="Nunito"/>
                <a:ea typeface="Nunito"/>
                <a:cs typeface="Nunito"/>
              </a:rPr>
              <a:t>не переносить раздражение на людей, которые не участвовали в ситуации.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9A3FF-EE07-4051-B044-3B44BE6B1B54}"/>
              </a:ext>
            </a:extLst>
          </p:cNvPr>
          <p:cNvSpPr>
            <a:spLocks noGrp="1"/>
          </p:cNvSpPr>
          <p:nvPr/>
        </p:nvSpPr>
        <p:spPr>
          <a:xfrm>
            <a:off x="8532006" y="2449110"/>
            <a:ext cx="3214517" cy="33362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buNone/>
            </a:pPr>
            <a:endParaRPr sz="1600">
              <a:latin typeface="Nunito"/>
              <a:ea typeface="Nunito"/>
              <a:cs typeface="Nunito"/>
            </a:endParaRPr>
          </a:p>
        </p:txBody>
      </p:sp>
      <p:sp>
        <p:nvSpPr>
          <p:cNvPr id="4" name="CONCLUSION">
            <a:extLst>
              <a:ext uri="{FF2B5EF4-FFF2-40B4-BE49-F238E27FC236}">
                <a16:creationId xmlns:a16="http://schemas.microsoft.com/office/drawing/2014/main" id="{8C1D51BD-BCC7-4C60-9B33-0C360DEAD7F5}"/>
              </a:ext>
            </a:extLst>
          </p:cNvPr>
          <p:cNvSpPr>
            <a:spLocks noGrp="1"/>
          </p:cNvSpPr>
          <p:nvPr/>
        </p:nvSpPr>
        <p:spPr>
          <a:xfrm>
            <a:off x="8723513" y="2054824"/>
            <a:ext cx="3214517" cy="43246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2400">
                <a:solidFill>
                  <a:srgbClr val="F5340B"/>
                </a:solidFill>
                <a:latin typeface="Bahnschrift Condensed"/>
                <a:ea typeface="Bahnschrift Condensed"/>
                <a:cs typeface="Bahnschrift Condensed"/>
              </a:rPr>
              <a:t>Если разговор закончился резко, к нему следует вернуться позже: </a:t>
            </a:r>
            <a:r>
              <a:rPr sz="1800">
                <a:latin typeface="Nunito"/>
                <a:ea typeface="Nunito"/>
                <a:cs typeface="Nunito"/>
              </a:rPr>
              <a:t>кратко зафиксировать решение, требования и дальнейшие действия. Это возвращает рабочую ясность и не оставляет конфликт незавершённым.</a:t>
            </a:r>
          </a:p>
        </p:txBody>
      </p:sp>
    </p:spTree>
    <p:extLst>
      <p:ext uri="{BB962C8B-B14F-4D97-AF65-F5344CB8AC3E}">
        <p14:creationId xmlns:p14="http://schemas.microsoft.com/office/powerpoint/2010/main" val="4283868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70E772F2-E101-4AF5-9E8D-F777EBEE9622}"/>
              </a:ext>
            </a:extLst>
          </p:cNvPr>
          <p:cNvSpPr>
            <a:spLocks noGrp="1"/>
          </p:cNvSpPr>
          <p:nvPr/>
        </p:nvSpPr>
        <p:spPr>
          <a:xfrm>
            <a:off x="920750" y="495300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ПОВЕДЕНИЕ ОПРЕДЕЛЯЕТ ОТНОШЕНИЕ ЛЮДЕЙ К МАСТЕРУ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DA4464F9-ABA9-4C49-BE41-278DB1A4C9BE}"/>
              </a:ext>
            </a:extLst>
          </p:cNvPr>
          <p:cNvSpPr>
            <a:spLocks noGrp="1"/>
          </p:cNvSpPr>
          <p:nvPr/>
        </p:nvSpPr>
        <p:spPr>
          <a:xfrm>
            <a:off x="1057275" y="1857375"/>
            <a:ext cx="8234063" cy="3889375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40000"/>
              </a:lnSpc>
              <a:spcAft>
                <a:spcPts val="1700"/>
              </a:spcAft>
              <a:buNone/>
            </a:pP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Алексей: Получается, от моего поведения зависит, будут рабочие сообщать мне о проблемах и выполнять требования или начнут всё скрывать?</a:t>
            </a:r>
            <a:br/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Денис: Именно. Мастеру нужны и поддержка, и строгость, и способность сохранять рабочую позицию под давлением. Но должность сама по себе ещё не заставит бывших коллег тебя уважать. В следующем уроке разберём, откуда берётся авторитет мастера.</a:t>
            </a:r>
            <a:endParaRPr sz="170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276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Другая 4">
      <a:dk1>
        <a:srgbClr val="3F454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Другая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Другая 4">
      <a:dk1>
        <a:srgbClr val="3F454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Другая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1924</TotalTime>
  <Words>1585</Words>
  <Application>Microsoft Office PowerPoint</Application>
  <DocSecurity>0</DocSecurity>
  <PresentationFormat>Широкоэкранный</PresentationFormat>
  <Paragraphs>79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3" baseType="lpstr">
      <vt:lpstr>Arial</vt:lpstr>
      <vt:lpstr>Bahnschrift Condensed</vt:lpstr>
      <vt:lpstr>Bahnschrift SemiBold Condensed</vt:lpstr>
      <vt:lpstr>Calibri</vt:lpstr>
      <vt:lpstr>Calibri Light</vt:lpstr>
      <vt:lpstr>Montserrat Light</vt:lpstr>
      <vt:lpstr>Nunito</vt:lpstr>
      <vt:lpstr>Roboto Condensed</vt:lpstr>
      <vt:lpstr>Office Theme</vt:lpstr>
      <vt:lpstr>УРОК 1.3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ДРУГАЯ ОШИБКА — ДОБИВАТЬСЯ РЕЗУЛЬТАТА КРИКОМ И УГРОЗАМИ.  Например, мастер постоянно кричал на весь цех и резко реагировал на вопросы. Рабочие боялись к нему подходить, поэтому не уточняли задания и скрывали возникающие проблемы. Работа останавливалась, ошибки накапливались, сильные рабочие начинали увольняться. </vt:lpstr>
      <vt:lpstr>Презентация PowerPoint</vt:lpstr>
      <vt:lpstr>Перед началом смены и после напряжённой ситуации проверьте своё состояние и реакцию людей.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Судьбинина Анастасия Игоревна</cp:lastModifiedBy>
  <cp:revision>5</cp:revision>
  <dcterms:created xsi:type="dcterms:W3CDTF">2026-08-27T04:48:03Z</dcterms:created>
  <dcterms:modified xsi:type="dcterms:W3CDTF">2026-08-28T13:06:42Z</dcterms:modified>
</cp:coreProperties>
</file>