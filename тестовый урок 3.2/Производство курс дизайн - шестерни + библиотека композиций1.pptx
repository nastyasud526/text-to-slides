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60" r:id="rId2"/>
    <p:sldId id="263" r:id="rId3"/>
    <p:sldId id="268" r:id="rId4"/>
    <p:sldId id="269" r:id="rId5"/>
    <p:sldId id="270" r:id="rId6"/>
    <p:sldId id="271" r:id="rId7"/>
    <p:sldId id="272" r:id="rId8"/>
    <p:sldId id="273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636" y="-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Разделитель библиотеки. Тир 1 — 11 композиций, 29 слайдов.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text.plain · короткий · title 3 слова, body 12 слов. Плашка сжимается под объём.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text.plain · на лимите · body 2 абзаца по 45 слов. Плашка выросла под объём, кегль не менялся.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text.plain · ИЗБЫТОЧНЫЙ · body 150 слов при лимите 45. Плашка та же, что на лимите, — текст обязан вылезти.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text.image · короткий · body 14 слов, image ratio 40, сторона — лево.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text.image · на лимите · body 2 абзаца по 45 слов, image ratio 40, сторона — право.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text.image · ИЗБЫТОЧНЫЙ · body 140 слов при лимите 45. Плашка как на лимите — текст вылезает под неё.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text.maxim · короткий · body 13 слов, maxim 9 слов. Мысль — широкой полосой под текстом.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text.maxim · на лимите · body 2 абзаца по 45 слов, maxim 34 слова.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text.maxim · ИЗБЫТОЧНЫЙ · maxim 95 слов при лимите 35. Крупная мысль перестаёт быть крупной и вылезает за плашку.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case.inline · короткий · body 11 слов, example 22 слова. Врезка примера оформлена одинаково во всех шаблонах.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case.inline · на лимите · body 45 слов, example 49 слов.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case.inline · ИЗБЫТОЧНЫЙ · example 130 слов при лимите 50. Врезка перестаёт быть врезкой.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list.bullets · короткий · intro 9 слов, 3 пункта по 4–6 слов.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list.bullets · на лимите · intro 34 слова, 7 пунктов по 10–12 слов, outro 18 слов.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list.bullets · ИЗБЫТОЧНЫЙ · 10 пунктов при лимите 7, по 20–24 слова при лимите 12.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list.check · короткий · 3 пункта по 5–7 слов. Статичная вёрстка, документ для стенда.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list.check · на лимите · intro 30 слов, 7 пунктов по 9–12 слов.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list.check · ИЗБЫТОЧНЫЙ · 11 пунктов при лимите 7, формулировки по 18–22 слова.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cards.N раскладка 2 в ряд · на лимите · label ≤4 слова, body 30 слов. Карточки равной высоты.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cards.N раскладка 3 в ряд · на лимите · label ≤4 слова, body 30 слов.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cards.N · короткий · label ≤2 слова, body 4 слова. Карточка на 4 слова и карточка на 30 должны выглядеть как один шаблон.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cards.N · ИЗБЫТОЧНЫЙ · body 60 слов при лимите 30, label 5 слов при лимите 4. Карточки той же высоты, что на лимите.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cards.N раскладка 4 сеткой 2×2 · на лимите · label ≤4 слова, body 24 слова.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cards.N раскладка 6 сеткой 3×2 · на лимите · label ≤4 слова, body 18–20 слов. Больше шести не бывает.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contrast.rightwrong · на лимите · label ≤4 слова, bullets ≤12 слов. Правильный вариант всегда справа.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contrast.proscons · на лимите · intro 32 слова, bullets ≤12 слов. Оба блока равны по размеру.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dlg.scene · на лимите · две реплики до 85 слов, персонажи в полный рост на фоне участка. Открывает урок.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dlg.bubbles · на лимите · две реплики до 85 слов, без фона — только баблы и персонажи. Больше двух реплик на слайд не бывает.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33">
            <a:extLst>
              <a:ext uri="{FF2B5EF4-FFF2-40B4-BE49-F238E27FC236}">
                <a16:creationId xmlns:a16="http://schemas.microsoft.com/office/drawing/2014/main" id="{2F96415F-CD0A-41D0-AB9C-C53C7E33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49" y="3002440"/>
            <a:ext cx="4702800" cy="177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33">
            <a:extLst>
              <a:ext uri="{FF2B5EF4-FFF2-40B4-BE49-F238E27FC236}">
                <a16:creationId xmlns:a16="http://schemas.microsoft.com/office/drawing/2014/main" id="{EBE21DC3-D87D-451E-908A-0F4326EDB55C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839433" y="1323640"/>
            <a:ext cx="2088800" cy="1440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rgbClr val="3F454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9pPr>
          </a:lstStyle>
          <a:p>
            <a:r>
              <a:t>xx%</a:t>
            </a:r>
          </a:p>
        </p:txBody>
      </p:sp>
      <p:sp>
        <p:nvSpPr>
          <p:cNvPr id="1259" name="Google Shape;1259;p33">
            <a:extLst>
              <a:ext uri="{FF2B5EF4-FFF2-40B4-BE49-F238E27FC236}">
                <a16:creationId xmlns:a16="http://schemas.microsoft.com/office/drawing/2014/main" id="{3D5E204D-A166-400D-A049-2F32C40D3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9449" y="5019631"/>
            <a:ext cx="3185600" cy="777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9pPr>
          </a:lstStyle>
          <a:p>
            <a:endParaRPr/>
          </a:p>
        </p:txBody>
      </p:sp>
      <p:cxnSp>
        <p:nvCxnSpPr>
          <p:cNvPr id="1268" name="Google Shape;1260;p33"/>
          <p:cNvCxnSpPr/>
          <p:nvPr/>
        </p:nvCxnSpPr>
        <p:spPr>
          <a:xfrm rot="10800000">
            <a:off x="3971184" y="2820651"/>
            <a:ext cx="82208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30">
            <a:extLst>
              <a:ext uri="{FF2B5EF4-FFF2-40B4-BE49-F238E27FC236}">
                <a16:creationId xmlns:a16="http://schemas.microsoft.com/office/drawing/2014/main" id="{D6EA95A7-FB20-48A4-A769-D0B455FB1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522580"/>
            <a:ext cx="4553520" cy="2189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9466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162" name="Google Shape;1162;p30">
            <a:extLst>
              <a:ext uri="{FF2B5EF4-FFF2-40B4-BE49-F238E27FC236}">
                <a16:creationId xmlns:a16="http://schemas.microsoft.com/office/drawing/2014/main" id="{199B9BF5-5D93-417D-ABAC-C99682080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9433" y="2586565"/>
            <a:ext cx="4701600" cy="218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</a:defRPr>
            </a:lvl1pPr>
            <a:lvl2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9" name="Google Shape;1163;p30"/>
          <p:cNvCxnSpPr/>
          <p:nvPr/>
        </p:nvCxnSpPr>
        <p:spPr>
          <a:xfrm>
            <a:off x="6096000" y="-162400"/>
            <a:ext cx="0" cy="501400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5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svg"/><Relationship Id="rId30" Type="http://schemas.openxmlformats.org/officeDocument/2006/relationships/image" Target="../media/image28.svg"/><Relationship Id="rId35" Type="http://schemas.openxmlformats.org/officeDocument/2006/relationships/image" Target="../media/image33.svg"/><Relationship Id="rId8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svg"/><Relationship Id="rId3" Type="http://schemas.openxmlformats.org/officeDocument/2006/relationships/image" Target="../media/image3.png"/><Relationship Id="rId7" Type="http://schemas.openxmlformats.org/officeDocument/2006/relationships/image" Target="../media/image25.svg"/><Relationship Id="rId12" Type="http://schemas.openxmlformats.org/officeDocument/2006/relationships/image" Target="../media/image30.svg"/><Relationship Id="rId17" Type="http://schemas.openxmlformats.org/officeDocument/2006/relationships/image" Target="../media/image3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3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19.sv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Relationship Id="rId14" Type="http://schemas.openxmlformats.org/officeDocument/2006/relationships/image" Target="../media/image3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9.svg"/><Relationship Id="rId18" Type="http://schemas.openxmlformats.org/officeDocument/2006/relationships/image" Target="../media/image40.svg"/><Relationship Id="rId3" Type="http://schemas.openxmlformats.org/officeDocument/2006/relationships/image" Target="../media/image3.png"/><Relationship Id="rId21" Type="http://schemas.openxmlformats.org/officeDocument/2006/relationships/image" Target="../media/image43.svg"/><Relationship Id="rId7" Type="http://schemas.openxmlformats.org/officeDocument/2006/relationships/image" Target="../media/image32.svg"/><Relationship Id="rId12" Type="http://schemas.openxmlformats.org/officeDocument/2006/relationships/image" Target="../media/image8.svg"/><Relationship Id="rId1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2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1" Type="http://schemas.openxmlformats.org/officeDocument/2006/relationships/image" Target="../media/image38.svg"/><Relationship Id="rId5" Type="http://schemas.openxmlformats.org/officeDocument/2006/relationships/image" Target="../media/image36.png"/><Relationship Id="rId15" Type="http://schemas.openxmlformats.org/officeDocument/2006/relationships/image" Target="../media/image39.svg"/><Relationship Id="rId10" Type="http://schemas.openxmlformats.org/officeDocument/2006/relationships/image" Target="../media/image37.svg"/><Relationship Id="rId19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.svg"/><Relationship Id="rId1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3.png"/><Relationship Id="rId7" Type="http://schemas.openxmlformats.org/officeDocument/2006/relationships/image" Target="../media/image4.svg"/><Relationship Id="rId12" Type="http://schemas.openxmlformats.org/officeDocument/2006/relationships/image" Target="../media/image10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0.svg"/><Relationship Id="rId20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11" Type="http://schemas.openxmlformats.org/officeDocument/2006/relationships/image" Target="../media/image9.svg"/><Relationship Id="rId5" Type="http://schemas.openxmlformats.org/officeDocument/2006/relationships/image" Target="../media/image36.pn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19" Type="http://schemas.openxmlformats.org/officeDocument/2006/relationships/image" Target="../media/image43.svg"/><Relationship Id="rId4" Type="http://schemas.openxmlformats.org/officeDocument/2006/relationships/image" Target="../media/image44.svg"/><Relationship Id="rId9" Type="http://schemas.openxmlformats.org/officeDocument/2006/relationships/image" Target="../media/image38.svg"/><Relationship Id="rId1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9.svg"/><Relationship Id="rId18" Type="http://schemas.openxmlformats.org/officeDocument/2006/relationships/image" Target="../media/image40.svg"/><Relationship Id="rId3" Type="http://schemas.openxmlformats.org/officeDocument/2006/relationships/image" Target="../media/image3.png"/><Relationship Id="rId21" Type="http://schemas.openxmlformats.org/officeDocument/2006/relationships/image" Target="../media/image43.svg"/><Relationship Id="rId7" Type="http://schemas.openxmlformats.org/officeDocument/2006/relationships/image" Target="../media/image47.png"/><Relationship Id="rId12" Type="http://schemas.openxmlformats.org/officeDocument/2006/relationships/image" Target="../media/image8.svg"/><Relationship Id="rId1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2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38.svg"/><Relationship Id="rId5" Type="http://schemas.openxmlformats.org/officeDocument/2006/relationships/image" Target="../media/image36.png"/><Relationship Id="rId15" Type="http://schemas.openxmlformats.org/officeDocument/2006/relationships/image" Target="../media/image39.svg"/><Relationship Id="rId10" Type="http://schemas.openxmlformats.org/officeDocument/2006/relationships/image" Target="../media/image37.svg"/><Relationship Id="rId19" Type="http://schemas.openxmlformats.org/officeDocument/2006/relationships/image" Target="../media/image41.svg"/><Relationship Id="rId4" Type="http://schemas.openxmlformats.org/officeDocument/2006/relationships/image" Target="../media/image45.svg"/><Relationship Id="rId9" Type="http://schemas.openxmlformats.org/officeDocument/2006/relationships/image" Target="../media/image4.svg"/><Relationship Id="rId1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38.svg"/><Relationship Id="rId18" Type="http://schemas.openxmlformats.org/officeDocument/2006/relationships/image" Target="../media/image12.svg"/><Relationship Id="rId3" Type="http://schemas.openxmlformats.org/officeDocument/2006/relationships/image" Target="../media/image48.png"/><Relationship Id="rId21" Type="http://schemas.openxmlformats.org/officeDocument/2006/relationships/image" Target="../media/image40.svg"/><Relationship Id="rId7" Type="http://schemas.openxmlformats.org/officeDocument/2006/relationships/image" Target="../media/image36.png"/><Relationship Id="rId12" Type="http://schemas.openxmlformats.org/officeDocument/2006/relationships/image" Target="../media/image37.svg"/><Relationship Id="rId17" Type="http://schemas.openxmlformats.org/officeDocument/2006/relationships/image" Target="../media/image39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.svg"/><Relationship Id="rId20" Type="http://schemas.openxmlformats.org/officeDocument/2006/relationships/image" Target="../media/image5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11" Type="http://schemas.openxmlformats.org/officeDocument/2006/relationships/image" Target="../media/image2.svg"/><Relationship Id="rId24" Type="http://schemas.openxmlformats.org/officeDocument/2006/relationships/image" Target="../media/image43.svg"/><Relationship Id="rId5" Type="http://schemas.openxmlformats.org/officeDocument/2006/relationships/image" Target="../media/image3.png"/><Relationship Id="rId15" Type="http://schemas.openxmlformats.org/officeDocument/2006/relationships/image" Target="../media/image9.svg"/><Relationship Id="rId23" Type="http://schemas.openxmlformats.org/officeDocument/2006/relationships/image" Target="../media/image42.svg"/><Relationship Id="rId10" Type="http://schemas.openxmlformats.org/officeDocument/2006/relationships/image" Target="../media/image47.png"/><Relationship Id="rId19" Type="http://schemas.openxmlformats.org/officeDocument/2006/relationships/image" Target="../media/image50.png"/><Relationship Id="rId4" Type="http://schemas.openxmlformats.org/officeDocument/2006/relationships/image" Target="../media/image49.svg"/><Relationship Id="rId9" Type="http://schemas.openxmlformats.org/officeDocument/2006/relationships/image" Target="../media/image5.png"/><Relationship Id="rId14" Type="http://schemas.openxmlformats.org/officeDocument/2006/relationships/image" Target="../media/image8.svg"/><Relationship Id="rId22" Type="http://schemas.openxmlformats.org/officeDocument/2006/relationships/image" Target="../media/image4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9.svg"/><Relationship Id="rId18" Type="http://schemas.openxmlformats.org/officeDocument/2006/relationships/image" Target="../media/image42.svg"/><Relationship Id="rId3" Type="http://schemas.openxmlformats.org/officeDocument/2006/relationships/image" Target="../media/image36.png"/><Relationship Id="rId7" Type="http://schemas.openxmlformats.org/officeDocument/2006/relationships/image" Target="../media/image4.svg"/><Relationship Id="rId12" Type="http://schemas.openxmlformats.org/officeDocument/2006/relationships/image" Target="../media/image10.svg"/><Relationship Id="rId17" Type="http://schemas.openxmlformats.org/officeDocument/2006/relationships/image" Target="../media/image41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19" Type="http://schemas.openxmlformats.org/officeDocument/2006/relationships/image" Target="../media/image43.svg"/><Relationship Id="rId4" Type="http://schemas.openxmlformats.org/officeDocument/2006/relationships/image" Target="../media/image1.png"/><Relationship Id="rId9" Type="http://schemas.openxmlformats.org/officeDocument/2006/relationships/image" Target="../media/image38.svg"/><Relationship Id="rId1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38.svg"/><Relationship Id="rId12" Type="http://schemas.openxmlformats.org/officeDocument/2006/relationships/image" Target="../media/image12.sv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11" Type="http://schemas.openxmlformats.org/officeDocument/2006/relationships/image" Target="../media/image39.svg"/><Relationship Id="rId5" Type="http://schemas.openxmlformats.org/officeDocument/2006/relationships/image" Target="../media/image4.svg"/><Relationship Id="rId15" Type="http://schemas.openxmlformats.org/officeDocument/2006/relationships/image" Target="../media/image41.sv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svg"/><Relationship Id="rId14" Type="http://schemas.openxmlformats.org/officeDocument/2006/relationships/image" Target="../media/image4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6.svg"/><Relationship Id="rId10" Type="http://schemas.openxmlformats.org/officeDocument/2006/relationships/image" Target="../media/image44.svg"/><Relationship Id="rId4" Type="http://schemas.openxmlformats.org/officeDocument/2006/relationships/image" Target="../media/image18.sv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3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1" Type="http://schemas.openxmlformats.org/officeDocument/2006/relationships/image" Target="../media/image44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26.svg"/><Relationship Id="rId9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3.png"/><Relationship Id="rId7" Type="http://schemas.openxmlformats.org/officeDocument/2006/relationships/image" Target="../media/image18.svg"/><Relationship Id="rId12" Type="http://schemas.openxmlformats.org/officeDocument/2006/relationships/image" Target="../media/image4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1" Type="http://schemas.openxmlformats.org/officeDocument/2006/relationships/image" Target="../media/image36.png"/><Relationship Id="rId5" Type="http://schemas.openxmlformats.org/officeDocument/2006/relationships/image" Target="../media/image22.svg"/><Relationship Id="rId10" Type="http://schemas.openxmlformats.org/officeDocument/2006/relationships/image" Target="../media/image42.svg"/><Relationship Id="rId4" Type="http://schemas.openxmlformats.org/officeDocument/2006/relationships/image" Target="../media/image7.svg"/><Relationship Id="rId9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2.svg"/><Relationship Id="rId10" Type="http://schemas.openxmlformats.org/officeDocument/2006/relationships/image" Target="../media/image35.svg"/><Relationship Id="rId4" Type="http://schemas.openxmlformats.org/officeDocument/2006/relationships/image" Target="../media/image33.sv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svg"/><Relationship Id="rId5" Type="http://schemas.openxmlformats.org/officeDocument/2006/relationships/image" Target="../media/image18.svg"/><Relationship Id="rId10" Type="http://schemas.openxmlformats.org/officeDocument/2006/relationships/image" Target="../media/image45.svg"/><Relationship Id="rId4" Type="http://schemas.openxmlformats.org/officeDocument/2006/relationships/image" Target="../media/image33.svg"/><Relationship Id="rId9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.pn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45.svg"/><Relationship Id="rId4" Type="http://schemas.openxmlformats.org/officeDocument/2006/relationships/image" Target="../media/image26.svg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.pn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5" Type="http://schemas.openxmlformats.org/officeDocument/2006/relationships/image" Target="../media/image31.svg"/><Relationship Id="rId10" Type="http://schemas.openxmlformats.org/officeDocument/2006/relationships/image" Target="../media/image44.svg"/><Relationship Id="rId4" Type="http://schemas.openxmlformats.org/officeDocument/2006/relationships/image" Target="../media/image18.svg"/><Relationship Id="rId9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3.png"/><Relationship Id="rId7" Type="http://schemas.openxmlformats.org/officeDocument/2006/relationships/image" Target="../media/image28.svg"/><Relationship Id="rId12" Type="http://schemas.openxmlformats.org/officeDocument/2006/relationships/image" Target="../media/image5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11" Type="http://schemas.openxmlformats.org/officeDocument/2006/relationships/image" Target="../media/image45.svg"/><Relationship Id="rId5" Type="http://schemas.openxmlformats.org/officeDocument/2006/relationships/image" Target="../media/image7.svg"/><Relationship Id="rId10" Type="http://schemas.openxmlformats.org/officeDocument/2006/relationships/image" Target="../media/image36.png"/><Relationship Id="rId4" Type="http://schemas.openxmlformats.org/officeDocument/2006/relationships/image" Target="../media/image22.svg"/><Relationship Id="rId9" Type="http://schemas.openxmlformats.org/officeDocument/2006/relationships/image" Target="../media/image4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5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11" Type="http://schemas.openxmlformats.org/officeDocument/2006/relationships/image" Target="../media/image45.svg"/><Relationship Id="rId5" Type="http://schemas.openxmlformats.org/officeDocument/2006/relationships/image" Target="../media/image49.svg"/><Relationship Id="rId10" Type="http://schemas.openxmlformats.org/officeDocument/2006/relationships/image" Target="../media/image36.png"/><Relationship Id="rId4" Type="http://schemas.openxmlformats.org/officeDocument/2006/relationships/image" Target="../media/image34.svg"/><Relationship Id="rId9" Type="http://schemas.openxmlformats.org/officeDocument/2006/relationships/image" Target="../media/image39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34.svg"/><Relationship Id="rId10" Type="http://schemas.openxmlformats.org/officeDocument/2006/relationships/image" Target="../media/image44.svg"/><Relationship Id="rId4" Type="http://schemas.openxmlformats.org/officeDocument/2006/relationships/image" Target="../media/image33.svg"/><Relationship Id="rId9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3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11" Type="http://schemas.openxmlformats.org/officeDocument/2006/relationships/image" Target="../media/image44.svg"/><Relationship Id="rId5" Type="http://schemas.openxmlformats.org/officeDocument/2006/relationships/image" Target="../media/image22.svg"/><Relationship Id="rId10" Type="http://schemas.openxmlformats.org/officeDocument/2006/relationships/image" Target="../media/image36.png"/><Relationship Id="rId4" Type="http://schemas.openxmlformats.org/officeDocument/2006/relationships/image" Target="../media/image34.svg"/><Relationship Id="rId9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3.pn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6.svg"/><Relationship Id="rId10" Type="http://schemas.openxmlformats.org/officeDocument/2006/relationships/image" Target="../media/image44.svg"/><Relationship Id="rId4" Type="http://schemas.openxmlformats.org/officeDocument/2006/relationships/image" Target="../media/image34.svg"/><Relationship Id="rId9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51.svg"/><Relationship Id="rId10" Type="http://schemas.openxmlformats.org/officeDocument/2006/relationships/image" Target="../media/image44.svg"/><Relationship Id="rId4" Type="http://schemas.openxmlformats.org/officeDocument/2006/relationships/image" Target="../media/image22.svg"/><Relationship Id="rId9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3.pn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45.svg"/><Relationship Id="rId4" Type="http://schemas.openxmlformats.org/officeDocument/2006/relationships/image" Target="../media/image7.svg"/><Relationship Id="rId9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23.svg"/><Relationship Id="rId10" Type="http://schemas.openxmlformats.org/officeDocument/2006/relationships/image" Target="../media/image45.svg"/><Relationship Id="rId4" Type="http://schemas.openxmlformats.org/officeDocument/2006/relationships/image" Target="../media/image51.svg"/><Relationship Id="rId9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.pn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svg"/><Relationship Id="rId5" Type="http://schemas.openxmlformats.org/officeDocument/2006/relationships/image" Target="../media/image7.svg"/><Relationship Id="rId10" Type="http://schemas.openxmlformats.org/officeDocument/2006/relationships/image" Target="../media/image44.svg"/><Relationship Id="rId4" Type="http://schemas.openxmlformats.org/officeDocument/2006/relationships/image" Target="../media/image22.svg"/><Relationship Id="rId9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3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11" Type="http://schemas.openxmlformats.org/officeDocument/2006/relationships/image" Target="../media/image45.svg"/><Relationship Id="rId5" Type="http://schemas.openxmlformats.org/officeDocument/2006/relationships/image" Target="../media/image34.svg"/><Relationship Id="rId10" Type="http://schemas.openxmlformats.org/officeDocument/2006/relationships/image" Target="../media/image36.png"/><Relationship Id="rId4" Type="http://schemas.openxmlformats.org/officeDocument/2006/relationships/image" Target="../media/image7.svg"/><Relationship Id="rId9" Type="http://schemas.openxmlformats.org/officeDocument/2006/relationships/image" Target="../media/image8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pn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5" Type="http://schemas.openxmlformats.org/officeDocument/2006/relationships/image" Target="../media/image7.svg"/><Relationship Id="rId4" Type="http://schemas.openxmlformats.org/officeDocument/2006/relationships/image" Target="../media/image49.svg"/><Relationship Id="rId9" Type="http://schemas.openxmlformats.org/officeDocument/2006/relationships/image" Target="../media/image45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.pn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45.svg"/><Relationship Id="rId5" Type="http://schemas.openxmlformats.org/officeDocument/2006/relationships/image" Target="../media/image23.svg"/><Relationship Id="rId10" Type="http://schemas.openxmlformats.org/officeDocument/2006/relationships/image" Target="../media/image36.png"/><Relationship Id="rId4" Type="http://schemas.openxmlformats.org/officeDocument/2006/relationships/image" Target="../media/image18.svg"/><Relationship Id="rId9" Type="http://schemas.openxmlformats.org/officeDocument/2006/relationships/image" Target="../media/image14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svg"/><Relationship Id="rId5" Type="http://schemas.openxmlformats.org/officeDocument/2006/relationships/image" Target="../media/image33.svg"/><Relationship Id="rId10" Type="http://schemas.openxmlformats.org/officeDocument/2006/relationships/image" Target="../media/image45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3.svg"/><Relationship Id="rId4" Type="http://schemas.openxmlformats.org/officeDocument/2006/relationships/image" Target="../media/image31.svg"/><Relationship Id="rId9" Type="http://schemas.openxmlformats.org/officeDocument/2006/relationships/image" Target="../media/image53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3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1" Type="http://schemas.openxmlformats.org/officeDocument/2006/relationships/image" Target="../media/image45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18.svg"/><Relationship Id="rId9" Type="http://schemas.openxmlformats.org/officeDocument/2006/relationships/image" Target="../media/image40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3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svg"/><Relationship Id="rId5" Type="http://schemas.openxmlformats.org/officeDocument/2006/relationships/image" Target="../media/image49.svg"/><Relationship Id="rId10" Type="http://schemas.openxmlformats.org/officeDocument/2006/relationships/image" Target="../media/image44.svg"/><Relationship Id="rId4" Type="http://schemas.openxmlformats.org/officeDocument/2006/relationships/image" Target="../media/image18.svg"/><Relationship Id="rId9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31.svg"/><Relationship Id="rId12" Type="http://schemas.openxmlformats.org/officeDocument/2006/relationships/image" Target="../media/image44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11" Type="http://schemas.openxmlformats.org/officeDocument/2006/relationships/image" Target="../media/image36.png"/><Relationship Id="rId5" Type="http://schemas.openxmlformats.org/officeDocument/2006/relationships/image" Target="../media/image22.svg"/><Relationship Id="rId10" Type="http://schemas.openxmlformats.org/officeDocument/2006/relationships/image" Target="../media/image8.svg"/><Relationship Id="rId4" Type="http://schemas.openxmlformats.org/officeDocument/2006/relationships/image" Target="../media/image51.svg"/><Relationship Id="rId9" Type="http://schemas.openxmlformats.org/officeDocument/2006/relationships/image" Target="../media/image28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35.svg"/><Relationship Id="rId5" Type="http://schemas.openxmlformats.org/officeDocument/2006/relationships/image" Target="../media/image34.svg"/><Relationship Id="rId10" Type="http://schemas.openxmlformats.org/officeDocument/2006/relationships/image" Target="../media/image36.png"/><Relationship Id="rId4" Type="http://schemas.openxmlformats.org/officeDocument/2006/relationships/image" Target="../media/image18.svg"/><Relationship Id="rId9" Type="http://schemas.openxmlformats.org/officeDocument/2006/relationships/image" Target="../media/image40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.pn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35.svg"/><Relationship Id="rId5" Type="http://schemas.openxmlformats.org/officeDocument/2006/relationships/image" Target="../media/image26.svg"/><Relationship Id="rId10" Type="http://schemas.openxmlformats.org/officeDocument/2006/relationships/image" Target="../media/image36.png"/><Relationship Id="rId4" Type="http://schemas.openxmlformats.org/officeDocument/2006/relationships/image" Target="../media/image23.svg"/><Relationship Id="rId9" Type="http://schemas.openxmlformats.org/officeDocument/2006/relationships/image" Target="../media/image42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3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36.png"/><Relationship Id="rId4" Type="http://schemas.openxmlformats.org/officeDocument/2006/relationships/image" Target="../media/image31.svg"/><Relationship Id="rId9" Type="http://schemas.openxmlformats.org/officeDocument/2006/relationships/image" Target="../media/image27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2.svg"/><Relationship Id="rId10" Type="http://schemas.openxmlformats.org/officeDocument/2006/relationships/image" Target="../media/image36.png"/><Relationship Id="rId4" Type="http://schemas.openxmlformats.org/officeDocument/2006/relationships/image" Target="../media/image33.sv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65">
            <a:extLst>
              <a:ext uri="{FF2B5EF4-FFF2-40B4-BE49-F238E27FC236}">
                <a16:creationId xmlns:a16="http://schemas.microsoft.com/office/drawing/2014/main" id="{83EB69A0-C6B1-4CEA-B7A6-6ADF3DBA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50" y="3002440"/>
            <a:ext cx="11285832" cy="1778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algn="l">
              <a:buNone/>
            </a:pPr>
            <a:r>
              <a:rPr>
                <a:solidFill>
                  <a:srgbClr val="2F3740"/>
                </a:solidFill>
                <a:latin typeface="Bahnschrift Condensed"/>
                <a:ea typeface="Bahnschrift Condensed"/>
                <a:cs typeface="Bahnschrift Condensed"/>
              </a:rPr>
              <a:t>РОЛЬ МАСТЕРА</a:t>
            </a:r>
            <a:endParaRPr>
              <a:solidFill>
                <a:srgbClr val="3F454F"/>
              </a:solidFill>
              <a:latin typeface="Bahnschrift Condensed"/>
              <a:ea typeface="Bahnschrift Condensed"/>
              <a:cs typeface="Bahnschrift Condensed"/>
            </a:endParaRPr>
          </a:p>
        </p:txBody>
      </p:sp>
      <p:sp>
        <p:nvSpPr>
          <p:cNvPr id="2141" name="Google Shape;2141;p65">
            <a:extLst>
              <a:ext uri="{FF2B5EF4-FFF2-40B4-BE49-F238E27FC236}">
                <a16:creationId xmlns:a16="http://schemas.microsoft.com/office/drawing/2014/main" id="{F969B564-E148-47E0-A029-7064E9BD2C7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839433" y="1323640"/>
            <a:ext cx="6894084" cy="14404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Autofit/>
          </a:bodyPr>
          <a:lstStyle/>
          <a:p>
            <a:pPr algn="l">
              <a:buNone/>
            </a:pPr>
            <a:r>
              <a:rPr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МОДУЛЬ 01</a:t>
            </a:r>
            <a:endParaRPr dirty="0">
              <a:solidFill>
                <a:srgbClr val="3F454F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sp>
        <p:nvSpPr>
          <p:cNvPr id="2142" name="Google Shape;2142;p65">
            <a:extLst>
              <a:ext uri="{FF2B5EF4-FFF2-40B4-BE49-F238E27FC236}">
                <a16:creationId xmlns:a16="http://schemas.microsoft.com/office/drawing/2014/main" id="{9F01F7C8-7A22-438D-BC56-3C9D31A81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259" y="4489703"/>
            <a:ext cx="6969722" cy="777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marL="0" indent="0">
              <a:buNone/>
            </a:pPr>
            <a:r>
              <a:rPr>
                <a:solidFill>
                  <a:srgbClr val="2F3740"/>
                </a:solidFill>
                <a:latin typeface="Nunito"/>
                <a:ea typeface="Nunito"/>
                <a:cs typeface="Nunito"/>
              </a:rPr>
              <a:t>You can enter a subtitle here if you need it</a:t>
            </a:r>
            <a:endParaRPr>
              <a:solidFill>
                <a:srgbClr val="3F454F"/>
              </a:solidFill>
              <a:latin typeface="Nunito"/>
              <a:ea typeface="Nunito"/>
              <a:cs typeface="Nunito"/>
            </a:endParaRPr>
          </a:p>
        </p:txBody>
      </p:sp>
      <p:pic>
        <p:nvPicPr>
          <p:cNvPr id="2178" name="Рисунок 2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3556" y="8568853"/>
            <a:ext cx="1857375" cy="1857375"/>
          </a:xfrm>
          <a:prstGeom prst="rect">
            <a:avLst/>
          </a:prstGeom>
        </p:spPr>
      </p:pic>
      <p:pic>
        <p:nvPicPr>
          <p:cNvPr id="2179" name="Рисунок 2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24390" y="2687797"/>
            <a:ext cx="2419350" cy="2419350"/>
          </a:xfrm>
          <a:prstGeom prst="rect">
            <a:avLst/>
          </a:prstGeom>
        </p:spPr>
      </p:pic>
      <p:pic>
        <p:nvPicPr>
          <p:cNvPr id="2180" name="Рисунок 2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4184029" y="138288"/>
            <a:ext cx="1790700" cy="1790700"/>
          </a:xfrm>
          <a:prstGeom prst="rect">
            <a:avLst/>
          </a:prstGeom>
        </p:spPr>
      </p:pic>
      <p:pic>
        <p:nvPicPr>
          <p:cNvPr id="2181" name="Рисунок 3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98294" y="3538436"/>
            <a:ext cx="1257300" cy="1257300"/>
          </a:xfrm>
          <a:prstGeom prst="rect">
            <a:avLst/>
          </a:prstGeom>
        </p:spPr>
      </p:pic>
      <p:pic>
        <p:nvPicPr>
          <p:cNvPr id="2182" name="Рисунок 3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8966" y="8604458"/>
            <a:ext cx="2019300" cy="2019300"/>
          </a:xfrm>
          <a:prstGeom prst="rect">
            <a:avLst/>
          </a:prstGeom>
        </p:spPr>
      </p:pic>
      <p:pic>
        <p:nvPicPr>
          <p:cNvPr id="2183" name="Рисунок 3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3733" y="-3812722"/>
            <a:ext cx="2305050" cy="2305050"/>
          </a:xfrm>
          <a:prstGeom prst="rect">
            <a:avLst/>
          </a:prstGeom>
        </p:spPr>
      </p:pic>
      <p:pic>
        <p:nvPicPr>
          <p:cNvPr id="2184" name="Рисунок 3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96105" y="6899111"/>
            <a:ext cx="3714750" cy="3714750"/>
          </a:xfrm>
          <a:prstGeom prst="rect">
            <a:avLst/>
          </a:prstGeom>
        </p:spPr>
      </p:pic>
      <p:pic>
        <p:nvPicPr>
          <p:cNvPr id="2185" name="Рисунок 3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4891278" y="2148846"/>
            <a:ext cx="2257425" cy="2257425"/>
          </a:xfrm>
          <a:prstGeom prst="rect">
            <a:avLst/>
          </a:prstGeom>
        </p:spPr>
      </p:pic>
      <p:pic>
        <p:nvPicPr>
          <p:cNvPr id="2186" name="Рисунок 3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83881" y="-3377845"/>
            <a:ext cx="3124200" cy="3124200"/>
          </a:xfrm>
          <a:prstGeom prst="rect">
            <a:avLst/>
          </a:prstGeom>
        </p:spPr>
      </p:pic>
      <p:pic>
        <p:nvPicPr>
          <p:cNvPr id="2187" name="Рисунок 3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492916" y="841737"/>
            <a:ext cx="2019300" cy="2019300"/>
          </a:xfrm>
          <a:prstGeom prst="rect">
            <a:avLst/>
          </a:prstGeom>
        </p:spPr>
      </p:pic>
      <p:pic>
        <p:nvPicPr>
          <p:cNvPr id="2188" name="Рисунок 3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01558" y="9162903"/>
            <a:ext cx="1238250" cy="1238250"/>
          </a:xfrm>
          <a:prstGeom prst="rect">
            <a:avLst/>
          </a:prstGeom>
        </p:spPr>
      </p:pic>
      <p:pic>
        <p:nvPicPr>
          <p:cNvPr id="2189" name="Рисунок 3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628956" y="678282"/>
            <a:ext cx="3314700" cy="3314700"/>
          </a:xfrm>
          <a:prstGeom prst="rect">
            <a:avLst/>
          </a:prstGeom>
        </p:spPr>
      </p:pic>
      <p:pic>
        <p:nvPicPr>
          <p:cNvPr id="2190" name="Рисунок 3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07904" y="-3455838"/>
            <a:ext cx="1609725" cy="1609725"/>
          </a:xfrm>
          <a:prstGeom prst="rect">
            <a:avLst/>
          </a:prstGeom>
        </p:spPr>
      </p:pic>
      <p:pic>
        <p:nvPicPr>
          <p:cNvPr id="2191" name="Рисунок 4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10855" y="-3524066"/>
            <a:ext cx="2019300" cy="2019300"/>
          </a:xfrm>
          <a:prstGeom prst="rect">
            <a:avLst/>
          </a:prstGeom>
        </p:spPr>
      </p:pic>
      <p:pic>
        <p:nvPicPr>
          <p:cNvPr id="2192" name="Рисунок 4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921293" y="1193172"/>
            <a:ext cx="2419350" cy="2419350"/>
          </a:xfrm>
          <a:prstGeom prst="rect">
            <a:avLst/>
          </a:prstGeom>
        </p:spPr>
      </p:pic>
      <p:pic>
        <p:nvPicPr>
          <p:cNvPr id="2193" name="Рисунок 4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-4870923" y="3584411"/>
            <a:ext cx="3314700" cy="3314700"/>
          </a:xfrm>
          <a:prstGeom prst="rect">
            <a:avLst/>
          </a:prstGeom>
        </p:spPr>
      </p:pic>
      <p:pic>
        <p:nvPicPr>
          <p:cNvPr id="2194" name="Рисунок 4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4330993" y="-695660"/>
            <a:ext cx="2019300" cy="2019300"/>
          </a:xfrm>
          <a:prstGeom prst="rect">
            <a:avLst/>
          </a:prstGeom>
        </p:spPr>
      </p:pic>
      <p:pic>
        <p:nvPicPr>
          <p:cNvPr id="2195" name="Рисунок 4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717486" y="4425294"/>
            <a:ext cx="3435929" cy="3435929"/>
          </a:xfrm>
          <a:prstGeom prst="rect">
            <a:avLst/>
          </a:prstGeom>
        </p:spPr>
      </p:pic>
      <p:pic>
        <p:nvPicPr>
          <p:cNvPr id="2196" name="!!gear-0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/>
        </p:blipFill>
        <p:spPr>
          <a:xfrm>
            <a:off x="-2990850" y="-2552700"/>
            <a:ext cx="3267075" cy="3267075"/>
          </a:xfrm>
          <a:prstGeom prst="rect">
            <a:avLst/>
          </a:prstGeom>
        </p:spPr>
      </p:pic>
      <p:pic>
        <p:nvPicPr>
          <p:cNvPr id="2197" name="!!gear-0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/>
        </p:blipFill>
        <p:spPr>
          <a:xfrm rot="1020000">
            <a:off x="11477625" y="-1771650"/>
            <a:ext cx="1971675" cy="1971675"/>
          </a:xfrm>
          <a:prstGeom prst="rect">
            <a:avLst/>
          </a:prstGeom>
        </p:spPr>
      </p:pic>
      <p:pic>
        <p:nvPicPr>
          <p:cNvPr id="2198" name="!!gear-0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/>
        </p:blipFill>
        <p:spPr>
          <a:xfrm rot="2040000">
            <a:off x="-272776" y="3497339"/>
            <a:ext cx="2141298" cy="2141298"/>
          </a:xfrm>
          <a:prstGeom prst="rect">
            <a:avLst/>
          </a:prstGeom>
        </p:spPr>
      </p:pic>
      <p:pic>
        <p:nvPicPr>
          <p:cNvPr id="2199" name="!!gear-0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/>
        </p:blipFill>
        <p:spPr>
          <a:xfrm rot="3060000">
            <a:off x="664367" y="2473289"/>
            <a:ext cx="1792123" cy="1792123"/>
          </a:xfrm>
          <a:prstGeom prst="rect">
            <a:avLst/>
          </a:prstGeom>
        </p:spPr>
      </p:pic>
      <p:pic>
        <p:nvPicPr>
          <p:cNvPr id="2200" name="!!gear-0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/>
        </p:blipFill>
        <p:spPr>
          <a:xfrm rot="4080000">
            <a:off x="-142875" y="6305550"/>
            <a:ext cx="1913573" cy="1913573"/>
          </a:xfrm>
          <a:prstGeom prst="rect">
            <a:avLst/>
          </a:prstGeom>
        </p:spPr>
      </p:pic>
      <p:pic>
        <p:nvPicPr>
          <p:cNvPr id="2201" name="!!gear-0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/>
        </p:blipFill>
        <p:spPr>
          <a:xfrm rot="5100000">
            <a:off x="10643461" y="2871454"/>
            <a:ext cx="1671638" cy="1671638"/>
          </a:xfrm>
          <a:prstGeom prst="rect">
            <a:avLst/>
          </a:prstGeom>
        </p:spPr>
      </p:pic>
      <p:pic>
        <p:nvPicPr>
          <p:cNvPr id="2202" name="!!gear-0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/>
        </p:blipFill>
        <p:spPr>
          <a:xfrm rot="6120000">
            <a:off x="-2205478" y="848062"/>
            <a:ext cx="3420428" cy="3420428"/>
          </a:xfrm>
          <a:prstGeom prst="rect">
            <a:avLst/>
          </a:prstGeom>
        </p:spPr>
      </p:pic>
      <p:pic>
        <p:nvPicPr>
          <p:cNvPr id="2203" name="!!gear-0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/>
        </p:blipFill>
        <p:spPr>
          <a:xfrm rot="7140000">
            <a:off x="5953125" y="6696075"/>
            <a:ext cx="2069783" cy="2069783"/>
          </a:xfrm>
          <a:prstGeom prst="rect">
            <a:avLst/>
          </a:prstGeom>
        </p:spPr>
      </p:pic>
      <p:pic>
        <p:nvPicPr>
          <p:cNvPr id="2204" name="!!gear-0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/>
        </p:blipFill>
        <p:spPr>
          <a:xfrm rot="8160000">
            <a:off x="-1819275" y="1114425"/>
            <a:ext cx="1960245" cy="1960245"/>
          </a:xfrm>
          <a:prstGeom prst="rect">
            <a:avLst/>
          </a:prstGeom>
        </p:spPr>
      </p:pic>
      <p:pic>
        <p:nvPicPr>
          <p:cNvPr id="2205" name="!!gear-1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/>
        </p:blipFill>
        <p:spPr>
          <a:xfrm rot="9180000">
            <a:off x="12031329" y="298022"/>
            <a:ext cx="1585913" cy="1585913"/>
          </a:xfrm>
          <a:prstGeom prst="rect">
            <a:avLst/>
          </a:prstGeom>
        </p:spPr>
      </p:pic>
      <p:pic>
        <p:nvPicPr>
          <p:cNvPr id="2206" name="!!gear-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/>
        </p:blipFill>
        <p:spPr>
          <a:xfrm rot="10200000">
            <a:off x="11200522" y="6154447"/>
            <a:ext cx="1737360" cy="1737360"/>
          </a:xfrm>
          <a:prstGeom prst="rect">
            <a:avLst/>
          </a:prstGeom>
        </p:spPr>
      </p:pic>
      <p:pic>
        <p:nvPicPr>
          <p:cNvPr id="2207" name="!!gear-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/>
        </p:blipFill>
        <p:spPr>
          <a:xfrm rot="11220000">
            <a:off x="-1078359" y="5140924"/>
            <a:ext cx="4333312" cy="4333312"/>
          </a:xfrm>
          <a:prstGeom prst="rect">
            <a:avLst/>
          </a:prstGeom>
        </p:spPr>
      </p:pic>
      <p:pic>
        <p:nvPicPr>
          <p:cNvPr id="2208" name="!!gear-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/>
        </p:blipFill>
        <p:spPr>
          <a:xfrm rot="12240000">
            <a:off x="1200150" y="-1647825"/>
            <a:ext cx="1540193" cy="1540193"/>
          </a:xfrm>
          <a:prstGeom prst="rect">
            <a:avLst/>
          </a:prstGeom>
        </p:spPr>
      </p:pic>
      <p:pic>
        <p:nvPicPr>
          <p:cNvPr id="2209" name="!!gear-1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/>
        </p:blipFill>
        <p:spPr>
          <a:xfrm rot="13260000">
            <a:off x="11382375" y="4848225"/>
            <a:ext cx="1757363" cy="175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59">
            <a:extLst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0" anchor="ctr">
            <a:noAutofit/>
          </a:bodyPr>
          <a:lstStyle/>
          <a:p>
            <a:r>
              <a:rPr>
                <a:solidFill>
                  <a:srgbClr val="2F3740"/>
                </a:solidFill>
              </a:rPr>
              <a:t>УРОК 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101" name="Google Shape;2101;p59">
            <a:extLst>
              <a:ext uri="{FF2B5EF4-FFF2-40B4-BE49-F238E27FC236}">
                <a16:creationId xmlns:a16="http://schemas.microsoft.com/office/drawing/2014/main" id="{9139D206-85DC-4D9D-97DA-3FD895BE0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1202" y="3298835"/>
            <a:ext cx="4701600" cy="106141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Autofit/>
          </a:bodyPr>
          <a:lstStyle/>
          <a:p>
            <a:pPr marL="0" indent="0">
              <a:buNone/>
            </a:pPr>
            <a:r>
              <a:rPr sz="48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Начало смены</a:t>
            </a:r>
            <a:endParaRPr sz="4800">
              <a:solidFill>
                <a:srgbClr val="DE4A42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pic>
        <p:nvPicPr>
          <p:cNvPr id="2118" name="!!gear-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1980000">
            <a:off x="-2657475" y="-2505075"/>
            <a:ext cx="3000375" cy="3000375"/>
          </a:xfrm>
          <a:prstGeom prst="rect">
            <a:avLst/>
          </a:prstGeom>
        </p:spPr>
      </p:pic>
      <p:pic>
        <p:nvPicPr>
          <p:cNvPr id="2119" name="!!gear-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3000000">
            <a:off x="11811000" y="-1724025"/>
            <a:ext cx="2497455" cy="2497455"/>
          </a:xfrm>
          <a:prstGeom prst="rect">
            <a:avLst/>
          </a:prstGeom>
        </p:spPr>
      </p:pic>
      <p:pic>
        <p:nvPicPr>
          <p:cNvPr id="2120" name="!!gear-0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4020000">
            <a:off x="-1532866" y="3960709"/>
            <a:ext cx="3310700" cy="3310700"/>
          </a:xfrm>
          <a:prstGeom prst="rect">
            <a:avLst/>
          </a:prstGeom>
        </p:spPr>
      </p:pic>
      <p:pic>
        <p:nvPicPr>
          <p:cNvPr id="2121" name="!!gear-0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5040000">
            <a:off x="10133668" y="-3168958"/>
            <a:ext cx="2333625" cy="2333625"/>
          </a:xfrm>
          <a:prstGeom prst="rect">
            <a:avLst/>
          </a:prstGeom>
        </p:spPr>
      </p:pic>
      <p:pic>
        <p:nvPicPr>
          <p:cNvPr id="2122" name="!!gear-0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 rot="6060000">
            <a:off x="190500" y="6353175"/>
            <a:ext cx="1757363" cy="1757363"/>
          </a:xfrm>
          <a:prstGeom prst="rect">
            <a:avLst/>
          </a:prstGeom>
        </p:spPr>
      </p:pic>
      <p:pic>
        <p:nvPicPr>
          <p:cNvPr id="2123" name="!!gear-0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 rot="7080000">
            <a:off x="12182475" y="2609850"/>
            <a:ext cx="2117408" cy="2117408"/>
          </a:xfrm>
          <a:prstGeom prst="rect">
            <a:avLst/>
          </a:prstGeom>
        </p:spPr>
      </p:pic>
      <p:pic>
        <p:nvPicPr>
          <p:cNvPr id="2124" name="!!gear-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 rot="8100000">
            <a:off x="9710281" y="-1520279"/>
            <a:ext cx="3180398" cy="3180398"/>
          </a:xfrm>
          <a:prstGeom prst="rect">
            <a:avLst/>
          </a:prstGeom>
        </p:spPr>
      </p:pic>
      <p:pic>
        <p:nvPicPr>
          <p:cNvPr id="2125" name="!!gear-0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 rot="9120000">
            <a:off x="6286500" y="6743700"/>
            <a:ext cx="1913573" cy="1913573"/>
          </a:xfrm>
          <a:prstGeom prst="rect">
            <a:avLst/>
          </a:prstGeom>
        </p:spPr>
      </p:pic>
      <p:pic>
        <p:nvPicPr>
          <p:cNvPr id="2126" name="!!gear-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 rot="10140000">
            <a:off x="-3937442" y="1874103"/>
            <a:ext cx="1800225" cy="1800225"/>
          </a:xfrm>
          <a:prstGeom prst="rect">
            <a:avLst/>
          </a:prstGeom>
        </p:spPr>
      </p:pic>
      <p:pic>
        <p:nvPicPr>
          <p:cNvPr id="2127" name="!!gear-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 rot="11160000">
            <a:off x="12249150" y="514350"/>
            <a:ext cx="2008823" cy="2008823"/>
          </a:xfrm>
          <a:prstGeom prst="rect">
            <a:avLst/>
          </a:prstGeom>
        </p:spPr>
      </p:pic>
      <p:pic>
        <p:nvPicPr>
          <p:cNvPr id="2128" name="!!gear-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 rot="12180000">
            <a:off x="10644363" y="5766631"/>
            <a:ext cx="1615440" cy="1615440"/>
          </a:xfrm>
          <a:prstGeom prst="rect">
            <a:avLst/>
          </a:prstGeom>
        </p:spPr>
      </p:pic>
      <p:pic>
        <p:nvPicPr>
          <p:cNvPr id="2129" name="!!gear-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 rot="13200000">
            <a:off x="326806" y="6218699"/>
            <a:ext cx="2333625" cy="2333625"/>
          </a:xfrm>
          <a:prstGeom prst="rect">
            <a:avLst/>
          </a:prstGeom>
        </p:spPr>
      </p:pic>
      <p:pic>
        <p:nvPicPr>
          <p:cNvPr id="2130" name="!!gear-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 rot="14220000">
            <a:off x="1533525" y="-1600200"/>
            <a:ext cx="1414463" cy="1414463"/>
          </a:xfrm>
          <a:prstGeom prst="rect">
            <a:avLst/>
          </a:prstGeom>
        </p:spPr>
      </p:pic>
      <p:pic>
        <p:nvPicPr>
          <p:cNvPr id="2131" name="!!gear-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/>
        </p:blipFill>
        <p:spPr>
          <a:xfrm rot="15240000">
            <a:off x="11715750" y="4895850"/>
            <a:ext cx="2225993" cy="22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15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359" y="1460500"/>
            <a:ext cx="7990364" cy="4122417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noGrp="1"/>
          </p:cNvSpPr>
          <p:nvPr/>
        </p:nvSpPr>
        <p:spPr>
          <a:xfrm>
            <a:off x="920750" y="495300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РОЛЬ МАСТЕРА НА УЧАСТКЕ</a:t>
            </a:r>
            <a:endParaRPr sz="3000"/>
          </a:p>
        </p:txBody>
      </p:sp>
      <p:pic>
        <p:nvPicPr>
          <p:cNvPr id="30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noGrp="1"/>
          </p:cNvSpPr>
          <p:nvPr/>
        </p:nvSpPr>
        <p:spPr>
          <a:xfrm>
            <a:off x="863600" y="1905000"/>
            <a:ext cx="6858000" cy="3175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Мастер отвечает не только за выполнение сменного плана, </a:t>
            </a:r>
            <a:br/>
            <a:r>
              <a:rPr sz="170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но и за то, как работает бригада. Он распределяет задачи, следит за качеством сборки и первым замечает, где процесс начинает давать сбой.</a:t>
            </a:r>
            <a:endParaRPr sz="1700"/>
          </a:p>
          <a:p>
            <a:pPr marL="0" indent="0">
              <a:lnSpc>
                <a:spcPct val="140000"/>
              </a:lnSpc>
              <a:buNone/>
            </a:pPr>
            <a:r>
              <a:rPr sz="170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Сильный мастер не тушит пожары в конце смены, а выстраивает работу так, чтобы брак и простои не появлялись. Его решения </a:t>
            </a:r>
            <a:br/>
            <a:r>
              <a:rPr sz="170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в первый час смены определяют весь день участка.</a:t>
            </a:r>
            <a:endParaRPr sz="1700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noGrp="1"/>
          </p:cNvSpPr>
          <p:nvPr/>
        </p:nvSpPr>
        <p:spPr>
          <a:xfrm flipV="1">
            <a:off x="-1" y="1111250"/>
            <a:ext cx="5601903" cy="9625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4" name="!!gear-07">
            <a:extLst>
              <a:ext uri="{FF2B5EF4-FFF2-40B4-BE49-F238E27FC236}">
                <a16:creationId xmlns:a16="http://schemas.microsoft.com/office/drawing/2014/main" id="{AE282B39-D83E-4D48-AE77-0CA84D207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13438421">
            <a:off x="10127971" y="2677007"/>
            <a:ext cx="4191761" cy="4191761"/>
          </a:xfrm>
          <a:prstGeom prst="rect">
            <a:avLst/>
          </a:prstGeom>
        </p:spPr>
      </p:pic>
      <p:pic>
        <p:nvPicPr>
          <p:cNvPr id="15" name="!!gear-11">
            <a:extLst>
              <a:ext uri="{FF2B5EF4-FFF2-40B4-BE49-F238E27FC236}">
                <a16:creationId xmlns:a16="http://schemas.microsoft.com/office/drawing/2014/main" id="{E64C5960-B072-456E-B287-6BE776D81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rot="17518421">
            <a:off x="10428622" y="1042343"/>
            <a:ext cx="2129148" cy="2129148"/>
          </a:xfrm>
          <a:prstGeom prst="rect">
            <a:avLst/>
          </a:prstGeom>
        </p:spPr>
      </p:pic>
      <p:pic>
        <p:nvPicPr>
          <p:cNvPr id="16" name="Рисунок 2">
            <a:extLst>
              <a:ext uri="{FF2B5EF4-FFF2-40B4-BE49-F238E27FC236}">
                <a16:creationId xmlns:a16="http://schemas.microsoft.com/office/drawing/2014/main" id="{052717CC-477A-469A-B3AC-935130C5B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7" name="Рисунок 4">
            <a:extLst>
              <a:ext uri="{FF2B5EF4-FFF2-40B4-BE49-F238E27FC236}">
                <a16:creationId xmlns:a16="http://schemas.microsoft.com/office/drawing/2014/main" id="{82682D09-8F52-4609-B0E3-BBEF8DD1D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8" name="Рисунок 6">
            <a:extLst>
              <a:ext uri="{FF2B5EF4-FFF2-40B4-BE49-F238E27FC236}">
                <a16:creationId xmlns:a16="http://schemas.microsoft.com/office/drawing/2014/main" id="{D3538D29-29B9-44ED-88CD-D4933B474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9" name="Рисунок 8">
            <a:extLst>
              <a:ext uri="{FF2B5EF4-FFF2-40B4-BE49-F238E27FC236}">
                <a16:creationId xmlns:a16="http://schemas.microsoft.com/office/drawing/2014/main" id="{9790F0D7-6D56-40C0-9C37-C552DBC41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475D8E84-C44F-4B8A-B7BE-6A1A673EA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876FC80D-134B-4AF6-A849-FB465572C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29" name="Рисунок 14">
            <a:extLst>
              <a:ext uri="{FF2B5EF4-FFF2-40B4-BE49-F238E27FC236}">
                <a16:creationId xmlns:a16="http://schemas.microsoft.com/office/drawing/2014/main" id="{E84A8DB8-F37A-43AA-AE65-5FB5F1813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1" name="Рисунок 16">
            <a:extLst>
              <a:ext uri="{FF2B5EF4-FFF2-40B4-BE49-F238E27FC236}">
                <a16:creationId xmlns:a16="http://schemas.microsoft.com/office/drawing/2014/main" id="{1495810B-1D5F-47DA-AC5D-9B7F35FBC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2" name="Рисунок 18">
            <a:extLst>
              <a:ext uri="{FF2B5EF4-FFF2-40B4-BE49-F238E27FC236}">
                <a16:creationId xmlns:a16="http://schemas.microsoft.com/office/drawing/2014/main" id="{070390B9-759F-4D3C-A8D4-DEE83FBFB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3" name="Рисунок 20">
            <a:extLst>
              <a:ext uri="{FF2B5EF4-FFF2-40B4-BE49-F238E27FC236}">
                <a16:creationId xmlns:a16="http://schemas.microsoft.com/office/drawing/2014/main" id="{9E31AD44-9E44-4ACD-8D28-13ABF7DCE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4" name="Рисунок 22">
            <a:extLst>
              <a:ext uri="{FF2B5EF4-FFF2-40B4-BE49-F238E27FC236}">
                <a16:creationId xmlns:a16="http://schemas.microsoft.com/office/drawing/2014/main" id="{550C92EA-88E3-4815-B4A8-9D4A206F6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5" name="Рисунок 24">
            <a:extLst>
              <a:ext uri="{FF2B5EF4-FFF2-40B4-BE49-F238E27FC236}">
                <a16:creationId xmlns:a16="http://schemas.microsoft.com/office/drawing/2014/main" id="{3CB52DCE-77AA-49B6-9F7D-FC41D2BF34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9588908-CBCB-4B35-AEF5-BC022B5DE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ABF07A4-A6B9-4077-B832-68BA5B97B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7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398" y="3318608"/>
            <a:ext cx="7716933" cy="2202961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noGrp="1"/>
          </p:cNvSpPr>
          <p:nvPr/>
        </p:nvSpPr>
        <p:spPr>
          <a:xfrm>
            <a:off x="863600" y="1097013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ПРОВЕРКА КОМПЛЕКТНОСТИ ДО СБОРКИ</a:t>
            </a:r>
            <a:endParaRPr sz="3000"/>
          </a:p>
        </p:txBody>
      </p:sp>
      <p:pic>
        <p:nvPicPr>
          <p:cNvPr id="3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noGrp="1"/>
          </p:cNvSpPr>
          <p:nvPr/>
        </p:nvSpPr>
        <p:spPr>
          <a:xfrm>
            <a:off x="863600" y="1828800"/>
            <a:ext cx="7356375" cy="9525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30000"/>
              </a:lnSpc>
              <a:buNone/>
            </a:pPr>
            <a:r>
              <a:rPr sz="180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Комплектность узла проверяют до начала сборки, а не в процессе. Один недостающий крепёж останавливает работу на середине и заставляет разбирать уже собранное.</a:t>
            </a:r>
            <a:endParaRPr sz="180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8195708-8A32-4C6F-B44A-6D34E01BD2F3}"/>
              </a:ext>
            </a:extLst>
          </p:cNvPr>
          <p:cNvSpPr>
            <a:spLocks noGrp="1"/>
          </p:cNvSpPr>
          <p:nvPr/>
        </p:nvSpPr>
        <p:spPr>
          <a:xfrm>
            <a:off x="1193800" y="3495431"/>
            <a:ext cx="3810000" cy="254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 spc="2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  <a:r>
              <a:rPr sz="1300" b="1" spc="2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 </a:t>
            </a:r>
            <a:r>
              <a:rPr sz="1600" b="1" spc="20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 УЧАСТКА</a:t>
            </a:r>
            <a:endParaRPr sz="130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noGrp="1"/>
          </p:cNvSpPr>
          <p:nvPr/>
        </p:nvSpPr>
        <p:spPr>
          <a:xfrm>
            <a:off x="1193800" y="3810000"/>
            <a:ext cx="6626469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30000"/>
              </a:lnSpc>
              <a:buNone/>
            </a:pPr>
            <a:r>
              <a:rPr sz="170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На участке вентиляционных секций смена начала сборку, не пересчитав уголки. Нехватку четырёх штук заметили только на финальной затяжке — узел разобрали полностью и потеряли два часа рабочего времени.</a:t>
            </a:r>
            <a:endParaRPr sz="170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noGrp="1"/>
          </p:cNvSpPr>
          <p:nvPr/>
        </p:nvSpPr>
        <p:spPr>
          <a:xfrm>
            <a:off x="699040" y="0"/>
            <a:ext cx="0" cy="1655813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13" name="Рисунок 2">
            <a:extLst>
              <a:ext uri="{FF2B5EF4-FFF2-40B4-BE49-F238E27FC236}">
                <a16:creationId xmlns:a16="http://schemas.microsoft.com/office/drawing/2014/main" id="{05722266-8983-47CF-A4BA-4E099AE78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14" name="Рисунок 4">
            <a:extLst>
              <a:ext uri="{FF2B5EF4-FFF2-40B4-BE49-F238E27FC236}">
                <a16:creationId xmlns:a16="http://schemas.microsoft.com/office/drawing/2014/main" id="{9B406DC5-CD1B-4103-B38A-F329AB438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17" name="Рисунок 6">
            <a:extLst>
              <a:ext uri="{FF2B5EF4-FFF2-40B4-BE49-F238E27FC236}">
                <a16:creationId xmlns:a16="http://schemas.microsoft.com/office/drawing/2014/main" id="{10A8EFB9-D8F0-485B-AD6F-040B65543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18" name="Рисунок 8">
            <a:extLst>
              <a:ext uri="{FF2B5EF4-FFF2-40B4-BE49-F238E27FC236}">
                <a16:creationId xmlns:a16="http://schemas.microsoft.com/office/drawing/2014/main" id="{44670E39-3ED5-48BD-84AE-F929EDB96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0" name="Рисунок 10">
            <a:extLst>
              <a:ext uri="{FF2B5EF4-FFF2-40B4-BE49-F238E27FC236}">
                <a16:creationId xmlns:a16="http://schemas.microsoft.com/office/drawing/2014/main" id="{9439EDFA-517E-42E2-86FE-390B1B426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21" name="Рисунок 12">
            <a:extLst>
              <a:ext uri="{FF2B5EF4-FFF2-40B4-BE49-F238E27FC236}">
                <a16:creationId xmlns:a16="http://schemas.microsoft.com/office/drawing/2014/main" id="{18D01D7C-D938-49FD-B5D7-E505B3E4B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54252" y="4574529"/>
            <a:ext cx="3061710" cy="3061710"/>
          </a:xfrm>
          <a:prstGeom prst="rect">
            <a:avLst/>
          </a:prstGeom>
        </p:spPr>
      </p:pic>
      <p:pic>
        <p:nvPicPr>
          <p:cNvPr id="22" name="Рисунок 14">
            <a:extLst>
              <a:ext uri="{FF2B5EF4-FFF2-40B4-BE49-F238E27FC236}">
                <a16:creationId xmlns:a16="http://schemas.microsoft.com/office/drawing/2014/main" id="{119986FD-C402-491D-A348-21A3EFDF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403443" y="6278502"/>
            <a:ext cx="3714750" cy="3714750"/>
          </a:xfrm>
          <a:prstGeom prst="rect">
            <a:avLst/>
          </a:prstGeom>
        </p:spPr>
      </p:pic>
      <p:pic>
        <p:nvPicPr>
          <p:cNvPr id="23" name="Рисунок 16">
            <a:extLst>
              <a:ext uri="{FF2B5EF4-FFF2-40B4-BE49-F238E27FC236}">
                <a16:creationId xmlns:a16="http://schemas.microsoft.com/office/drawing/2014/main" id="{5F8037F3-9C92-436F-866C-075C9496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24" name="Рисунок 18">
            <a:extLst>
              <a:ext uri="{FF2B5EF4-FFF2-40B4-BE49-F238E27FC236}">
                <a16:creationId xmlns:a16="http://schemas.microsoft.com/office/drawing/2014/main" id="{3B6518BE-9A22-4D1C-A94B-68D38D1BB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25" name="Рисунок 20">
            <a:extLst>
              <a:ext uri="{FF2B5EF4-FFF2-40B4-BE49-F238E27FC236}">
                <a16:creationId xmlns:a16="http://schemas.microsoft.com/office/drawing/2014/main" id="{1E0F6309-BEB0-4ADF-8E0E-75A4080A6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1" name="Рисунок 22">
            <a:extLst>
              <a:ext uri="{FF2B5EF4-FFF2-40B4-BE49-F238E27FC236}">
                <a16:creationId xmlns:a16="http://schemas.microsoft.com/office/drawing/2014/main" id="{3325E52F-A017-4F3C-838F-A401BC98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B0DC141-1834-431A-A21F-A6C3C256D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B0D9C6F-F94C-45BD-AFDF-22E04F4F6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45B01D4-EFC5-4CD5-9FA7-D4610ED54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  <p:pic>
        <p:nvPicPr>
          <p:cNvPr id="36" name="!!gear-07">
            <a:extLst>
              <a:ext uri="{FF2B5EF4-FFF2-40B4-BE49-F238E27FC236}">
                <a16:creationId xmlns:a16="http://schemas.microsoft.com/office/drawing/2014/main" id="{AA699B8C-236E-4C26-AD67-32B36F07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 rot="13438421">
            <a:off x="10577606" y="1784075"/>
            <a:ext cx="3676709" cy="36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30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7868" y="2592754"/>
            <a:ext cx="3501418" cy="2487246"/>
          </a:xfrm>
          <a:prstGeom prst="rect">
            <a:avLst/>
          </a:prstGeom>
        </p:spPr>
      </p:pic>
      <p:pic>
        <p:nvPicPr>
          <p:cNvPr id="52" name="Рисунок 3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5582" y="2592754"/>
            <a:ext cx="3501418" cy="2487246"/>
          </a:xfrm>
          <a:prstGeom prst="rect">
            <a:avLst/>
          </a:prstGeom>
        </p:spPr>
      </p:pic>
      <p:pic>
        <p:nvPicPr>
          <p:cNvPr id="53" name="Рисунок 3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" y="2567355"/>
            <a:ext cx="3501418" cy="248724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noGrp="1"/>
          </p:cNvSpPr>
          <p:nvPr/>
        </p:nvSpPr>
        <p:spPr>
          <a:xfrm>
            <a:off x="833855" y="851878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  <a:endParaRPr sz="3000"/>
          </a:p>
        </p:txBody>
      </p:sp>
      <p:pic>
        <p:nvPicPr>
          <p:cNvPr id="58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noGrp="1"/>
          </p:cNvSpPr>
          <p:nvPr/>
        </p:nvSpPr>
        <p:spPr>
          <a:xfrm>
            <a:off x="863600" y="1790700"/>
            <a:ext cx="8890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6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  <a:endParaRPr sz="160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noGrp="1"/>
          </p:cNvSpPr>
          <p:nvPr/>
        </p:nvSpPr>
        <p:spPr>
          <a:xfrm>
            <a:off x="1104900" y="2941253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noGrp="1"/>
          </p:cNvSpPr>
          <p:nvPr/>
        </p:nvSpPr>
        <p:spPr>
          <a:xfrm>
            <a:off x="1104900" y="3322253"/>
            <a:ext cx="2730500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Проверки и затяжка идут по регламенту, а не «когда дойдут руки».</a:t>
            </a:r>
            <a:endParaRPr sz="1450"/>
          </a:p>
        </p:txBody>
      </p:sp>
      <p:pic>
        <p:nvPicPr>
          <p:cNvPr id="62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50" y="2940050"/>
            <a:ext cx="266700" cy="266700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noGrp="1"/>
          </p:cNvSpPr>
          <p:nvPr/>
        </p:nvSpPr>
        <p:spPr>
          <a:xfrm>
            <a:off x="4775200" y="294005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noGrp="1"/>
          </p:cNvSpPr>
          <p:nvPr/>
        </p:nvSpPr>
        <p:spPr>
          <a:xfrm>
            <a:off x="4775200" y="3321050"/>
            <a:ext cx="2730500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не после.</a:t>
            </a:r>
            <a:endParaRPr sz="1450"/>
          </a:p>
        </p:txBody>
      </p:sp>
      <p:pic>
        <p:nvPicPr>
          <p:cNvPr id="65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2650" y="2940050"/>
            <a:ext cx="266700" cy="266700"/>
          </a:xfrm>
          <a:prstGeom prst="rect">
            <a:avLst/>
          </a:prstGeom>
        </p:spPr>
      </p:pic>
      <p:sp>
        <p:nvSpPr>
          <p:cNvPr id="34" name="Text 25">
            <a:extLst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noGrp="1"/>
          </p:cNvSpPr>
          <p:nvPr/>
        </p:nvSpPr>
        <p:spPr>
          <a:xfrm>
            <a:off x="8502650" y="2940050"/>
            <a:ext cx="27305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noGrp="1"/>
          </p:cNvSpPr>
          <p:nvPr/>
        </p:nvSpPr>
        <p:spPr>
          <a:xfrm>
            <a:off x="8502650" y="3321050"/>
            <a:ext cx="2946400" cy="127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«потом допишу».</a:t>
            </a:r>
            <a:endParaRPr sz="1450"/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1410679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26991F58-1842-4B68-8070-99A28EB6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1" name="Рисунок 4">
            <a:extLst>
              <a:ext uri="{FF2B5EF4-FFF2-40B4-BE49-F238E27FC236}">
                <a16:creationId xmlns:a16="http://schemas.microsoft.com/office/drawing/2014/main" id="{1A7F72DA-E749-4059-A7D8-F76FE25D2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22" name="Рисунок 6">
            <a:extLst>
              <a:ext uri="{FF2B5EF4-FFF2-40B4-BE49-F238E27FC236}">
                <a16:creationId xmlns:a16="http://schemas.microsoft.com/office/drawing/2014/main" id="{4567A39C-34A3-4E3A-B3CB-ECD5F178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3" name="Рисунок 8">
            <a:extLst>
              <a:ext uri="{FF2B5EF4-FFF2-40B4-BE49-F238E27FC236}">
                <a16:creationId xmlns:a16="http://schemas.microsoft.com/office/drawing/2014/main" id="{573B1CA0-C45B-4BA9-BFD2-B5AAB978C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4" name="Рисунок 10">
            <a:extLst>
              <a:ext uri="{FF2B5EF4-FFF2-40B4-BE49-F238E27FC236}">
                <a16:creationId xmlns:a16="http://schemas.microsoft.com/office/drawing/2014/main" id="{5E4F9DBF-2A3F-49EB-8A82-FCA7111EE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86400" y="5848350"/>
            <a:ext cx="2019300" cy="2019300"/>
          </a:xfrm>
          <a:prstGeom prst="rect">
            <a:avLst/>
          </a:prstGeom>
        </p:spPr>
      </p:pic>
      <p:pic>
        <p:nvPicPr>
          <p:cNvPr id="27" name="Рисунок 12">
            <a:extLst>
              <a:ext uri="{FF2B5EF4-FFF2-40B4-BE49-F238E27FC236}">
                <a16:creationId xmlns:a16="http://schemas.microsoft.com/office/drawing/2014/main" id="{79935300-D2F6-4D1D-B899-98452AC88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70800" y="-1643183"/>
            <a:ext cx="2305050" cy="2305050"/>
          </a:xfrm>
          <a:prstGeom prst="rect">
            <a:avLst/>
          </a:prstGeom>
        </p:spPr>
      </p:pic>
      <p:pic>
        <p:nvPicPr>
          <p:cNvPr id="28" name="Рисунок 14">
            <a:extLst>
              <a:ext uri="{FF2B5EF4-FFF2-40B4-BE49-F238E27FC236}">
                <a16:creationId xmlns:a16="http://schemas.microsoft.com/office/drawing/2014/main" id="{69F21CF0-0B52-4F52-A438-8C458101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29" name="Рисунок 16">
            <a:extLst>
              <a:ext uri="{FF2B5EF4-FFF2-40B4-BE49-F238E27FC236}">
                <a16:creationId xmlns:a16="http://schemas.microsoft.com/office/drawing/2014/main" id="{7F1A2DAE-1FED-430C-AC3F-0C2D3B81C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0" name="Рисунок 18">
            <a:extLst>
              <a:ext uri="{FF2B5EF4-FFF2-40B4-BE49-F238E27FC236}">
                <a16:creationId xmlns:a16="http://schemas.microsoft.com/office/drawing/2014/main" id="{E01F4084-658F-4E03-9A7F-BEAFB4A17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1" name="Рисунок 20">
            <a:extLst>
              <a:ext uri="{FF2B5EF4-FFF2-40B4-BE49-F238E27FC236}">
                <a16:creationId xmlns:a16="http://schemas.microsoft.com/office/drawing/2014/main" id="{C11ABBF2-C7D4-4DB8-AE85-B57D2AB0A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53336" y="2232234"/>
            <a:ext cx="2019300" cy="2019300"/>
          </a:xfrm>
          <a:prstGeom prst="rect">
            <a:avLst/>
          </a:prstGeom>
        </p:spPr>
      </p:pic>
      <p:pic>
        <p:nvPicPr>
          <p:cNvPr id="32" name="Рисунок 22">
            <a:extLst>
              <a:ext uri="{FF2B5EF4-FFF2-40B4-BE49-F238E27FC236}">
                <a16:creationId xmlns:a16="http://schemas.microsoft.com/office/drawing/2014/main" id="{27A2621A-4DEB-4C70-BC88-AD60244A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3" name="Рисунок 24">
            <a:extLst>
              <a:ext uri="{FF2B5EF4-FFF2-40B4-BE49-F238E27FC236}">
                <a16:creationId xmlns:a16="http://schemas.microsoft.com/office/drawing/2014/main" id="{C27E6178-98E3-4FF0-B654-C299D3164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21F1747-7390-43B6-95E1-200745DEC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27245BA-0BA5-47A3-B9CE-64E1F6A9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7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4">
            <a:extLst>
              <a:ext uri="{FF2B5EF4-FFF2-40B4-BE49-F238E27FC236}">
                <a16:creationId xmlns:a16="http://schemas.microsoft.com/office/drawing/2014/main" id="{190C2B79-97BC-4568-AA3A-9FA04C4BE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69278" y="3425243"/>
            <a:ext cx="4517421" cy="4517421"/>
          </a:xfrm>
          <a:prstGeom prst="rect">
            <a:avLst/>
          </a:prstGeom>
        </p:spPr>
      </p:pic>
      <p:pic>
        <p:nvPicPr>
          <p:cNvPr id="40" name="Рисунок 2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061" y="2289818"/>
            <a:ext cx="4917703" cy="2537159"/>
          </a:xfrm>
          <a:prstGeom prst="rect">
            <a:avLst/>
          </a:prstGeom>
        </p:spPr>
      </p:pic>
      <p:pic>
        <p:nvPicPr>
          <p:cNvPr id="41" name="Рисунок 2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0061" y="2283513"/>
            <a:ext cx="4929924" cy="2543464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9DCA596C-2902-4CC6-AEEE-55C579F1D866}"/>
              </a:ext>
            </a:extLst>
          </p:cNvPr>
          <p:cNvSpPr>
            <a:spLocks noGrp="1"/>
          </p:cNvSpPr>
          <p:nvPr/>
        </p:nvSpPr>
        <p:spPr>
          <a:xfrm>
            <a:off x="844061" y="1394513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ДЕЛАТЬ ПРИ БРАКЕ НА ВХОДЕ</a:t>
            </a:r>
            <a:endParaRPr sz="3000"/>
          </a:p>
        </p:txBody>
      </p:sp>
      <p:pic>
        <p:nvPicPr>
          <p:cNvPr id="46" name="Imag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pic>
        <p:nvPicPr>
          <p:cNvPr id="47" name="Imag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9884" y="3111500"/>
            <a:ext cx="698500" cy="711200"/>
          </a:xfrm>
          <a:prstGeom prst="rect">
            <a:avLst/>
          </a:prstGeom>
        </p:spPr>
      </p:pic>
      <p:sp>
        <p:nvSpPr>
          <p:cNvPr id="19" name="Shape 12">
            <a:extLst>
              <a:ext uri="{FF2B5EF4-FFF2-40B4-BE49-F238E27FC236}">
                <a16:creationId xmlns:a16="http://schemas.microsoft.com/office/drawing/2014/main" id="{53C07AFE-2BB4-4719-949D-F325EE05F116}"/>
              </a:ext>
            </a:extLst>
          </p:cNvPr>
          <p:cNvSpPr>
            <a:spLocks noGrp="1"/>
          </p:cNvSpPr>
          <p:nvPr/>
        </p:nvSpPr>
        <p:spPr>
          <a:xfrm rot="5400000">
            <a:off x="1193800" y="2590800"/>
            <a:ext cx="482600" cy="482600"/>
          </a:xfrm>
          <a:prstGeom prst="hexagon">
            <a:avLst/>
          </a:prstGeom>
          <a:solidFill>
            <a:srgbClr val="FB4D4D"/>
          </a:solidFill>
        </p:spPr>
      </p:sp>
      <p:pic>
        <p:nvPicPr>
          <p:cNvPr id="49" name="Imag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7150" y="2724150"/>
            <a:ext cx="215900" cy="215900"/>
          </a:xfrm>
          <a:prstGeom prst="rect">
            <a:avLst/>
          </a:prstGeom>
        </p:spPr>
      </p:pic>
      <p:sp>
        <p:nvSpPr>
          <p:cNvPr id="21" name="Text 13">
            <a:extLst>
              <a:ext uri="{FF2B5EF4-FFF2-40B4-BE49-F238E27FC236}">
                <a16:creationId xmlns:a16="http://schemas.microsoft.com/office/drawing/2014/main" id="{4FC23291-59D8-4550-9AAB-3E0EFC239CB7}"/>
              </a:ext>
            </a:extLst>
          </p:cNvPr>
          <p:cNvSpPr>
            <a:spLocks noGrp="1"/>
          </p:cNvSpPr>
          <p:nvPr/>
        </p:nvSpPr>
        <p:spPr>
          <a:xfrm>
            <a:off x="1816100" y="2590800"/>
            <a:ext cx="2540000" cy="482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СИТУАЦИЯ</a:t>
            </a:r>
            <a:endParaRPr sz="180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ACE9D4DC-52DE-464E-A9E5-83737725BB7A}"/>
              </a:ext>
            </a:extLst>
          </p:cNvPr>
          <p:cNvSpPr>
            <a:spLocks noGrp="1"/>
          </p:cNvSpPr>
          <p:nvPr/>
        </p:nvSpPr>
        <p:spPr>
          <a:xfrm>
            <a:off x="1193800" y="3403600"/>
            <a:ext cx="4095750" cy="10795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30000"/>
              </a:lnSpc>
              <a:buNone/>
            </a:pPr>
            <a:r>
              <a:rPr sz="160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Партия профиля пришла с вмятинами на кромке. Часть деталей явно не пройдёт контроль, но план на смену уже стоит.</a:t>
            </a:r>
            <a:endParaRPr sz="160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65E8C305-08E6-4F7F-BB14-9D81DB0997F3}"/>
              </a:ext>
            </a:extLst>
          </p:cNvPr>
          <p:cNvSpPr>
            <a:spLocks noGrp="1"/>
          </p:cNvSpPr>
          <p:nvPr/>
        </p:nvSpPr>
        <p:spPr>
          <a:xfrm rot="5400000">
            <a:off x="7157431" y="2590800"/>
            <a:ext cx="482600" cy="482600"/>
          </a:xfrm>
          <a:prstGeom prst="hexagon">
            <a:avLst/>
          </a:prstGeom>
          <a:solidFill>
            <a:srgbClr val="21C535"/>
          </a:solidFill>
        </p:spPr>
      </p:sp>
      <p:pic>
        <p:nvPicPr>
          <p:cNvPr id="53" name="Imag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0781" y="2724150"/>
            <a:ext cx="215900" cy="215900"/>
          </a:xfrm>
          <a:prstGeom prst="rect">
            <a:avLst/>
          </a:prstGeom>
        </p:spPr>
      </p:pic>
      <p:sp>
        <p:nvSpPr>
          <p:cNvPr id="25" name="Text 16">
            <a:extLst>
              <a:ext uri="{FF2B5EF4-FFF2-40B4-BE49-F238E27FC236}">
                <a16:creationId xmlns:a16="http://schemas.microsoft.com/office/drawing/2014/main" id="{C4594F47-ACA0-435E-AE70-F812F42A7979}"/>
              </a:ext>
            </a:extLst>
          </p:cNvPr>
          <p:cNvSpPr>
            <a:spLocks noGrp="1"/>
          </p:cNvSpPr>
          <p:nvPr/>
        </p:nvSpPr>
        <p:spPr>
          <a:xfrm>
            <a:off x="7779731" y="2590800"/>
            <a:ext cx="2540000" cy="482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 spc="50">
                <a:solidFill>
                  <a:srgbClr val="1AAC39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ДЕЙСТВИЕ</a:t>
            </a:r>
            <a:endParaRPr sz="180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A89DF007-F3A2-4217-8F3F-D793F587E7D2}"/>
              </a:ext>
            </a:extLst>
          </p:cNvPr>
          <p:cNvSpPr>
            <a:spLocks noGrp="1"/>
          </p:cNvSpPr>
          <p:nvPr/>
        </p:nvSpPr>
        <p:spPr>
          <a:xfrm>
            <a:off x="7157431" y="3403600"/>
            <a:ext cx="4095750" cy="10795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30000"/>
              </a:lnSpc>
              <a:buNone/>
            </a:pPr>
            <a:r>
              <a:rPr sz="160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Останови приёмку, зафиксируй дефект фото и актом, сообщи мастеру. Сомнительные детали в сборку «пока разберёмся» не идут.</a:t>
            </a:r>
            <a:endParaRPr sz="1600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EA83BB5A-3453-483D-86D8-85AB6BE16476}"/>
              </a:ext>
            </a:extLst>
          </p:cNvPr>
          <p:cNvSpPr>
            <a:spLocks noGrp="1"/>
          </p:cNvSpPr>
          <p:nvPr/>
        </p:nvSpPr>
        <p:spPr>
          <a:xfrm>
            <a:off x="727915" y="-1"/>
            <a:ext cx="0" cy="1944303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20" name="Рисунок 2">
            <a:extLst>
              <a:ext uri="{FF2B5EF4-FFF2-40B4-BE49-F238E27FC236}">
                <a16:creationId xmlns:a16="http://schemas.microsoft.com/office/drawing/2014/main" id="{4AD845DE-E986-4B57-95DB-8691556EDF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27" name="Рисунок 6">
            <a:extLst>
              <a:ext uri="{FF2B5EF4-FFF2-40B4-BE49-F238E27FC236}">
                <a16:creationId xmlns:a16="http://schemas.microsoft.com/office/drawing/2014/main" id="{A830D937-21FC-461B-9C8C-F5CC4B4CB3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28" name="Рисунок 8">
            <a:extLst>
              <a:ext uri="{FF2B5EF4-FFF2-40B4-BE49-F238E27FC236}">
                <a16:creationId xmlns:a16="http://schemas.microsoft.com/office/drawing/2014/main" id="{898639A8-14C1-4EB0-9F4F-9E25F59A1C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29" name="Рисунок 10">
            <a:extLst>
              <a:ext uri="{FF2B5EF4-FFF2-40B4-BE49-F238E27FC236}">
                <a16:creationId xmlns:a16="http://schemas.microsoft.com/office/drawing/2014/main" id="{BD91EE16-1D89-4033-868B-AAC5046C38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31" name="Рисунок 12">
            <a:extLst>
              <a:ext uri="{FF2B5EF4-FFF2-40B4-BE49-F238E27FC236}">
                <a16:creationId xmlns:a16="http://schemas.microsoft.com/office/drawing/2014/main" id="{37C2B7F3-84F8-4FF0-A9A2-81F630CF44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32" name="Рисунок 14">
            <a:extLst>
              <a:ext uri="{FF2B5EF4-FFF2-40B4-BE49-F238E27FC236}">
                <a16:creationId xmlns:a16="http://schemas.microsoft.com/office/drawing/2014/main" id="{4DE2529F-5909-4253-B863-2676120430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14325" y="6858000"/>
            <a:ext cx="3714750" cy="3714750"/>
          </a:xfrm>
          <a:prstGeom prst="rect">
            <a:avLst/>
          </a:prstGeom>
        </p:spPr>
      </p:pic>
      <p:pic>
        <p:nvPicPr>
          <p:cNvPr id="33" name="Рисунок 16">
            <a:extLst>
              <a:ext uri="{FF2B5EF4-FFF2-40B4-BE49-F238E27FC236}">
                <a16:creationId xmlns:a16="http://schemas.microsoft.com/office/drawing/2014/main" id="{4CDBB82D-CFB8-4268-983C-01FED48776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4" name="Рисунок 18">
            <a:extLst>
              <a:ext uri="{FF2B5EF4-FFF2-40B4-BE49-F238E27FC236}">
                <a16:creationId xmlns:a16="http://schemas.microsoft.com/office/drawing/2014/main" id="{31F09240-B365-4876-B220-E59DE4DE91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35" name="Рисунок 20">
            <a:extLst>
              <a:ext uri="{FF2B5EF4-FFF2-40B4-BE49-F238E27FC236}">
                <a16:creationId xmlns:a16="http://schemas.microsoft.com/office/drawing/2014/main" id="{DCD7342D-3785-4130-8ACC-A2029A97C2B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877035" y="5175907"/>
            <a:ext cx="2294427" cy="2294427"/>
          </a:xfrm>
          <a:prstGeom prst="rect">
            <a:avLst/>
          </a:prstGeom>
        </p:spPr>
      </p:pic>
      <p:pic>
        <p:nvPicPr>
          <p:cNvPr id="36" name="Рисунок 22">
            <a:extLst>
              <a:ext uri="{FF2B5EF4-FFF2-40B4-BE49-F238E27FC236}">
                <a16:creationId xmlns:a16="http://schemas.microsoft.com/office/drawing/2014/main" id="{72578949-3BCB-44D1-A11D-6BD5085676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37" name="Рисунок 24">
            <a:extLst>
              <a:ext uri="{FF2B5EF4-FFF2-40B4-BE49-F238E27FC236}">
                <a16:creationId xmlns:a16="http://schemas.microsoft.com/office/drawing/2014/main" id="{51497665-BC09-4FBC-8520-5AD9E06EDE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75DE748-5EA7-47DC-9F4E-17BF702CC8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CC7714B-0AA1-4D7D-B355-649BB89AB4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1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A58C1DDA-D75C-4563-BDC3-E9B9B2EA06FE}"/>
              </a:ext>
            </a:extLst>
          </p:cNvPr>
          <p:cNvSpPr>
            <a:spLocks noGrp="1"/>
          </p:cNvSpPr>
          <p:nvPr/>
        </p:nvSpPr>
        <p:spPr>
          <a:xfrm>
            <a:off x="939800" y="1506085"/>
            <a:ext cx="9525000" cy="558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3000" b="1" spc="10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ПОРЯДОК СБОРКИ УЗЛА</a:t>
            </a:r>
            <a:endParaRPr sz="3000"/>
          </a:p>
        </p:txBody>
      </p:sp>
      <p:pic>
        <p:nvPicPr>
          <p:cNvPr id="4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916" y="609600"/>
            <a:ext cx="922279" cy="292100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9296E90F-4DDF-4EB0-9B8A-CC5A1FFE8E56}"/>
              </a:ext>
            </a:extLst>
          </p:cNvPr>
          <p:cNvSpPr>
            <a:spLocks noGrp="1"/>
          </p:cNvSpPr>
          <p:nvPr/>
        </p:nvSpPr>
        <p:spPr>
          <a:xfrm>
            <a:off x="86360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ПОДГОТОВКА</a:t>
            </a:r>
            <a:endParaRPr sz="160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DBC17E0A-33DE-47AA-9A2C-8F427E664029}"/>
              </a:ext>
            </a:extLst>
          </p:cNvPr>
          <p:cNvSpPr>
            <a:spLocks noGrp="1"/>
          </p:cNvSpPr>
          <p:nvPr/>
        </p:nvSpPr>
        <p:spPr>
          <a:xfrm rot="5400000">
            <a:off x="140335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DC32843-1ACE-4975-8635-3950C3B948D6}"/>
              </a:ext>
            </a:extLst>
          </p:cNvPr>
          <p:cNvSpPr>
            <a:spLocks noGrp="1"/>
          </p:cNvSpPr>
          <p:nvPr/>
        </p:nvSpPr>
        <p:spPr>
          <a:xfrm>
            <a:off x="140335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01</a:t>
            </a:r>
            <a:endParaRPr sz="280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5DE6DDE5-A5E3-4CB1-932F-28C20CBE6834}"/>
              </a:ext>
            </a:extLst>
          </p:cNvPr>
          <p:cNvSpPr>
            <a:spLocks noGrp="1"/>
          </p:cNvSpPr>
          <p:nvPr/>
        </p:nvSpPr>
        <p:spPr>
          <a:xfrm>
            <a:off x="863600" y="3937000"/>
            <a:ext cx="1905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комплект и разложите крепёж по операциям.</a:t>
            </a:r>
            <a:endParaRPr sz="1400"/>
          </a:p>
        </p:txBody>
      </p:sp>
      <p:pic>
        <p:nvPicPr>
          <p:cNvPr id="50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130" y="2933699"/>
            <a:ext cx="697090" cy="844551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C7D02B77-0E44-4299-BA22-FF57E49D8FA8}"/>
              </a:ext>
            </a:extLst>
          </p:cNvPr>
          <p:cNvSpPr>
            <a:spLocks noGrp="1"/>
          </p:cNvSpPr>
          <p:nvPr/>
        </p:nvSpPr>
        <p:spPr>
          <a:xfrm>
            <a:off x="371475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СБОРКА</a:t>
            </a:r>
            <a:endParaRPr sz="160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E48C419C-A3B8-41D7-AA99-06AD26B8A2D0}"/>
              </a:ext>
            </a:extLst>
          </p:cNvPr>
          <p:cNvSpPr>
            <a:spLocks noGrp="1"/>
          </p:cNvSpPr>
          <p:nvPr/>
        </p:nvSpPr>
        <p:spPr>
          <a:xfrm rot="5400000">
            <a:off x="425450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79CE33D-10BA-4EC6-B748-8752B2F13689}"/>
              </a:ext>
            </a:extLst>
          </p:cNvPr>
          <p:cNvSpPr>
            <a:spLocks noGrp="1"/>
          </p:cNvSpPr>
          <p:nvPr/>
        </p:nvSpPr>
        <p:spPr>
          <a:xfrm>
            <a:off x="425450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02</a:t>
            </a:r>
            <a:endParaRPr sz="280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1A756284-C70F-41A2-BE7C-8A2FAE0A494E}"/>
              </a:ext>
            </a:extLst>
          </p:cNvPr>
          <p:cNvSpPr>
            <a:spLocks noGrp="1"/>
          </p:cNvSpPr>
          <p:nvPr/>
        </p:nvSpPr>
        <p:spPr>
          <a:xfrm>
            <a:off x="3714750" y="3937000"/>
            <a:ext cx="1905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Соберите узел по схеме, без пропуска промежуточных затяжек.</a:t>
            </a:r>
            <a:endParaRPr sz="1400"/>
          </a:p>
        </p:txBody>
      </p:sp>
      <p:pic>
        <p:nvPicPr>
          <p:cNvPr id="55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534" y="3015179"/>
            <a:ext cx="697090" cy="844551"/>
          </a:xfrm>
          <a:prstGeom prst="rect">
            <a:avLst/>
          </a:prstGeom>
        </p:spPr>
      </p:pic>
      <p:sp>
        <p:nvSpPr>
          <p:cNvPr id="20" name="Text 10">
            <a:extLst>
              <a:ext uri="{FF2B5EF4-FFF2-40B4-BE49-F238E27FC236}">
                <a16:creationId xmlns:a16="http://schemas.microsoft.com/office/drawing/2014/main" id="{C1DDC943-5330-405B-A07D-366AFFC6E45B}"/>
              </a:ext>
            </a:extLst>
          </p:cNvPr>
          <p:cNvSpPr>
            <a:spLocks noGrp="1"/>
          </p:cNvSpPr>
          <p:nvPr/>
        </p:nvSpPr>
        <p:spPr>
          <a:xfrm>
            <a:off x="656590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КОНТРОЛЬ</a:t>
            </a:r>
            <a:endParaRPr sz="160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0B5F68D5-8A1E-43F6-93F0-E6A51F2158F9}"/>
              </a:ext>
            </a:extLst>
          </p:cNvPr>
          <p:cNvSpPr>
            <a:spLocks noGrp="1"/>
          </p:cNvSpPr>
          <p:nvPr/>
        </p:nvSpPr>
        <p:spPr>
          <a:xfrm rot="5400000">
            <a:off x="710565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5A4304A8-A7C2-4AF6-9B5D-0516A97BE8CF}"/>
              </a:ext>
            </a:extLst>
          </p:cNvPr>
          <p:cNvSpPr>
            <a:spLocks noGrp="1"/>
          </p:cNvSpPr>
          <p:nvPr/>
        </p:nvSpPr>
        <p:spPr>
          <a:xfrm>
            <a:off x="710565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  <a:endParaRPr sz="280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FF0A51B4-58E1-4F05-9305-8E9B2B2AC125}"/>
              </a:ext>
            </a:extLst>
          </p:cNvPr>
          <p:cNvSpPr>
            <a:spLocks noGrp="1"/>
          </p:cNvSpPr>
          <p:nvPr/>
        </p:nvSpPr>
        <p:spPr>
          <a:xfrm>
            <a:off x="6565900" y="3937000"/>
            <a:ext cx="1905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Проверьте соединения, зазоры и размеры по чертежу.</a:t>
            </a:r>
            <a:endParaRPr sz="1400"/>
          </a:p>
        </p:txBody>
      </p:sp>
      <p:pic>
        <p:nvPicPr>
          <p:cNvPr id="60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682" y="3015179"/>
            <a:ext cx="636187" cy="770765"/>
          </a:xfrm>
          <a:prstGeom prst="rect">
            <a:avLst/>
          </a:prstGeom>
        </p:spPr>
      </p:pic>
      <p:sp>
        <p:nvSpPr>
          <p:cNvPr id="25" name="Text 14">
            <a:extLst>
              <a:ext uri="{FF2B5EF4-FFF2-40B4-BE49-F238E27FC236}">
                <a16:creationId xmlns:a16="http://schemas.microsoft.com/office/drawing/2014/main" id="{BBED1CB5-1228-48B1-A9C9-25512457237F}"/>
              </a:ext>
            </a:extLst>
          </p:cNvPr>
          <p:cNvSpPr>
            <a:spLocks noGrp="1"/>
          </p:cNvSpPr>
          <p:nvPr/>
        </p:nvSpPr>
        <p:spPr>
          <a:xfrm>
            <a:off x="9417050" y="2540000"/>
            <a:ext cx="1905000" cy="317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b="1" spc="5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ЗАПУСК</a:t>
            </a:r>
            <a:endParaRPr sz="160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FBF43D3D-B816-4CA2-90D1-3CEB47B255D3}"/>
              </a:ext>
            </a:extLst>
          </p:cNvPr>
          <p:cNvSpPr>
            <a:spLocks noGrp="1"/>
          </p:cNvSpPr>
          <p:nvPr/>
        </p:nvSpPr>
        <p:spPr>
          <a:xfrm rot="5400000">
            <a:off x="9956800" y="2946400"/>
            <a:ext cx="825500" cy="825500"/>
          </a:xfrm>
          <a:prstGeom prst="hexagon">
            <a:avLst/>
          </a:prstGeom>
          <a:solidFill>
            <a:srgbClr val="21C535"/>
          </a:solidFill>
        </p:spPr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6D6FEEDD-BF83-4D4A-AD32-6D3822CDAC86}"/>
              </a:ext>
            </a:extLst>
          </p:cNvPr>
          <p:cNvSpPr>
            <a:spLocks noGrp="1"/>
          </p:cNvSpPr>
          <p:nvPr/>
        </p:nvSpPr>
        <p:spPr>
          <a:xfrm>
            <a:off x="9956800" y="2946400"/>
            <a:ext cx="8255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04</a:t>
            </a:r>
            <a:endParaRPr sz="280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34FAF264-31D3-418B-8E88-4CAC077F3C85}"/>
              </a:ext>
            </a:extLst>
          </p:cNvPr>
          <p:cNvSpPr>
            <a:spLocks noGrp="1"/>
          </p:cNvSpPr>
          <p:nvPr/>
        </p:nvSpPr>
        <p:spPr>
          <a:xfrm>
            <a:off x="9417050" y="3937000"/>
            <a:ext cx="1905000" cy="1016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Настройте параметры и запустите узел в работу.</a:t>
            </a:r>
            <a:endParaRPr sz="140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56721271-EE88-41CC-BCA6-9A8D697E9FCF}"/>
              </a:ext>
            </a:extLst>
          </p:cNvPr>
          <p:cNvSpPr>
            <a:spLocks noGrp="1"/>
          </p:cNvSpPr>
          <p:nvPr/>
        </p:nvSpPr>
        <p:spPr>
          <a:xfrm>
            <a:off x="818687" y="-1"/>
            <a:ext cx="0" cy="1944303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pic>
        <p:nvPicPr>
          <p:cNvPr id="30" name="Рисунок 2">
            <a:extLst>
              <a:ext uri="{FF2B5EF4-FFF2-40B4-BE49-F238E27FC236}">
                <a16:creationId xmlns:a16="http://schemas.microsoft.com/office/drawing/2014/main" id="{F7805BE5-DF17-4F61-8104-09372FAEAB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2682" y="8225190"/>
            <a:ext cx="1857375" cy="1857375"/>
          </a:xfrm>
          <a:prstGeom prst="rect">
            <a:avLst/>
          </a:prstGeom>
        </p:spPr>
      </p:pic>
      <p:pic>
        <p:nvPicPr>
          <p:cNvPr id="31" name="Рисунок 4">
            <a:extLst>
              <a:ext uri="{FF2B5EF4-FFF2-40B4-BE49-F238E27FC236}">
                <a16:creationId xmlns:a16="http://schemas.microsoft.com/office/drawing/2014/main" id="{52D90A6E-C3AB-4DBE-9A47-7911CF65F2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32" name="Рисунок 6">
            <a:extLst>
              <a:ext uri="{FF2B5EF4-FFF2-40B4-BE49-F238E27FC236}">
                <a16:creationId xmlns:a16="http://schemas.microsoft.com/office/drawing/2014/main" id="{11F99F44-709B-4D5F-A1A5-C09595E6D1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33" name="Рисунок 8">
            <a:extLst>
              <a:ext uri="{FF2B5EF4-FFF2-40B4-BE49-F238E27FC236}">
                <a16:creationId xmlns:a16="http://schemas.microsoft.com/office/drawing/2014/main" id="{F75D182A-504B-4414-AACD-3318D02B1B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63350" y="5709307"/>
            <a:ext cx="1257300" cy="1257300"/>
          </a:xfrm>
          <a:prstGeom prst="rect">
            <a:avLst/>
          </a:prstGeom>
        </p:spPr>
      </p:pic>
      <p:pic>
        <p:nvPicPr>
          <p:cNvPr id="34" name="Рисунок 10">
            <a:extLst>
              <a:ext uri="{FF2B5EF4-FFF2-40B4-BE49-F238E27FC236}">
                <a16:creationId xmlns:a16="http://schemas.microsoft.com/office/drawing/2014/main" id="{1BCDB6D6-609A-46FF-9A83-4F56ADD2F3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35" name="Рисунок 12">
            <a:extLst>
              <a:ext uri="{FF2B5EF4-FFF2-40B4-BE49-F238E27FC236}">
                <a16:creationId xmlns:a16="http://schemas.microsoft.com/office/drawing/2014/main" id="{88B7B125-CC0D-44F9-9156-138FC50C2E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36" name="Рисунок 14">
            <a:extLst>
              <a:ext uri="{FF2B5EF4-FFF2-40B4-BE49-F238E27FC236}">
                <a16:creationId xmlns:a16="http://schemas.microsoft.com/office/drawing/2014/main" id="{1DDFBAC3-A0B6-4167-A16F-48DB513A17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37" name="Рисунок 16">
            <a:extLst>
              <a:ext uri="{FF2B5EF4-FFF2-40B4-BE49-F238E27FC236}">
                <a16:creationId xmlns:a16="http://schemas.microsoft.com/office/drawing/2014/main" id="{2A2D7997-FF81-46F9-82DB-AD1A760FC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38" name="Рисунок 18">
            <a:extLst>
              <a:ext uri="{FF2B5EF4-FFF2-40B4-BE49-F238E27FC236}">
                <a16:creationId xmlns:a16="http://schemas.microsoft.com/office/drawing/2014/main" id="{3374F1D2-86F5-48D4-9AEB-65898420B6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44" name="Рисунок 20">
            <a:extLst>
              <a:ext uri="{FF2B5EF4-FFF2-40B4-BE49-F238E27FC236}">
                <a16:creationId xmlns:a16="http://schemas.microsoft.com/office/drawing/2014/main" id="{860647CA-1EDC-4CEB-B5C1-1BEA3E5DE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01884" y="-1238735"/>
            <a:ext cx="2019300" cy="2019300"/>
          </a:xfrm>
          <a:prstGeom prst="rect">
            <a:avLst/>
          </a:prstGeom>
        </p:spPr>
      </p:pic>
      <p:pic>
        <p:nvPicPr>
          <p:cNvPr id="46" name="Рисунок 22">
            <a:extLst>
              <a:ext uri="{FF2B5EF4-FFF2-40B4-BE49-F238E27FC236}">
                <a16:creationId xmlns:a16="http://schemas.microsoft.com/office/drawing/2014/main" id="{A8AD091D-B454-4504-B93B-3E0B29E4F7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47" name="Рисунок 24">
            <a:extLst>
              <a:ext uri="{FF2B5EF4-FFF2-40B4-BE49-F238E27FC236}">
                <a16:creationId xmlns:a16="http://schemas.microsoft.com/office/drawing/2014/main" id="{4976D778-F436-40FF-BE13-F3088BECDE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DF3C8D06-42CD-4E98-BCDA-7948A92BA6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4C0604B6-FDC4-4B1E-9A92-4AB9512D0A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71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AEFB64-E55C-4870-B6D4-12E6FB9CB97B}"/>
              </a:ext>
            </a:extLst>
          </p:cNvPr>
          <p:cNvSpPr>
            <a:spLocks noGrp="1"/>
          </p:cNvSpPr>
          <p:nvPr/>
        </p:nvSpPr>
        <p:spPr>
          <a:xfrm>
            <a:off x="11539728" y="0"/>
            <a:ext cx="0" cy="1133856"/>
          </a:xfrm>
          <a:prstGeom prst="line">
            <a:avLst/>
          </a:prstGeom>
          <a:noFill/>
          <a:ln w="19050">
            <a:solidFill>
              <a:srgbClr val="F5340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2915FD-DAD3-4B57-A264-31B71314AA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02920" cy="0"/>
          </a:xfrm>
          <a:prstGeom prst="line">
            <a:avLst/>
          </a:prstGeom>
          <a:noFill/>
          <a:ln w="7620">
            <a:solidFill>
              <a:srgbClr val="A4ABB5">
                <a:alpha val="75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8791D90-3D9C-49EE-9468-19AE72D61BD1}"/>
              </a:ext>
            </a:extLst>
          </p:cNvPr>
          <p:cNvSpPr>
            <a:spLocks noGrp="1"/>
          </p:cNvSpPr>
          <p:nvPr/>
        </p:nvSpPr>
        <p:spPr>
          <a:xfrm>
            <a:off x="502920" y="0"/>
            <a:ext cx="164592" cy="164592"/>
          </a:xfrm>
          <a:prstGeom prst="line">
            <a:avLst/>
          </a:prstGeom>
          <a:noFill/>
          <a:ln w="7620">
            <a:solidFill>
              <a:srgbClr val="A4ABB5">
                <a:alpha val="7500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4E7482-90A5-41F8-A09E-07B4A8298721}"/>
              </a:ext>
            </a:extLst>
          </p:cNvPr>
          <p:cNvSpPr>
            <a:spLocks noGrp="1"/>
          </p:cNvSpPr>
          <p:nvPr/>
        </p:nvSpPr>
        <p:spPr>
          <a:xfrm>
            <a:off x="8458200" y="43891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000" lnSpcReduction="10000"/>
          </a:bodyPr>
          <a:lstStyle/>
          <a:p>
            <a:pPr marL="0" indent="0" algn="r">
              <a:buNone/>
            </a:pPr>
            <a:r>
              <a:rPr sz="3000" b="1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ЭТАПЫ ПРОЦЕССА</a:t>
            </a:r>
            <a:endParaRPr sz="3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A99E719-6954-42FE-AB7E-9B7436451E94}"/>
              </a:ext>
            </a:extLst>
          </p:cNvPr>
          <p:cNvSpPr>
            <a:spLocks noGrp="1"/>
          </p:cNvSpPr>
          <p:nvPr/>
        </p:nvSpPr>
        <p:spPr>
          <a:xfrm>
            <a:off x="2542032" y="3401568"/>
            <a:ext cx="7104888" cy="0"/>
          </a:xfrm>
          <a:prstGeom prst="line">
            <a:avLst/>
          </a:prstGeom>
          <a:noFill/>
          <a:ln w="2540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255665-D540-4894-83FC-C15BC090E52C}"/>
              </a:ext>
            </a:extLst>
          </p:cNvPr>
          <p:cNvSpPr>
            <a:spLocks noGrp="1"/>
          </p:cNvSpPr>
          <p:nvPr/>
        </p:nvSpPr>
        <p:spPr>
          <a:xfrm>
            <a:off x="2542032" y="2843784"/>
            <a:ext cx="0" cy="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E7E44FE-D2F8-49C6-BC42-4BDCA45E57F4}"/>
              </a:ext>
            </a:extLst>
          </p:cNvPr>
          <p:cNvSpPr>
            <a:spLocks noGrp="1"/>
          </p:cNvSpPr>
          <p:nvPr/>
        </p:nvSpPr>
        <p:spPr>
          <a:xfrm>
            <a:off x="2491740" y="2244852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C76E77-CE8F-41F9-B3A7-9BBB86E0E38A}"/>
              </a:ext>
            </a:extLst>
          </p:cNvPr>
          <p:cNvSpPr>
            <a:spLocks noGrp="1"/>
          </p:cNvSpPr>
          <p:nvPr/>
        </p:nvSpPr>
        <p:spPr>
          <a:xfrm>
            <a:off x="1376172" y="1353312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1</a:t>
            </a:r>
            <a:endParaRPr sz="2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C7BF40D-7889-4133-91ED-7B44DCF2EC5E}"/>
              </a:ext>
            </a:extLst>
          </p:cNvPr>
          <p:cNvSpPr>
            <a:spLocks noGrp="1"/>
          </p:cNvSpPr>
          <p:nvPr/>
        </p:nvSpPr>
        <p:spPr>
          <a:xfrm>
            <a:off x="1376172" y="1700784"/>
            <a:ext cx="2331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2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Подготовьте материалы</a:t>
            </a:r>
            <a:endParaRPr sz="1520"/>
          </a:p>
          <a:p>
            <a:pPr marL="0" indent="0" algn="ctr">
              <a:buNone/>
            </a:pPr>
            <a:r>
              <a:rPr sz="152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и проверьте комплект</a:t>
            </a:r>
            <a:endParaRPr sz="152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44079F-06A5-4A08-B86F-26FF21788233}"/>
              </a:ext>
            </a:extLst>
          </p:cNvPr>
          <p:cNvSpPr>
            <a:spLocks noGrp="1"/>
          </p:cNvSpPr>
          <p:nvPr/>
        </p:nvSpPr>
        <p:spPr>
          <a:xfrm>
            <a:off x="1983682" y="2871216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01</a:t>
            </a:r>
            <a:endParaRPr sz="28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F2FBCBB-9291-483D-9F67-13B8C78023DB}"/>
              </a:ext>
            </a:extLst>
          </p:cNvPr>
          <p:cNvSpPr>
            <a:spLocks noGrp="1"/>
          </p:cNvSpPr>
          <p:nvPr/>
        </p:nvSpPr>
        <p:spPr>
          <a:xfrm>
            <a:off x="4910328" y="3959352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0B396D4-B53C-4F26-BAD2-7696BE073381}"/>
              </a:ext>
            </a:extLst>
          </p:cNvPr>
          <p:cNvSpPr>
            <a:spLocks noGrp="1"/>
          </p:cNvSpPr>
          <p:nvPr/>
        </p:nvSpPr>
        <p:spPr>
          <a:xfrm>
            <a:off x="4860036" y="4457700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7A43835-5E11-4F49-AEF6-920A759CE13E}"/>
              </a:ext>
            </a:extLst>
          </p:cNvPr>
          <p:cNvSpPr>
            <a:spLocks noGrp="1"/>
          </p:cNvSpPr>
          <p:nvPr/>
        </p:nvSpPr>
        <p:spPr>
          <a:xfrm>
            <a:off x="3744468" y="462686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2</a:t>
            </a:r>
            <a:endParaRPr sz="2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69BFCF4-106B-4B58-8DFB-73CB9DC5C2F8}"/>
              </a:ext>
            </a:extLst>
          </p:cNvPr>
          <p:cNvSpPr>
            <a:spLocks noGrp="1"/>
          </p:cNvSpPr>
          <p:nvPr/>
        </p:nvSpPr>
        <p:spPr>
          <a:xfrm>
            <a:off x="3744468" y="4983480"/>
            <a:ext cx="2331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2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Соберите узел</a:t>
            </a:r>
            <a:endParaRPr sz="1520"/>
          </a:p>
          <a:p>
            <a:pPr marL="0" indent="0" algn="ctr">
              <a:buNone/>
            </a:pPr>
            <a:r>
              <a:rPr sz="152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по схеме</a:t>
            </a:r>
            <a:endParaRPr sz="152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9F2FC10-D6E7-4E44-B27D-18B882C4A51C}"/>
              </a:ext>
            </a:extLst>
          </p:cNvPr>
          <p:cNvSpPr>
            <a:spLocks noGrp="1"/>
          </p:cNvSpPr>
          <p:nvPr/>
        </p:nvSpPr>
        <p:spPr>
          <a:xfrm>
            <a:off x="4352544" y="2843784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02</a:t>
            </a:r>
            <a:endParaRPr sz="28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0A22988-4D54-4BB7-B45D-460B57A360C0}"/>
              </a:ext>
            </a:extLst>
          </p:cNvPr>
          <p:cNvSpPr>
            <a:spLocks noGrp="1"/>
          </p:cNvSpPr>
          <p:nvPr/>
        </p:nvSpPr>
        <p:spPr>
          <a:xfrm>
            <a:off x="7278624" y="2843784"/>
            <a:ext cx="0" cy="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158C24E-B2CE-4BE4-AEC6-E0C367B2BBEB}"/>
              </a:ext>
            </a:extLst>
          </p:cNvPr>
          <p:cNvSpPr>
            <a:spLocks noGrp="1"/>
          </p:cNvSpPr>
          <p:nvPr/>
        </p:nvSpPr>
        <p:spPr>
          <a:xfrm>
            <a:off x="7228332" y="2244852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8C58ADF-45AD-41E4-A5E8-D06D411EBF09}"/>
              </a:ext>
            </a:extLst>
          </p:cNvPr>
          <p:cNvSpPr>
            <a:spLocks noGrp="1"/>
          </p:cNvSpPr>
          <p:nvPr/>
        </p:nvSpPr>
        <p:spPr>
          <a:xfrm>
            <a:off x="6112764" y="1353312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3</a:t>
            </a:r>
            <a:endParaRPr sz="25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4FA8F73-7223-4E76-8A24-3EF9AD144FB4}"/>
              </a:ext>
            </a:extLst>
          </p:cNvPr>
          <p:cNvSpPr>
            <a:spLocks noGrp="1"/>
          </p:cNvSpPr>
          <p:nvPr/>
        </p:nvSpPr>
        <p:spPr>
          <a:xfrm>
            <a:off x="6112764" y="1700784"/>
            <a:ext cx="2331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2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Проверьте соединения</a:t>
            </a:r>
            <a:endParaRPr sz="1520"/>
          </a:p>
          <a:p>
            <a:pPr marL="0" indent="0" algn="ctr">
              <a:buNone/>
            </a:pPr>
            <a:r>
              <a:rPr sz="152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и размеры</a:t>
            </a:r>
            <a:endParaRPr sz="152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7C3FF86-4E66-4411-9D4A-1A1B57095FE9}"/>
              </a:ext>
            </a:extLst>
          </p:cNvPr>
          <p:cNvSpPr>
            <a:spLocks noGrp="1"/>
          </p:cNvSpPr>
          <p:nvPr/>
        </p:nvSpPr>
        <p:spPr>
          <a:xfrm>
            <a:off x="6720840" y="2843784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03</a:t>
            </a:r>
            <a:endParaRPr sz="28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132FC10-B30A-46DD-A3EC-4623DD19EA53}"/>
              </a:ext>
            </a:extLst>
          </p:cNvPr>
          <p:cNvSpPr>
            <a:spLocks noGrp="1"/>
          </p:cNvSpPr>
          <p:nvPr/>
        </p:nvSpPr>
        <p:spPr>
          <a:xfrm>
            <a:off x="9646920" y="3959352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2346AE6-7378-4F5C-BEFA-DF24D81A8280}"/>
              </a:ext>
            </a:extLst>
          </p:cNvPr>
          <p:cNvSpPr>
            <a:spLocks noGrp="1"/>
          </p:cNvSpPr>
          <p:nvPr/>
        </p:nvSpPr>
        <p:spPr>
          <a:xfrm>
            <a:off x="9596628" y="4457700"/>
            <a:ext cx="100584" cy="100584"/>
          </a:xfrm>
          <a:prstGeom prst="ellipse">
            <a:avLst/>
          </a:prstGeom>
          <a:solidFill>
            <a:srgbClr val="F5340B"/>
          </a:solidFill>
          <a:ln w="12700">
            <a:solidFill>
              <a:srgbClr val="DE4A42">
                <a:alpha val="0"/>
              </a:srgbClr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6DB1E76-46F0-44EC-86AF-EB19850C0D4B}"/>
              </a:ext>
            </a:extLst>
          </p:cNvPr>
          <p:cNvSpPr>
            <a:spLocks noGrp="1"/>
          </p:cNvSpPr>
          <p:nvPr/>
        </p:nvSpPr>
        <p:spPr>
          <a:xfrm>
            <a:off x="8481060" y="4626864"/>
            <a:ext cx="2331720" cy="30175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67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Шаг 4</a:t>
            </a:r>
            <a:endParaRPr sz="25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59DB544-9C65-4663-9969-A53C8983C85D}"/>
              </a:ext>
            </a:extLst>
          </p:cNvPr>
          <p:cNvSpPr>
            <a:spLocks noGrp="1"/>
          </p:cNvSpPr>
          <p:nvPr/>
        </p:nvSpPr>
        <p:spPr>
          <a:xfrm>
            <a:off x="8481060" y="4983480"/>
            <a:ext cx="23317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52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Настройте параметры</a:t>
            </a:r>
            <a:endParaRPr sz="1520"/>
          </a:p>
          <a:p>
            <a:pPr marL="0" indent="0" algn="ctr">
              <a:buNone/>
            </a:pPr>
            <a:r>
              <a:rPr sz="152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и запустите работу</a:t>
            </a:r>
            <a:endParaRPr sz="152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3DB59B8-295B-4911-B218-AC6DA75B0760}"/>
              </a:ext>
            </a:extLst>
          </p:cNvPr>
          <p:cNvSpPr>
            <a:spLocks noGrp="1"/>
          </p:cNvSpPr>
          <p:nvPr/>
        </p:nvSpPr>
        <p:spPr>
          <a:xfrm>
            <a:off x="9089136" y="2843784"/>
            <a:ext cx="1115568" cy="1115568"/>
          </a:xfrm>
          <a:prstGeom prst="ellipse">
            <a:avLst/>
          </a:prstGeom>
          <a:solidFill>
            <a:srgbClr val="64E46D"/>
          </a:solidFill>
          <a:ln w="114300">
            <a:solidFill>
              <a:srgbClr val="F534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Bahnschrift SemiBold Condensed"/>
                <a:ea typeface="Bahnschrift SemiBold Condensed"/>
                <a:cs typeface="Bahnschrift SemiBold Condensed"/>
              </a:rPr>
              <a:t>04</a:t>
            </a:r>
            <a:endParaRPr sz="280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F1A1062-418D-4154-93DF-5D19DFA4AB65}"/>
              </a:ext>
            </a:extLst>
          </p:cNvPr>
          <p:cNvSpPr>
            <a:spLocks noGrp="1"/>
          </p:cNvSpPr>
          <p:nvPr/>
        </p:nvSpPr>
        <p:spPr>
          <a:xfrm>
            <a:off x="91440" y="777240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E016F1E-38CD-483F-AEB7-4B362D8642FA}"/>
              </a:ext>
            </a:extLst>
          </p:cNvPr>
          <p:cNvSpPr>
            <a:spLocks noGrp="1"/>
          </p:cNvSpPr>
          <p:nvPr/>
        </p:nvSpPr>
        <p:spPr>
          <a:xfrm>
            <a:off x="91440" y="1435608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86E4DF3-6469-4C25-BFB2-FE52E91FDFB4}"/>
              </a:ext>
            </a:extLst>
          </p:cNvPr>
          <p:cNvSpPr>
            <a:spLocks noGrp="1"/>
          </p:cNvSpPr>
          <p:nvPr/>
        </p:nvSpPr>
        <p:spPr>
          <a:xfrm>
            <a:off x="91440" y="2093976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8818E3C-32D7-4B81-B261-A662AF9AF710}"/>
              </a:ext>
            </a:extLst>
          </p:cNvPr>
          <p:cNvSpPr>
            <a:spLocks noGrp="1"/>
          </p:cNvSpPr>
          <p:nvPr/>
        </p:nvSpPr>
        <p:spPr>
          <a:xfrm>
            <a:off x="2234301" y="3321699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A4543191-2316-419A-BBD8-B5BB33E0FBBA}"/>
              </a:ext>
            </a:extLst>
          </p:cNvPr>
          <p:cNvSpPr>
            <a:spLocks noGrp="1"/>
          </p:cNvSpPr>
          <p:nvPr/>
        </p:nvSpPr>
        <p:spPr>
          <a:xfrm>
            <a:off x="-110861" y="3321699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B2BCE81-5177-4966-83C4-D508CD279D3F}"/>
              </a:ext>
            </a:extLst>
          </p:cNvPr>
          <p:cNvSpPr>
            <a:spLocks noGrp="1"/>
          </p:cNvSpPr>
          <p:nvPr/>
        </p:nvSpPr>
        <p:spPr>
          <a:xfrm>
            <a:off x="91440" y="4069080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164BCE5-3871-4C72-AD4E-137C31CA001E}"/>
              </a:ext>
            </a:extLst>
          </p:cNvPr>
          <p:cNvSpPr>
            <a:spLocks noGrp="1"/>
          </p:cNvSpPr>
          <p:nvPr/>
        </p:nvSpPr>
        <p:spPr>
          <a:xfrm>
            <a:off x="91440" y="4727448"/>
            <a:ext cx="11887200" cy="0"/>
          </a:xfrm>
          <a:prstGeom prst="line">
            <a:avLst/>
          </a:prstGeom>
          <a:noFill/>
          <a:ln w="317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18671947-66B1-4C9C-B5AD-5408DDA4DCBF}"/>
              </a:ext>
            </a:extLst>
          </p:cNvPr>
          <p:cNvSpPr>
            <a:spLocks noGrp="1"/>
          </p:cNvSpPr>
          <p:nvPr/>
        </p:nvSpPr>
        <p:spPr>
          <a:xfrm>
            <a:off x="2548587" y="2295144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8E87DF31-0CCE-4FEB-892E-C71EB7DA01C2}"/>
              </a:ext>
            </a:extLst>
          </p:cNvPr>
          <p:cNvSpPr>
            <a:spLocks noGrp="1"/>
          </p:cNvSpPr>
          <p:nvPr/>
        </p:nvSpPr>
        <p:spPr>
          <a:xfrm>
            <a:off x="7286312" y="2340419"/>
            <a:ext cx="0" cy="548640"/>
          </a:xfrm>
          <a:prstGeom prst="line">
            <a:avLst/>
          </a:prstGeom>
          <a:noFill/>
          <a:ln w="17780">
            <a:solidFill>
              <a:srgbClr val="F5340B"/>
            </a:solidFill>
            <a:prstDash val="solid"/>
            <a:headEnd type="none"/>
            <a:tailEnd type="none"/>
          </a:ln>
        </p:spPr>
      </p:sp>
      <p:pic>
        <p:nvPicPr>
          <p:cNvPr id="40" name="Рисунок 2">
            <a:extLst>
              <a:ext uri="{FF2B5EF4-FFF2-40B4-BE49-F238E27FC236}">
                <a16:creationId xmlns:a16="http://schemas.microsoft.com/office/drawing/2014/main" id="{EB580851-6D8D-49DB-8D6D-D208D6B98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6599" y="7427295"/>
            <a:ext cx="1857375" cy="1857375"/>
          </a:xfrm>
          <a:prstGeom prst="rect">
            <a:avLst/>
          </a:prstGeom>
        </p:spPr>
      </p:pic>
      <p:pic>
        <p:nvPicPr>
          <p:cNvPr id="43" name="Рисунок 4">
            <a:extLst>
              <a:ext uri="{FF2B5EF4-FFF2-40B4-BE49-F238E27FC236}">
                <a16:creationId xmlns:a16="http://schemas.microsoft.com/office/drawing/2014/main" id="{C4A74141-5162-4056-A966-13A2353FB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59113" y="-130969"/>
            <a:ext cx="2419350" cy="2419350"/>
          </a:xfrm>
          <a:prstGeom prst="rect">
            <a:avLst/>
          </a:prstGeom>
        </p:spPr>
      </p:pic>
      <p:pic>
        <p:nvPicPr>
          <p:cNvPr id="44" name="Рисунок 6">
            <a:extLst>
              <a:ext uri="{FF2B5EF4-FFF2-40B4-BE49-F238E27FC236}">
                <a16:creationId xmlns:a16="http://schemas.microsoft.com/office/drawing/2014/main" id="{7B25B6A4-69FE-4860-AAA1-ADA82DDCA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11145" y="5175907"/>
            <a:ext cx="1790700" cy="1790700"/>
          </a:xfrm>
          <a:prstGeom prst="rect">
            <a:avLst/>
          </a:prstGeom>
        </p:spPr>
      </p:pic>
      <p:pic>
        <p:nvPicPr>
          <p:cNvPr id="45" name="Рисунок 8">
            <a:extLst>
              <a:ext uri="{FF2B5EF4-FFF2-40B4-BE49-F238E27FC236}">
                <a16:creationId xmlns:a16="http://schemas.microsoft.com/office/drawing/2014/main" id="{B5A4E149-0A30-41E5-AC5B-B78991D0A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53336" y="4702539"/>
            <a:ext cx="1257300" cy="1257300"/>
          </a:xfrm>
          <a:prstGeom prst="rect">
            <a:avLst/>
          </a:prstGeom>
        </p:spPr>
      </p:pic>
      <p:pic>
        <p:nvPicPr>
          <p:cNvPr id="46" name="Рисунок 10">
            <a:extLst>
              <a:ext uri="{FF2B5EF4-FFF2-40B4-BE49-F238E27FC236}">
                <a16:creationId xmlns:a16="http://schemas.microsoft.com/office/drawing/2014/main" id="{34F94F62-9BC2-4929-A0E3-DCBD0B9B2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8378" y="7265370"/>
            <a:ext cx="2019300" cy="2019300"/>
          </a:xfrm>
          <a:prstGeom prst="rect">
            <a:avLst/>
          </a:prstGeom>
        </p:spPr>
      </p:pic>
      <p:pic>
        <p:nvPicPr>
          <p:cNvPr id="47" name="Рисунок 12">
            <a:extLst>
              <a:ext uri="{FF2B5EF4-FFF2-40B4-BE49-F238E27FC236}">
                <a16:creationId xmlns:a16="http://schemas.microsoft.com/office/drawing/2014/main" id="{9F27FFA8-69E0-417F-9063-5E23A5C7C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77678" y="-2162237"/>
            <a:ext cx="2305050" cy="2305050"/>
          </a:xfrm>
          <a:prstGeom prst="rect">
            <a:avLst/>
          </a:prstGeom>
        </p:spPr>
      </p:pic>
      <p:pic>
        <p:nvPicPr>
          <p:cNvPr id="48" name="Рисунок 14">
            <a:extLst>
              <a:ext uri="{FF2B5EF4-FFF2-40B4-BE49-F238E27FC236}">
                <a16:creationId xmlns:a16="http://schemas.microsoft.com/office/drawing/2014/main" id="{7EDD5D99-CE6A-4549-9FDE-A9B6FA8E2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270735" y="6966607"/>
            <a:ext cx="3714750" cy="3714750"/>
          </a:xfrm>
          <a:prstGeom prst="rect">
            <a:avLst/>
          </a:prstGeom>
        </p:spPr>
      </p:pic>
      <p:pic>
        <p:nvPicPr>
          <p:cNvPr id="49" name="Рисунок 16">
            <a:extLst>
              <a:ext uri="{FF2B5EF4-FFF2-40B4-BE49-F238E27FC236}">
                <a16:creationId xmlns:a16="http://schemas.microsoft.com/office/drawing/2014/main" id="{A19F9FCA-7061-45AE-8BDD-CA3E453622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644507" y="2827269"/>
            <a:ext cx="2257425" cy="2257425"/>
          </a:xfrm>
          <a:prstGeom prst="rect">
            <a:avLst/>
          </a:prstGeom>
        </p:spPr>
      </p:pic>
      <p:pic>
        <p:nvPicPr>
          <p:cNvPr id="50" name="Рисунок 18">
            <a:extLst>
              <a:ext uri="{FF2B5EF4-FFF2-40B4-BE49-F238E27FC236}">
                <a16:creationId xmlns:a16="http://schemas.microsoft.com/office/drawing/2014/main" id="{40F253BA-FC8A-4CAE-8125-55C455681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2454" y="-3302794"/>
            <a:ext cx="3124200" cy="3124200"/>
          </a:xfrm>
          <a:prstGeom prst="rect">
            <a:avLst/>
          </a:prstGeom>
        </p:spPr>
      </p:pic>
      <p:pic>
        <p:nvPicPr>
          <p:cNvPr id="51" name="Рисунок 20">
            <a:extLst>
              <a:ext uri="{FF2B5EF4-FFF2-40B4-BE49-F238E27FC236}">
                <a16:creationId xmlns:a16="http://schemas.microsoft.com/office/drawing/2014/main" id="{BBCFC224-5FF8-4DC9-A4E9-93B1A199A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1391677" y="5704441"/>
            <a:ext cx="2019300" cy="2019300"/>
          </a:xfrm>
          <a:prstGeom prst="rect">
            <a:avLst/>
          </a:prstGeom>
        </p:spPr>
      </p:pic>
      <p:pic>
        <p:nvPicPr>
          <p:cNvPr id="52" name="Рисунок 22">
            <a:extLst>
              <a:ext uri="{FF2B5EF4-FFF2-40B4-BE49-F238E27FC236}">
                <a16:creationId xmlns:a16="http://schemas.microsoft.com/office/drawing/2014/main" id="{5FE5AB7B-6F2A-463A-8A92-F4BDA144F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6002" y="7655895"/>
            <a:ext cx="1238250" cy="1238250"/>
          </a:xfrm>
          <a:prstGeom prst="rect">
            <a:avLst/>
          </a:prstGeom>
        </p:spPr>
      </p:pic>
      <p:pic>
        <p:nvPicPr>
          <p:cNvPr id="53" name="Рисунок 24">
            <a:extLst>
              <a:ext uri="{FF2B5EF4-FFF2-40B4-BE49-F238E27FC236}">
                <a16:creationId xmlns:a16="http://schemas.microsoft.com/office/drawing/2014/main" id="{112896A2-4CA1-46BE-8951-B301191FA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3210225" y="-578644"/>
            <a:ext cx="3314700" cy="33147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8C3B0C90-7A0B-40F1-8AD9-ED40D1245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66599" y="-2170509"/>
            <a:ext cx="1609725" cy="1609725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87150827-EABC-412B-AE72-CAED65FC8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22118" y="-2162237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50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Разделител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7400" y="-1670050"/>
            <a:ext cx="2260600" cy="2260600"/>
          </a:xfrm>
          <a:prstGeom prst="rect">
            <a:avLst/>
          </a:prstGeom>
        </p:spPr>
      </p:pic>
      <p:pic>
        <p:nvPicPr>
          <p:cNvPr id="11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2350" y="5930900"/>
            <a:ext cx="2235200" cy="2235200"/>
          </a:xfrm>
          <a:prstGeom prst="rect">
            <a:avLst/>
          </a:prstGeom>
        </p:spPr>
      </p:pic>
      <p:pic>
        <p:nvPicPr>
          <p:cNvPr id="12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670050" y="1847850"/>
            <a:ext cx="2698750" cy="2698750"/>
          </a:xfrm>
          <a:prstGeom prst="rect">
            <a:avLst/>
          </a:prstGeom>
        </p:spPr>
      </p:pic>
      <p:pic>
        <p:nvPicPr>
          <p:cNvPr id="13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9050" y="3740150"/>
            <a:ext cx="2413000" cy="2413000"/>
          </a:xfrm>
          <a:prstGeom prst="rect">
            <a:avLst/>
          </a:prstGeom>
        </p:spPr>
      </p:pic>
      <p:pic>
        <p:nvPicPr>
          <p:cNvPr id="14" name="Шестерня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8350" y="-889000"/>
            <a:ext cx="3492500" cy="3492500"/>
          </a:xfrm>
          <a:prstGeom prst="rect">
            <a:avLst/>
          </a:prstGeom>
        </p:spPr>
      </p:pic>
      <p:pic>
        <p:nvPicPr>
          <p:cNvPr id="15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3050" y="-2197100"/>
            <a:ext cx="3175000" cy="3175000"/>
          </a:xfrm>
          <a:prstGeom prst="rect">
            <a:avLst/>
          </a:prstGeom>
        </p:spPr>
      </p:pic>
      <p:pic>
        <p:nvPicPr>
          <p:cNvPr id="16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71100" y="6134100"/>
            <a:ext cx="2120900" cy="2120900"/>
          </a:xfrm>
          <a:prstGeom prst="rect">
            <a:avLst/>
          </a:prstGeom>
        </p:spPr>
      </p:pic>
      <p:pic>
        <p:nvPicPr>
          <p:cNvPr id="17" name="Логотип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sp>
        <p:nvSpPr>
          <p:cNvPr id="18" name="Акцентная линия"/>
          <p:cNvSpPr/>
          <p:nvPr/>
        </p:nvSpPr>
        <p:spPr>
          <a:xfrm>
            <a:off x="1581150" y="0"/>
            <a:ext cx="0" cy="29337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Текст 1"/>
          <p:cNvSpPr txBox="1"/>
          <p:nvPr/>
        </p:nvSpPr>
        <p:spPr>
          <a:xfrm>
            <a:off x="1746250" y="2527300"/>
            <a:ext cx="2387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700" b="1" spc="15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LAYOUT LAYER · ТИР 1</a:t>
            </a:r>
          </a:p>
        </p:txBody>
      </p:sp>
      <p:sp>
        <p:nvSpPr>
          <p:cNvPr id="20" name="Текст 2"/>
          <p:cNvSpPr txBox="1"/>
          <p:nvPr/>
        </p:nvSpPr>
        <p:spPr>
          <a:xfrm>
            <a:off x="1746250" y="2819400"/>
            <a:ext cx="8255000" cy="144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55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БИБЛИОТЕКА КОМПОЗИЦИЙ</a:t>
            </a:r>
          </a:p>
        </p:txBody>
      </p:sp>
      <p:sp>
        <p:nvSpPr>
          <p:cNvPr id="21" name="Текст 3"/>
          <p:cNvSpPr txBox="1"/>
          <p:nvPr/>
        </p:nvSpPr>
        <p:spPr>
          <a:xfrm>
            <a:off x="1746250" y="3619500"/>
            <a:ext cx="58420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4118"/>
              </a:lnSpc>
              <a:buNone/>
            </a:pPr>
            <a:r>
              <a:rPr lang="ru-RU" sz="17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Одиннадцать композиций первой очереди. Каждая принята тремя объёмами: коротким, на лимите и заведомо избыточным.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.plain · коротк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495550" y="-685800"/>
            <a:ext cx="3676650" cy="3676650"/>
          </a:xfrm>
          <a:prstGeom prst="rect">
            <a:avLst/>
          </a:prstGeom>
        </p:spPr>
      </p:pic>
      <p:pic>
        <p:nvPicPr>
          <p:cNvPr id="11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12550" y="3384550"/>
            <a:ext cx="3530600" cy="3530600"/>
          </a:xfrm>
          <a:prstGeom prst="rect">
            <a:avLst/>
          </a:prstGeom>
        </p:spPr>
      </p:pic>
      <p:pic>
        <p:nvPicPr>
          <p:cNvPr id="12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4150" y="5689600"/>
            <a:ext cx="2825750" cy="2825750"/>
          </a:xfrm>
          <a:prstGeom prst="rect">
            <a:avLst/>
          </a:prstGeom>
        </p:spPr>
      </p:pic>
      <p:pic>
        <p:nvPicPr>
          <p:cNvPr id="13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3650" y="-1003300"/>
            <a:ext cx="1289050" cy="1289050"/>
          </a:xfrm>
          <a:prstGeom prst="rect">
            <a:avLst/>
          </a:prstGeom>
        </p:spPr>
      </p:pic>
      <p:pic>
        <p:nvPicPr>
          <p:cNvPr id="14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000" y="-2089150"/>
            <a:ext cx="2736850" cy="2736850"/>
          </a:xfrm>
          <a:prstGeom prst="rect">
            <a:avLst/>
          </a:prstGeom>
        </p:spPr>
      </p:pic>
      <p:pic>
        <p:nvPicPr>
          <p:cNvPr id="15" name="Шестерня 2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42700" y="3670300"/>
            <a:ext cx="2000250" cy="2000250"/>
          </a:xfrm>
          <a:prstGeom prst="rect">
            <a:avLst/>
          </a:prstGeom>
        </p:spPr>
      </p:pic>
      <p:pic>
        <p:nvPicPr>
          <p:cNvPr id="16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921000"/>
            <a:ext cx="8890000" cy="1054100"/>
          </a:xfrm>
          <a:prstGeom prst="rect">
            <a:avLst/>
          </a:prstGeom>
        </p:spPr>
      </p:pic>
      <p:sp>
        <p:nvSpPr>
          <p:cNvPr id="18" name="Акцентная линия"/>
          <p:cNvSpPr/>
          <p:nvPr/>
        </p:nvSpPr>
        <p:spPr>
          <a:xfrm>
            <a:off x="469900" y="0"/>
            <a:ext cx="0" cy="25654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Текст 1"/>
          <p:cNvSpPr txBox="1"/>
          <p:nvPr/>
        </p:nvSpPr>
        <p:spPr>
          <a:xfrm>
            <a:off x="635000" y="2222500"/>
            <a:ext cx="8890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ПЕРВЫЙ ЧАС СМЕНЫ</a:t>
            </a:r>
          </a:p>
        </p:txBody>
      </p:sp>
      <p:sp>
        <p:nvSpPr>
          <p:cNvPr id="20" name="Текст 2"/>
          <p:cNvSpPr txBox="1"/>
          <p:nvPr/>
        </p:nvSpPr>
        <p:spPr>
          <a:xfrm>
            <a:off x="1117600" y="3276600"/>
            <a:ext cx="7924800" cy="393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8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Решения мастера в первый час смены определяют весь день участка.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.plain · на лимит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40000" y="4241800"/>
            <a:ext cx="3429000" cy="3429000"/>
          </a:xfrm>
          <a:prstGeom prst="rect">
            <a:avLst/>
          </a:prstGeom>
        </p:spPr>
      </p:pic>
      <p:pic>
        <p:nvPicPr>
          <p:cNvPr id="11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36100" y="-2279650"/>
            <a:ext cx="2819400" cy="2819400"/>
          </a:xfrm>
          <a:prstGeom prst="rect">
            <a:avLst/>
          </a:prstGeom>
        </p:spPr>
      </p:pic>
      <p:pic>
        <p:nvPicPr>
          <p:cNvPr id="12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79250" y="4527550"/>
            <a:ext cx="2679700" cy="2679700"/>
          </a:xfrm>
          <a:prstGeom prst="rect">
            <a:avLst/>
          </a:prstGeom>
        </p:spPr>
      </p:pic>
      <p:pic>
        <p:nvPicPr>
          <p:cNvPr id="13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4450" y="6019800"/>
            <a:ext cx="2266950" cy="2266950"/>
          </a:xfrm>
          <a:prstGeom prst="rect">
            <a:avLst/>
          </a:prstGeom>
        </p:spPr>
      </p:pic>
      <p:pic>
        <p:nvPicPr>
          <p:cNvPr id="14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-2082800"/>
            <a:ext cx="3409950" cy="3409950"/>
          </a:xfrm>
          <a:prstGeom prst="rect">
            <a:avLst/>
          </a:prstGeom>
        </p:spPr>
      </p:pic>
      <p:pic>
        <p:nvPicPr>
          <p:cNvPr id="15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" y="5918200"/>
            <a:ext cx="2946400" cy="2946400"/>
          </a:xfrm>
          <a:prstGeom prst="rect">
            <a:avLst/>
          </a:prstGeom>
        </p:spPr>
      </p:pic>
      <p:pic>
        <p:nvPicPr>
          <p:cNvPr id="16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82450" y="1752600"/>
            <a:ext cx="1009650" cy="1009650"/>
          </a:xfrm>
          <a:prstGeom prst="rect">
            <a:avLst/>
          </a:prstGeom>
        </p:spPr>
      </p:pic>
      <p:pic>
        <p:nvPicPr>
          <p:cNvPr id="17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905000"/>
            <a:ext cx="10922000" cy="2844800"/>
          </a:xfrm>
          <a:prstGeom prst="rect">
            <a:avLst/>
          </a:prstGeom>
        </p:spPr>
      </p:pic>
      <p:sp>
        <p:nvSpPr>
          <p:cNvPr id="19" name="Акцентная линия"/>
          <p:cNvSpPr/>
          <p:nvPr/>
        </p:nvSpPr>
        <p:spPr>
          <a:xfrm>
            <a:off x="469900" y="0"/>
            <a:ext cx="0" cy="1562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/>
          <p:cNvSpPr txBox="1"/>
          <p:nvPr/>
        </p:nvSpPr>
        <p:spPr>
          <a:xfrm>
            <a:off x="635000" y="1219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РОЛЬ МАСТЕРА НА УЧАСТКЕ</a:t>
            </a:r>
          </a:p>
        </p:txBody>
      </p:sp>
      <p:sp>
        <p:nvSpPr>
          <p:cNvPr id="21" name="Текст 2"/>
          <p:cNvSpPr txBox="1"/>
          <p:nvPr/>
        </p:nvSpPr>
        <p:spPr>
          <a:xfrm>
            <a:off x="1371600" y="2244725"/>
            <a:ext cx="9201150" cy="2387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Мастер отвечает не только за выполнение сменного плана, но и за то, как работает бригада. Он распределяет задачи между сборщиками, следит за качеством узлов и первым замечает участок, где процесс начинает давать сбой ещё до появления брака.</a:t>
            </a:r>
            <a:b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</a:br>
            <a:endParaRPr lang="ru-RU" sz="1700" b="0" spc="0" dirty="0">
              <a:solidFill>
                <a:srgbClr val="2F3740"/>
              </a:solidFill>
              <a:latin typeface="Nunito"/>
              <a:ea typeface="Nunito"/>
              <a:cs typeface="Nunito"/>
            </a:endParaRPr>
          </a:p>
          <a:p>
            <a:pPr>
              <a:lnSpc>
                <a:spcPct val="120000"/>
              </a:lnSpc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Сильный мастер не тушит пожары в конце смены, а выстраивает работу так, чтобы простои и переделки не появлялись вовсе. Он проверяет комплектность, разводит людей по операциям и держит темп, не подгоняя бригаду в последний час.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700" b="0" spc="0" dirty="0">
              <a:solidFill>
                <a:srgbClr val="2F374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2" name="Текст 3"/>
          <p:cNvSpPr txBox="1"/>
          <p:nvPr/>
        </p:nvSpPr>
        <p:spPr>
          <a:xfrm>
            <a:off x="1117600" y="3422650"/>
            <a:ext cx="9956800" cy="1022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endParaRPr lang="ru-RU" sz="1700" b="0" spc="0" dirty="0">
              <a:solidFill>
                <a:srgbClr val="2F3740"/>
              </a:solidFill>
              <a:latin typeface="Nunito"/>
              <a:ea typeface="Nunito"/>
              <a:cs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.plain · избыто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1400" y="-1219200"/>
            <a:ext cx="1809750" cy="1809750"/>
          </a:xfrm>
          <a:prstGeom prst="rect">
            <a:avLst/>
          </a:prstGeom>
        </p:spPr>
      </p:pic>
      <p:pic>
        <p:nvPicPr>
          <p:cNvPr id="11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79150" y="-1136650"/>
            <a:ext cx="3117850" cy="3117850"/>
          </a:xfrm>
          <a:prstGeom prst="rect">
            <a:avLst/>
          </a:prstGeom>
        </p:spPr>
      </p:pic>
      <p:pic>
        <p:nvPicPr>
          <p:cNvPr id="12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6650" y="6584950"/>
            <a:ext cx="1339850" cy="1339850"/>
          </a:xfrm>
          <a:prstGeom prst="rect">
            <a:avLst/>
          </a:prstGeom>
        </p:spPr>
      </p:pic>
      <p:pic>
        <p:nvPicPr>
          <p:cNvPr id="13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82100" y="-2171700"/>
            <a:ext cx="2876550" cy="2876550"/>
          </a:xfrm>
          <a:prstGeom prst="rect">
            <a:avLst/>
          </a:prstGeom>
        </p:spPr>
      </p:pic>
      <p:pic>
        <p:nvPicPr>
          <p:cNvPr id="14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270000" y="-139700"/>
            <a:ext cx="1847850" cy="1847850"/>
          </a:xfrm>
          <a:prstGeom prst="rect">
            <a:avLst/>
          </a:prstGeom>
        </p:spPr>
      </p:pic>
      <p:pic>
        <p:nvPicPr>
          <p:cNvPr id="15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85550" y="4927600"/>
            <a:ext cx="2082800" cy="2082800"/>
          </a:xfrm>
          <a:prstGeom prst="rect">
            <a:avLst/>
          </a:prstGeom>
        </p:spPr>
      </p:pic>
      <p:pic>
        <p:nvPicPr>
          <p:cNvPr id="16" name="Шестерня 3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29800" y="6534150"/>
            <a:ext cx="1384300" cy="1384300"/>
          </a:xfrm>
          <a:prstGeom prst="rect">
            <a:avLst/>
          </a:prstGeom>
        </p:spPr>
      </p:pic>
      <p:pic>
        <p:nvPicPr>
          <p:cNvPr id="17" name="Логотип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" y="1905000"/>
            <a:ext cx="10922000" cy="2844800"/>
          </a:xfrm>
          <a:prstGeom prst="rect">
            <a:avLst/>
          </a:prstGeom>
        </p:spPr>
      </p:pic>
      <p:sp>
        <p:nvSpPr>
          <p:cNvPr id="19" name="Акцентная линия"/>
          <p:cNvSpPr/>
          <p:nvPr/>
        </p:nvSpPr>
        <p:spPr>
          <a:xfrm>
            <a:off x="469900" y="0"/>
            <a:ext cx="0" cy="1562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/>
          <p:cNvSpPr txBox="1"/>
          <p:nvPr/>
        </p:nvSpPr>
        <p:spPr>
          <a:xfrm>
            <a:off x="635000" y="1219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РОЛЬ МАСТЕРА НА УЧАСТКЕ</a:t>
            </a:r>
          </a:p>
        </p:txBody>
      </p:sp>
      <p:sp>
        <p:nvSpPr>
          <p:cNvPr id="21" name="Текст 2"/>
          <p:cNvSpPr txBox="1"/>
          <p:nvPr/>
        </p:nvSpPr>
        <p:spPr>
          <a:xfrm>
            <a:off x="1117600" y="2260600"/>
            <a:ext cx="9956800" cy="4584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Мастер отвечает не только за выполнение сменного плана, но и за то, как работает бригада: он распределяет задачи между сборщиками с учётом их квалификации и допусков, следит за качеством узлов на каждой промежуточной операции, ведёт журнал, разбирает возвраты от контроля, объясняет новичкам порядок затяжки и первым замечает тот участок, где процесс начинает давать сбой ещё до появления брака, потому что видит смену целиком, а не отдельную операцию, и понимает, что любая потерянная в начале смены минута к вечеру превращается в час переделок и сорванный план по всей линии, а разбирать этот план придётся уже не с бригадой, которая ушла домой, а с начальником производства на утренней планёрке, где счёт идёт не в минутах, а в непогруженных секциях и в объяснениях, почему участок второй раз за месяц не закрыл сменное задание в срок, хотя сам мастер за смену не сделал ни одной ошибки: он просто не успел пройти по стендам в первый час, потому что одновременно принимал участок, искал кладовщика и подписывал наряд за предыдущую смену, а когда у него освободились руки, бригада уже собрала два узла по старой версии чертежа и отправила их на окраску.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.image · коротк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2100" y="5949950"/>
            <a:ext cx="2660650" cy="2660650"/>
          </a:xfrm>
          <a:prstGeom prst="rect">
            <a:avLst/>
          </a:prstGeom>
        </p:spPr>
      </p:pic>
      <p:pic>
        <p:nvPicPr>
          <p:cNvPr id="11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76550" y="-1485900"/>
            <a:ext cx="1720850" cy="1720850"/>
          </a:xfrm>
          <a:prstGeom prst="rect">
            <a:avLst/>
          </a:prstGeom>
        </p:spPr>
      </p:pic>
      <p:pic>
        <p:nvPicPr>
          <p:cNvPr id="12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49100" y="1377950"/>
            <a:ext cx="1371600" cy="1371600"/>
          </a:xfrm>
          <a:prstGeom prst="rect">
            <a:avLst/>
          </a:prstGeom>
        </p:spPr>
      </p:pic>
      <p:pic>
        <p:nvPicPr>
          <p:cNvPr id="13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819150" y="5099050"/>
            <a:ext cx="1123950" cy="1123950"/>
          </a:xfrm>
          <a:prstGeom prst="rect">
            <a:avLst/>
          </a:prstGeom>
        </p:spPr>
      </p:pic>
      <p:pic>
        <p:nvPicPr>
          <p:cNvPr id="14" name="Шестерня 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26650" y="-1289050"/>
            <a:ext cx="1530350" cy="1530350"/>
          </a:xfrm>
          <a:prstGeom prst="rect">
            <a:avLst/>
          </a:prstGeom>
        </p:spPr>
      </p:pic>
      <p:pic>
        <p:nvPicPr>
          <p:cNvPr id="15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6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4000" y="2463800"/>
            <a:ext cx="5588000" cy="1397000"/>
          </a:xfrm>
          <a:prstGeom prst="rect">
            <a:avLst/>
          </a:prstGeom>
        </p:spPr>
      </p:pic>
      <p:sp>
        <p:nvSpPr>
          <p:cNvPr id="17" name="Место под изображение"/>
          <p:cNvSpPr/>
          <p:nvPr/>
        </p:nvSpPr>
        <p:spPr>
          <a:xfrm>
            <a:off x="635000" y="2463800"/>
            <a:ext cx="4318000" cy="2794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Акцентная линия"/>
          <p:cNvSpPr/>
          <p:nvPr/>
        </p:nvSpPr>
        <p:spPr>
          <a:xfrm>
            <a:off x="469900" y="0"/>
            <a:ext cx="0" cy="18923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Текст 1"/>
          <p:cNvSpPr txBox="1"/>
          <p:nvPr/>
        </p:nvSpPr>
        <p:spPr>
          <a:xfrm>
            <a:off x="635000" y="1549400"/>
            <a:ext cx="8890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КРЕПЁЖ ПО ОПЕРАЦИЯМ</a:t>
            </a:r>
          </a:p>
        </p:txBody>
      </p:sp>
      <p:sp>
        <p:nvSpPr>
          <p:cNvPr id="20" name="Текст 2"/>
          <p:cNvSpPr txBox="1"/>
          <p:nvPr/>
        </p:nvSpPr>
        <p:spPr>
          <a:xfrm>
            <a:off x="819150" y="4806950"/>
            <a:ext cx="141605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1250"/>
              </a:lnSpc>
              <a:buNone/>
            </a:pPr>
            <a:r>
              <a:rPr lang="ru-RU" sz="1600" b="0" spc="50" dirty="0">
                <a:solidFill>
                  <a:srgbClr val="6E767F"/>
                </a:solidFill>
                <a:latin typeface="Consolas"/>
                <a:ea typeface="Consolas"/>
                <a:cs typeface="Consolas"/>
              </a:rPr>
              <a:t>IMAGE · 40 %</a:t>
            </a:r>
          </a:p>
        </p:txBody>
      </p:sp>
      <p:sp>
        <p:nvSpPr>
          <p:cNvPr id="21" name="Текст 3"/>
          <p:cNvSpPr txBox="1"/>
          <p:nvPr/>
        </p:nvSpPr>
        <p:spPr>
          <a:xfrm>
            <a:off x="5791200" y="2819400"/>
            <a:ext cx="4673600" cy="736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8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Крепёж раскладывают по операциям до начала сборки, а не ищут в общем ящике.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.image · на лимит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0550" y="-958850"/>
            <a:ext cx="1149350" cy="1149350"/>
          </a:xfrm>
          <a:prstGeom prst="rect">
            <a:avLst/>
          </a:prstGeom>
        </p:spPr>
      </p:pic>
      <p:pic>
        <p:nvPicPr>
          <p:cNvPr id="11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3300" y="6165850"/>
            <a:ext cx="2603500" cy="2603500"/>
          </a:xfrm>
          <a:prstGeom prst="rect">
            <a:avLst/>
          </a:prstGeom>
        </p:spPr>
      </p:pic>
      <p:pic>
        <p:nvPicPr>
          <p:cNvPr id="12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9600" y="-1403350"/>
            <a:ext cx="1860550" cy="1860550"/>
          </a:xfrm>
          <a:prstGeom prst="rect">
            <a:avLst/>
          </a:prstGeom>
        </p:spPr>
      </p:pic>
      <p:pic>
        <p:nvPicPr>
          <p:cNvPr id="13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91850" y="4667250"/>
            <a:ext cx="3022600" cy="3022600"/>
          </a:xfrm>
          <a:prstGeom prst="rect">
            <a:avLst/>
          </a:prstGeom>
        </p:spPr>
      </p:pic>
      <p:pic>
        <p:nvPicPr>
          <p:cNvPr id="14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485900" y="25400"/>
            <a:ext cx="2400300" cy="2400300"/>
          </a:xfrm>
          <a:prstGeom prst="rect">
            <a:avLst/>
          </a:prstGeom>
        </p:spPr>
      </p:pic>
      <p:pic>
        <p:nvPicPr>
          <p:cNvPr id="15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6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1828800"/>
            <a:ext cx="6540500" cy="3816350"/>
          </a:xfrm>
          <a:prstGeom prst="rect">
            <a:avLst/>
          </a:prstGeom>
        </p:spPr>
      </p:pic>
      <p:sp>
        <p:nvSpPr>
          <p:cNvPr id="17" name="Место под изображение"/>
          <p:cNvSpPr/>
          <p:nvPr/>
        </p:nvSpPr>
        <p:spPr>
          <a:xfrm>
            <a:off x="7556500" y="1828800"/>
            <a:ext cx="4000500" cy="3556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Акцентная линия"/>
          <p:cNvSpPr/>
          <p:nvPr/>
        </p:nvSpPr>
        <p:spPr>
          <a:xfrm>
            <a:off x="469900" y="0"/>
            <a:ext cx="0" cy="14097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Текст 1"/>
          <p:cNvSpPr txBox="1"/>
          <p:nvPr/>
        </p:nvSpPr>
        <p:spPr>
          <a:xfrm>
            <a:off x="635000" y="1066800"/>
            <a:ext cx="7620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РАСКЛАДКА КРЕПЕЖА</a:t>
            </a:r>
          </a:p>
        </p:txBody>
      </p:sp>
      <p:sp>
        <p:nvSpPr>
          <p:cNvPr id="20" name="Текст 2"/>
          <p:cNvSpPr txBox="1"/>
          <p:nvPr/>
        </p:nvSpPr>
        <p:spPr>
          <a:xfrm>
            <a:off x="1092200" y="2184400"/>
            <a:ext cx="5626100" cy="3067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Крепёж раскладывают по операциям до начала сборки. Сборщик берёт готовый набор на операцию и не тратит время на поиск нужного болта в общем ящике, а мастер видит по остатку, какая операция ещё не начата.</a:t>
            </a:r>
            <a:b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</a:br>
            <a:b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</a:b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Крепёж раскладывают по операциям до начала сборки. Сборщик берёт готовый набор на операцию и не тратит время на поиск нужного болта в общем ящике, а мастер видит по остатку, какая операция ещё не начата.</a:t>
            </a:r>
          </a:p>
          <a:p>
            <a:pPr marL="0" indent="0" algn="l">
              <a:lnSpc>
                <a:spcPct val="120000"/>
              </a:lnSpc>
              <a:buNone/>
            </a:pPr>
            <a:endParaRPr lang="ru-RU" sz="1700" b="0" spc="0" dirty="0">
              <a:solidFill>
                <a:srgbClr val="2F3740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2" name="Текст 4"/>
          <p:cNvSpPr txBox="1"/>
          <p:nvPr/>
        </p:nvSpPr>
        <p:spPr>
          <a:xfrm>
            <a:off x="7740650" y="4933950"/>
            <a:ext cx="141605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1250"/>
              </a:lnSpc>
              <a:buNone/>
            </a:pPr>
            <a:r>
              <a:rPr lang="ru-RU" sz="1600" b="0" spc="50" dirty="0">
                <a:solidFill>
                  <a:srgbClr val="6E767F"/>
                </a:solidFill>
                <a:latin typeface="Consolas"/>
                <a:ea typeface="Consolas"/>
                <a:cs typeface="Consolas"/>
              </a:rPr>
              <a:t>IMAGE · 40 %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.image · избыто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073400" y="-793750"/>
            <a:ext cx="3670300" cy="3670300"/>
          </a:xfrm>
          <a:prstGeom prst="rect">
            <a:avLst/>
          </a:prstGeom>
        </p:spPr>
      </p:pic>
      <p:pic>
        <p:nvPicPr>
          <p:cNvPr id="11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8900" y="6330950"/>
            <a:ext cx="1295400" cy="1295400"/>
          </a:xfrm>
          <a:prstGeom prst="rect">
            <a:avLst/>
          </a:prstGeom>
        </p:spPr>
      </p:pic>
      <p:pic>
        <p:nvPicPr>
          <p:cNvPr id="12" name="Шестерня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25200" y="3822700"/>
            <a:ext cx="2857500" cy="2857500"/>
          </a:xfrm>
          <a:prstGeom prst="rect">
            <a:avLst/>
          </a:prstGeom>
        </p:spPr>
      </p:pic>
      <p:pic>
        <p:nvPicPr>
          <p:cNvPr id="13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1200" y="-1244600"/>
            <a:ext cx="1727200" cy="1727200"/>
          </a:xfrm>
          <a:prstGeom prst="rect">
            <a:avLst/>
          </a:prstGeom>
        </p:spPr>
      </p:pic>
      <p:pic>
        <p:nvPicPr>
          <p:cNvPr id="14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3300" y="3371850"/>
            <a:ext cx="2819400" cy="2819400"/>
          </a:xfrm>
          <a:prstGeom prst="rect">
            <a:avLst/>
          </a:prstGeom>
        </p:spPr>
      </p:pic>
      <p:pic>
        <p:nvPicPr>
          <p:cNvPr id="15" name="Шестерня 3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65650" y="-1549400"/>
            <a:ext cx="1885950" cy="1885950"/>
          </a:xfrm>
          <a:prstGeom prst="rect">
            <a:avLst/>
          </a:prstGeom>
        </p:spPr>
      </p:pic>
      <p:pic>
        <p:nvPicPr>
          <p:cNvPr id="16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1828800"/>
            <a:ext cx="6540500" cy="3816350"/>
          </a:xfrm>
          <a:prstGeom prst="rect">
            <a:avLst/>
          </a:prstGeom>
        </p:spPr>
      </p:pic>
      <p:sp>
        <p:nvSpPr>
          <p:cNvPr id="18" name="Место под изображение"/>
          <p:cNvSpPr/>
          <p:nvPr/>
        </p:nvSpPr>
        <p:spPr>
          <a:xfrm>
            <a:off x="7556500" y="1828800"/>
            <a:ext cx="4000500" cy="32512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Акцентная линия"/>
          <p:cNvSpPr/>
          <p:nvPr/>
        </p:nvSpPr>
        <p:spPr>
          <a:xfrm>
            <a:off x="469900" y="0"/>
            <a:ext cx="0" cy="14097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/>
          <p:cNvSpPr txBox="1"/>
          <p:nvPr/>
        </p:nvSpPr>
        <p:spPr>
          <a:xfrm>
            <a:off x="635000" y="1066800"/>
            <a:ext cx="7620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РАСКЛАДКА КРЕПЕЖА</a:t>
            </a:r>
          </a:p>
        </p:txBody>
      </p:sp>
      <p:sp>
        <p:nvSpPr>
          <p:cNvPr id="21" name="Текст 2"/>
          <p:cNvSpPr txBox="1"/>
          <p:nvPr/>
        </p:nvSpPr>
        <p:spPr>
          <a:xfrm>
            <a:off x="1092200" y="2184400"/>
            <a:ext cx="5626100" cy="523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Крепёж раскладывают по операциям до начала сборки, потому что сборщик, который ищет нужный болт в общем ящике, теряет не только своё время, но и темп всей бригады: пока он перебирает метизы, следующая </a:t>
            </a: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операция</a:t>
            </a: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 стоит, контролёр ждёт узел, а мастер вынужден переставлять людей и объяснять кладовщику, почему заявка на смену оказалась неполной, хотя её подписали ещё вчера вечером на планёрке, а кладовщик в ответ покажет спецификацию, по которой комплект собран верно, и разговор уйдёт в переписку между участком, складом и технологами, пока узел стоит на стенде разобранным и занимает единственное место под сборку крупных секций, и к вечеру выяснится, что спецификацию правили дважды, участок работал по первой редакции, а склад выдавал по второй.</a:t>
            </a:r>
          </a:p>
        </p:txBody>
      </p:sp>
      <p:sp>
        <p:nvSpPr>
          <p:cNvPr id="22" name="Текст 3"/>
          <p:cNvSpPr txBox="1"/>
          <p:nvPr/>
        </p:nvSpPr>
        <p:spPr>
          <a:xfrm>
            <a:off x="7740650" y="4629150"/>
            <a:ext cx="141605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1250"/>
              </a:lnSpc>
              <a:buNone/>
            </a:pPr>
            <a:r>
              <a:rPr lang="ru-RU" sz="1600" b="0" spc="50" dirty="0">
                <a:solidFill>
                  <a:srgbClr val="6E767F"/>
                </a:solidFill>
                <a:latin typeface="Consolas"/>
                <a:ea typeface="Consolas"/>
                <a:cs typeface="Consolas"/>
              </a:rPr>
              <a:t>IMAGE · 40 %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.maxim · коротк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3400" y="6648450"/>
            <a:ext cx="1403350" cy="1403350"/>
          </a:xfrm>
          <a:prstGeom prst="rect">
            <a:avLst/>
          </a:prstGeom>
        </p:spPr>
      </p:pic>
      <p:pic>
        <p:nvPicPr>
          <p:cNvPr id="11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050" y="-2038350"/>
            <a:ext cx="2603500" cy="2603500"/>
          </a:xfrm>
          <a:prstGeom prst="rect">
            <a:avLst/>
          </a:prstGeom>
        </p:spPr>
      </p:pic>
      <p:pic>
        <p:nvPicPr>
          <p:cNvPr id="12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228850" y="3695700"/>
            <a:ext cx="2736850" cy="2736850"/>
          </a:xfrm>
          <a:prstGeom prst="rect">
            <a:avLst/>
          </a:prstGeom>
        </p:spPr>
      </p:pic>
      <p:pic>
        <p:nvPicPr>
          <p:cNvPr id="13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10900" y="3575050"/>
            <a:ext cx="2870200" cy="2870200"/>
          </a:xfrm>
          <a:prstGeom prst="rect">
            <a:avLst/>
          </a:prstGeom>
        </p:spPr>
      </p:pic>
      <p:pic>
        <p:nvPicPr>
          <p:cNvPr id="14" name="Шестерня 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7550" y="-1054100"/>
            <a:ext cx="1727200" cy="1727200"/>
          </a:xfrm>
          <a:prstGeom prst="rect">
            <a:avLst/>
          </a:prstGeom>
        </p:spPr>
      </p:pic>
      <p:pic>
        <p:nvPicPr>
          <p:cNvPr id="15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6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540000"/>
            <a:ext cx="10922000" cy="98425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4445000"/>
            <a:ext cx="10922000" cy="1022350"/>
          </a:xfrm>
          <a:prstGeom prst="rect">
            <a:avLst/>
          </a:prstGeom>
        </p:spPr>
      </p:pic>
      <p:sp>
        <p:nvSpPr>
          <p:cNvPr id="18" name="Акцентная линия"/>
          <p:cNvSpPr/>
          <p:nvPr/>
        </p:nvSpPr>
        <p:spPr>
          <a:xfrm>
            <a:off x="469900" y="0"/>
            <a:ext cx="0" cy="20955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Текст 1"/>
          <p:cNvSpPr txBox="1"/>
          <p:nvPr/>
        </p:nvSpPr>
        <p:spPr>
          <a:xfrm>
            <a:off x="635000" y="1752600"/>
            <a:ext cx="8890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НАКАЗАНИЕ И ПРАВИЛО</a:t>
            </a:r>
          </a:p>
        </p:txBody>
      </p:sp>
      <p:sp>
        <p:nvSpPr>
          <p:cNvPr id="20" name="Текст 2"/>
          <p:cNvSpPr txBox="1"/>
          <p:nvPr/>
        </p:nvSpPr>
        <p:spPr>
          <a:xfrm>
            <a:off x="1041400" y="2870200"/>
            <a:ext cx="10109200" cy="374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Бригада запоминает не сумму штрафа, а причину, по которой его выписали.</a:t>
            </a:r>
          </a:p>
        </p:txBody>
      </p:sp>
      <p:sp>
        <p:nvSpPr>
          <p:cNvPr id="21" name="Текст 3"/>
          <p:cNvSpPr txBox="1"/>
          <p:nvPr/>
        </p:nvSpPr>
        <p:spPr>
          <a:xfrm>
            <a:off x="1041400" y="4749800"/>
            <a:ext cx="10109200" cy="463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417"/>
              </a:lnSpc>
              <a:buNone/>
            </a:pPr>
            <a:r>
              <a:rPr lang="ru-RU" sz="2400" b="1" spc="0" dirty="0">
                <a:solidFill>
                  <a:srgbClr val="F5340B"/>
                </a:solidFill>
                <a:latin typeface="Nunito"/>
                <a:ea typeface="Nunito"/>
                <a:cs typeface="Nunito"/>
              </a:rPr>
              <a:t>Не наказывать за брак, а убирать причину брака.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.maxim · на лимит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7150" y="-1676400"/>
            <a:ext cx="2070100" cy="2070100"/>
          </a:xfrm>
          <a:prstGeom prst="rect">
            <a:avLst/>
          </a:prstGeom>
        </p:spPr>
      </p:pic>
      <p:pic>
        <p:nvPicPr>
          <p:cNvPr id="11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93500" y="1644650"/>
            <a:ext cx="1797050" cy="1797050"/>
          </a:xfrm>
          <a:prstGeom prst="rect">
            <a:avLst/>
          </a:prstGeom>
        </p:spPr>
      </p:pic>
      <p:pic>
        <p:nvPicPr>
          <p:cNvPr id="12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01500" y="2305050"/>
            <a:ext cx="971550" cy="971550"/>
          </a:xfrm>
          <a:prstGeom prst="rect">
            <a:avLst/>
          </a:prstGeom>
        </p:spPr>
      </p:pic>
      <p:pic>
        <p:nvPicPr>
          <p:cNvPr id="13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550" y="-1809750"/>
            <a:ext cx="2216150" cy="2216150"/>
          </a:xfrm>
          <a:prstGeom prst="rect">
            <a:avLst/>
          </a:prstGeom>
        </p:spPr>
      </p:pic>
      <p:pic>
        <p:nvPicPr>
          <p:cNvPr id="14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91350" y="5829300"/>
            <a:ext cx="2686050" cy="2686050"/>
          </a:xfrm>
          <a:prstGeom prst="rect">
            <a:avLst/>
          </a:prstGeom>
        </p:spPr>
      </p:pic>
      <p:pic>
        <p:nvPicPr>
          <p:cNvPr id="15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876300" y="438150"/>
            <a:ext cx="1155700" cy="1155700"/>
          </a:xfrm>
          <a:prstGeom prst="rect">
            <a:avLst/>
          </a:prstGeom>
        </p:spPr>
      </p:pic>
      <p:pic>
        <p:nvPicPr>
          <p:cNvPr id="16" name="Шестерня 3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37300" y="6362700"/>
            <a:ext cx="2101850" cy="2101850"/>
          </a:xfrm>
          <a:prstGeom prst="rect">
            <a:avLst/>
          </a:prstGeom>
        </p:spPr>
      </p:pic>
      <p:pic>
        <p:nvPicPr>
          <p:cNvPr id="17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828800"/>
            <a:ext cx="6350000" cy="4076700"/>
          </a:xfrm>
          <a:prstGeom prst="rect">
            <a:avLst/>
          </a:prstGeom>
        </p:spPr>
      </p:pic>
      <p:pic>
        <p:nvPicPr>
          <p:cNvPr id="1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66000" y="1828800"/>
            <a:ext cx="4191000" cy="3644900"/>
          </a:xfrm>
          <a:prstGeom prst="rect">
            <a:avLst/>
          </a:prstGeom>
        </p:spPr>
      </p:pic>
      <p:sp>
        <p:nvSpPr>
          <p:cNvPr id="20" name="Акцентная линия"/>
          <p:cNvSpPr/>
          <p:nvPr/>
        </p:nvSpPr>
        <p:spPr>
          <a:xfrm>
            <a:off x="469900" y="0"/>
            <a:ext cx="0" cy="14097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/>
          <p:cNvSpPr txBox="1"/>
          <p:nvPr/>
        </p:nvSpPr>
        <p:spPr>
          <a:xfrm>
            <a:off x="635000" y="10668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ШТРАФ НЕ МЕНЯЕТ РАБОТУ</a:t>
            </a:r>
          </a:p>
        </p:txBody>
      </p:sp>
      <p:sp>
        <p:nvSpPr>
          <p:cNvPr id="22" name="Текст 2"/>
          <p:cNvSpPr txBox="1"/>
          <p:nvPr/>
        </p:nvSpPr>
        <p:spPr>
          <a:xfrm>
            <a:off x="1066800" y="2159000"/>
            <a:ext cx="5486400" cy="167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Штраф показывает бригаде, чего делать нельзя, но не объясняет, как надо. После разбора смена знает, что за непроверенную комплектность накажут, и начинает прятать нехватку, а не сообщать о ней мастеру в первый час.</a:t>
            </a:r>
          </a:p>
        </p:txBody>
      </p:sp>
      <p:sp>
        <p:nvSpPr>
          <p:cNvPr id="23" name="Текст 3"/>
          <p:cNvSpPr txBox="1"/>
          <p:nvPr/>
        </p:nvSpPr>
        <p:spPr>
          <a:xfrm>
            <a:off x="1066800" y="3956050"/>
            <a:ext cx="5486400" cy="167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Работу меняет не наказание, а изменённый порядок: пересчёт комплекта внесён в сменное задание, а не оставлен на совесть сборщика. Тогда правило держится само, без напоминаний и без разбора в конце месяца.</a:t>
            </a:r>
          </a:p>
        </p:txBody>
      </p:sp>
      <p:sp>
        <p:nvSpPr>
          <p:cNvPr id="24" name="Текст 4"/>
          <p:cNvSpPr txBox="1"/>
          <p:nvPr/>
        </p:nvSpPr>
        <p:spPr>
          <a:xfrm>
            <a:off x="7772400" y="2159000"/>
            <a:ext cx="3378200" cy="3035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476"/>
              </a:lnSpc>
              <a:buNone/>
            </a:pPr>
            <a:r>
              <a:rPr lang="ru-RU" sz="2100" b="1" spc="0" dirty="0">
                <a:solidFill>
                  <a:srgbClr val="F5340B"/>
                </a:solidFill>
                <a:latin typeface="Nunito"/>
                <a:ea typeface="Nunito"/>
                <a:cs typeface="Nunito"/>
              </a:rPr>
              <a:t>Наказание показывает, чего делать нельзя. Порядок показывает, как надо. Первое даёт тишину на разборе, второе — отсутствие брака на следующей смене.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.maxim · избыто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4450" y="-2120900"/>
            <a:ext cx="3149600" cy="3149600"/>
          </a:xfrm>
          <a:prstGeom prst="rect">
            <a:avLst/>
          </a:prstGeom>
        </p:spPr>
      </p:pic>
      <p:pic>
        <p:nvPicPr>
          <p:cNvPr id="11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1100" y="5657850"/>
            <a:ext cx="2940050" cy="2940050"/>
          </a:xfrm>
          <a:prstGeom prst="rect">
            <a:avLst/>
          </a:prstGeom>
        </p:spPr>
      </p:pic>
      <p:pic>
        <p:nvPicPr>
          <p:cNvPr id="12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0800" y="-1930400"/>
            <a:ext cx="3314700" cy="3314700"/>
          </a:xfrm>
          <a:prstGeom prst="rect">
            <a:avLst/>
          </a:prstGeom>
        </p:spPr>
      </p:pic>
      <p:pic>
        <p:nvPicPr>
          <p:cNvPr id="13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35050" y="2260600"/>
            <a:ext cx="1619250" cy="1619250"/>
          </a:xfrm>
          <a:prstGeom prst="rect">
            <a:avLst/>
          </a:prstGeom>
        </p:spPr>
      </p:pic>
      <p:pic>
        <p:nvPicPr>
          <p:cNvPr id="14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39600" y="4679950"/>
            <a:ext cx="1035050" cy="1035050"/>
          </a:xfrm>
          <a:prstGeom prst="rect">
            <a:avLst/>
          </a:prstGeom>
        </p:spPr>
      </p:pic>
      <p:pic>
        <p:nvPicPr>
          <p:cNvPr id="15" name="Шестерня 2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55400" y="1739900"/>
            <a:ext cx="2152650" cy="2152650"/>
          </a:xfrm>
          <a:prstGeom prst="rect">
            <a:avLst/>
          </a:prstGeom>
        </p:spPr>
      </p:pic>
      <p:pic>
        <p:nvPicPr>
          <p:cNvPr id="16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1828800"/>
            <a:ext cx="6350000" cy="407670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66000" y="1828800"/>
            <a:ext cx="4191000" cy="3644900"/>
          </a:xfrm>
          <a:prstGeom prst="rect">
            <a:avLst/>
          </a:prstGeom>
        </p:spPr>
      </p:pic>
      <p:sp>
        <p:nvSpPr>
          <p:cNvPr id="19" name="Акцентная линия"/>
          <p:cNvSpPr/>
          <p:nvPr/>
        </p:nvSpPr>
        <p:spPr>
          <a:xfrm>
            <a:off x="469900" y="0"/>
            <a:ext cx="0" cy="14097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/>
          <p:cNvSpPr txBox="1"/>
          <p:nvPr/>
        </p:nvSpPr>
        <p:spPr>
          <a:xfrm>
            <a:off x="635000" y="10668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ПОЧЕМУ ШТРАФ НЕ МЕНЯЕТ РАБОТУ</a:t>
            </a:r>
          </a:p>
        </p:txBody>
      </p:sp>
      <p:sp>
        <p:nvSpPr>
          <p:cNvPr id="21" name="Текст 2"/>
          <p:cNvSpPr txBox="1"/>
          <p:nvPr/>
        </p:nvSpPr>
        <p:spPr>
          <a:xfrm>
            <a:off x="1066800" y="2159000"/>
            <a:ext cx="5486400" cy="1346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Штраф показывает бригаде, чего делать нельзя, но не объясняет, как надо. После разбора смена знает, что за непроверенную комплектность накажут, и начинает прятать нехватку.</a:t>
            </a:r>
          </a:p>
        </p:txBody>
      </p:sp>
      <p:sp>
        <p:nvSpPr>
          <p:cNvPr id="22" name="Текст 3"/>
          <p:cNvSpPr txBox="1"/>
          <p:nvPr/>
        </p:nvSpPr>
        <p:spPr>
          <a:xfrm>
            <a:off x="1066800" y="3632200"/>
            <a:ext cx="5486400" cy="1022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Работу меняет не наказание, а изменённый порядок: пересчёт комплекта внесён в сменное задание, а не оставлен на совесть сборщика.</a:t>
            </a:r>
          </a:p>
        </p:txBody>
      </p:sp>
      <p:sp>
        <p:nvSpPr>
          <p:cNvPr id="23" name="Текст 4"/>
          <p:cNvSpPr txBox="1"/>
          <p:nvPr/>
        </p:nvSpPr>
        <p:spPr>
          <a:xfrm>
            <a:off x="7772400" y="2159000"/>
            <a:ext cx="3378200" cy="6026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476"/>
              </a:lnSpc>
              <a:buNone/>
            </a:pPr>
            <a:r>
              <a:rPr lang="ru-RU" sz="2100" b="1" spc="0" dirty="0">
                <a:solidFill>
                  <a:srgbClr val="F5340B"/>
                </a:solidFill>
                <a:latin typeface="Nunito"/>
                <a:ea typeface="Nunito"/>
                <a:cs typeface="Nunito"/>
              </a:rPr>
              <a:t>Наказание показывает, чего делать нельзя, но никогда не показывает, как надо, потому что запрет не содержит в себе инструкции, а бригада на участке работает по инструкции, по сменному заданию и по привычке, и любая из этих трёх опор меняется только изменением порядка, а не разговором на разборе после смены, где все согласны и никто ничего не меняет.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.inline · коротк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44350" y="2032000"/>
            <a:ext cx="1593850" cy="1593850"/>
          </a:xfrm>
          <a:prstGeom prst="rect">
            <a:avLst/>
          </a:prstGeom>
        </p:spPr>
      </p:pic>
      <p:pic>
        <p:nvPicPr>
          <p:cNvPr id="11" name="Шестерня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5400" y="6076950"/>
            <a:ext cx="1905000" cy="1905000"/>
          </a:xfrm>
          <a:prstGeom prst="rect">
            <a:avLst/>
          </a:prstGeom>
        </p:spPr>
      </p:pic>
      <p:pic>
        <p:nvPicPr>
          <p:cNvPr id="12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676400" y="2222500"/>
            <a:ext cx="2851150" cy="2851150"/>
          </a:xfrm>
          <a:prstGeom prst="rect">
            <a:avLst/>
          </a:prstGeom>
        </p:spPr>
      </p:pic>
      <p:pic>
        <p:nvPicPr>
          <p:cNvPr id="13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-1962150"/>
            <a:ext cx="2641600" cy="2641600"/>
          </a:xfrm>
          <a:prstGeom prst="rect">
            <a:avLst/>
          </a:prstGeom>
        </p:spPr>
      </p:pic>
      <p:pic>
        <p:nvPicPr>
          <p:cNvPr id="14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6950" y="-1149350"/>
            <a:ext cx="1498600" cy="1498600"/>
          </a:xfrm>
          <a:prstGeom prst="rect">
            <a:avLst/>
          </a:prstGeom>
        </p:spPr>
      </p:pic>
      <p:pic>
        <p:nvPicPr>
          <p:cNvPr id="15" name="Шестерня 2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04650" y="2330450"/>
            <a:ext cx="2197100" cy="2197100"/>
          </a:xfrm>
          <a:prstGeom prst="rect">
            <a:avLst/>
          </a:prstGeom>
        </p:spPr>
      </p:pic>
      <p:pic>
        <p:nvPicPr>
          <p:cNvPr id="16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3302000"/>
            <a:ext cx="10922000" cy="1676400"/>
          </a:xfrm>
          <a:prstGeom prst="rect">
            <a:avLst/>
          </a:prstGeom>
        </p:spPr>
      </p:pic>
      <p:sp>
        <p:nvSpPr>
          <p:cNvPr id="18" name="Акцентная линия"/>
          <p:cNvSpPr/>
          <p:nvPr/>
        </p:nvSpPr>
        <p:spPr>
          <a:xfrm>
            <a:off x="469900" y="0"/>
            <a:ext cx="0" cy="18796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Текст 1"/>
          <p:cNvSpPr txBox="1"/>
          <p:nvPr/>
        </p:nvSpPr>
        <p:spPr>
          <a:xfrm>
            <a:off x="635000" y="1536700"/>
            <a:ext cx="8890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ПРОВЕРКА КОМПЛЕКТНОСТИ</a:t>
            </a:r>
          </a:p>
        </p:txBody>
      </p:sp>
      <p:sp>
        <p:nvSpPr>
          <p:cNvPr id="20" name="Текст 2"/>
          <p:cNvSpPr txBox="1"/>
          <p:nvPr/>
        </p:nvSpPr>
        <p:spPr>
          <a:xfrm>
            <a:off x="635000" y="2362200"/>
            <a:ext cx="762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4444"/>
              </a:lnSpc>
              <a:buNone/>
            </a:pPr>
            <a:r>
              <a:rPr lang="ru-RU" sz="18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Комплектность узла проверяют до начала сборки, а не в процессе.</a:t>
            </a:r>
          </a:p>
        </p:txBody>
      </p:sp>
      <p:sp>
        <p:nvSpPr>
          <p:cNvPr id="21" name="Текст 3"/>
          <p:cNvSpPr txBox="1"/>
          <p:nvPr/>
        </p:nvSpPr>
        <p:spPr>
          <a:xfrm>
            <a:off x="1092200" y="3606800"/>
            <a:ext cx="9334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7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</a:p>
        </p:txBody>
      </p:sp>
      <p:sp>
        <p:nvSpPr>
          <p:cNvPr id="22" name="Текст 4"/>
          <p:cNvSpPr txBox="1"/>
          <p:nvPr/>
        </p:nvSpPr>
        <p:spPr>
          <a:xfrm>
            <a:off x="2101850" y="3619500"/>
            <a:ext cx="1206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 УЧАСТКА</a:t>
            </a:r>
          </a:p>
        </p:txBody>
      </p:sp>
      <p:sp>
        <p:nvSpPr>
          <p:cNvPr id="23" name="Текст 5"/>
          <p:cNvSpPr txBox="1"/>
          <p:nvPr/>
        </p:nvSpPr>
        <p:spPr>
          <a:xfrm>
            <a:off x="1092200" y="3975100"/>
            <a:ext cx="10007600" cy="698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Смена начала сборку, не пересчитав уголки. Нехватку четырёх штук заметили только на финальной затяжке.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.inline · на лимит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" y="6261100"/>
            <a:ext cx="1485900" cy="1485900"/>
          </a:xfrm>
          <a:prstGeom prst="rect">
            <a:avLst/>
          </a:prstGeom>
        </p:spPr>
      </p:pic>
      <p:pic>
        <p:nvPicPr>
          <p:cNvPr id="11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8350" y="-768350"/>
            <a:ext cx="958850" cy="958850"/>
          </a:xfrm>
          <a:prstGeom prst="rect">
            <a:avLst/>
          </a:prstGeom>
        </p:spPr>
      </p:pic>
      <p:pic>
        <p:nvPicPr>
          <p:cNvPr id="12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90350" y="3727450"/>
            <a:ext cx="2133600" cy="2133600"/>
          </a:xfrm>
          <a:prstGeom prst="rect">
            <a:avLst/>
          </a:prstGeom>
        </p:spPr>
      </p:pic>
      <p:pic>
        <p:nvPicPr>
          <p:cNvPr id="13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1600" y="-1009650"/>
            <a:ext cx="1193800" cy="1193800"/>
          </a:xfrm>
          <a:prstGeom prst="rect">
            <a:avLst/>
          </a:prstGeom>
        </p:spPr>
      </p:pic>
      <p:pic>
        <p:nvPicPr>
          <p:cNvPr id="14" name="Шестерня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69700" y="2368550"/>
            <a:ext cx="2000250" cy="2000250"/>
          </a:xfrm>
          <a:prstGeom prst="rect">
            <a:avLst/>
          </a:prstGeom>
        </p:spPr>
      </p:pic>
      <p:pic>
        <p:nvPicPr>
          <p:cNvPr id="15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622550" y="-984250"/>
            <a:ext cx="3048000" cy="3048000"/>
          </a:xfrm>
          <a:prstGeom prst="rect">
            <a:avLst/>
          </a:prstGeom>
        </p:spPr>
      </p:pic>
      <p:pic>
        <p:nvPicPr>
          <p:cNvPr id="16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78050" y="6324600"/>
            <a:ext cx="2127250" cy="2127250"/>
          </a:xfrm>
          <a:prstGeom prst="rect">
            <a:avLst/>
          </a:prstGeom>
        </p:spPr>
      </p:pic>
      <p:pic>
        <p:nvPicPr>
          <p:cNvPr id="17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3556000"/>
            <a:ext cx="10922000" cy="2768600"/>
          </a:xfrm>
          <a:prstGeom prst="rect">
            <a:avLst/>
          </a:prstGeom>
        </p:spPr>
      </p:pic>
      <p:sp>
        <p:nvSpPr>
          <p:cNvPr id="19" name="Акцентная линия"/>
          <p:cNvSpPr/>
          <p:nvPr/>
        </p:nvSpPr>
        <p:spPr>
          <a:xfrm>
            <a:off x="469900" y="0"/>
            <a:ext cx="0" cy="14097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/>
          <p:cNvSpPr txBox="1"/>
          <p:nvPr/>
        </p:nvSpPr>
        <p:spPr>
          <a:xfrm>
            <a:off x="635000" y="10668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КОМПЛЕКТНОСТЬ ДО СБОРКИ</a:t>
            </a:r>
          </a:p>
        </p:txBody>
      </p:sp>
      <p:sp>
        <p:nvSpPr>
          <p:cNvPr id="21" name="Текст 2"/>
          <p:cNvSpPr txBox="1"/>
          <p:nvPr/>
        </p:nvSpPr>
        <p:spPr>
          <a:xfrm>
            <a:off x="635000" y="1879600"/>
            <a:ext cx="8509000" cy="1047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4444"/>
              </a:lnSpc>
              <a:buNone/>
            </a:pPr>
            <a:r>
              <a:rPr lang="ru-RU" sz="18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Комплектность узла проверяют до начала сборки, а не в процессе. Один недостающий крепёж останавливает работу на середине и заставляет разбирать уже собранное.</a:t>
            </a:r>
          </a:p>
        </p:txBody>
      </p:sp>
      <p:sp>
        <p:nvSpPr>
          <p:cNvPr id="22" name="Текст 3"/>
          <p:cNvSpPr txBox="1"/>
          <p:nvPr/>
        </p:nvSpPr>
        <p:spPr>
          <a:xfrm>
            <a:off x="1092200" y="3860800"/>
            <a:ext cx="9334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7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</a:p>
        </p:txBody>
      </p:sp>
      <p:sp>
        <p:nvSpPr>
          <p:cNvPr id="23" name="Текст 4"/>
          <p:cNvSpPr txBox="1"/>
          <p:nvPr/>
        </p:nvSpPr>
        <p:spPr>
          <a:xfrm>
            <a:off x="2101850" y="3873500"/>
            <a:ext cx="1206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 УЧАСТКА</a:t>
            </a:r>
          </a:p>
        </p:txBody>
      </p:sp>
      <p:sp>
        <p:nvSpPr>
          <p:cNvPr id="24" name="Текст 5"/>
          <p:cNvSpPr txBox="1"/>
          <p:nvPr/>
        </p:nvSpPr>
        <p:spPr>
          <a:xfrm>
            <a:off x="1092200" y="4229100"/>
            <a:ext cx="10007600" cy="1022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На участке вентиляционных секций смена начала сборку, не пересчитав уголки. Нехватку четырёх штук заметили только на финальной затяжке — узел разобрали полностью и потеряли два часа рабочего времени, а заказ уехал на сутки позже срока.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.inline · избыто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90350" y="4902200"/>
            <a:ext cx="1346200" cy="1346200"/>
          </a:xfrm>
          <a:prstGeom prst="rect">
            <a:avLst/>
          </a:prstGeom>
        </p:spPr>
      </p:pic>
      <p:pic>
        <p:nvPicPr>
          <p:cNvPr id="11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9300" y="-2019300"/>
            <a:ext cx="2578100" cy="2578100"/>
          </a:xfrm>
          <a:prstGeom prst="rect">
            <a:avLst/>
          </a:prstGeom>
        </p:spPr>
      </p:pic>
      <p:pic>
        <p:nvPicPr>
          <p:cNvPr id="12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758950" y="3657600"/>
            <a:ext cx="2768600" cy="2768600"/>
          </a:xfrm>
          <a:prstGeom prst="rect">
            <a:avLst/>
          </a:prstGeom>
        </p:spPr>
      </p:pic>
      <p:pic>
        <p:nvPicPr>
          <p:cNvPr id="13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05750" y="-2800350"/>
            <a:ext cx="3200400" cy="3200400"/>
          </a:xfrm>
          <a:prstGeom prst="rect">
            <a:avLst/>
          </a:prstGeom>
        </p:spPr>
      </p:pic>
      <p:pic>
        <p:nvPicPr>
          <p:cNvPr id="14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33250" y="3924300"/>
            <a:ext cx="1314450" cy="1314450"/>
          </a:xfrm>
          <a:prstGeom prst="rect">
            <a:avLst/>
          </a:prstGeom>
        </p:spPr>
      </p:pic>
      <p:pic>
        <p:nvPicPr>
          <p:cNvPr id="15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9250" y="5905500"/>
            <a:ext cx="2781300" cy="2781300"/>
          </a:xfrm>
          <a:prstGeom prst="rect">
            <a:avLst/>
          </a:prstGeom>
        </p:spPr>
      </p:pic>
      <p:pic>
        <p:nvPicPr>
          <p:cNvPr id="16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8600" y="6184900"/>
            <a:ext cx="2368550" cy="2368550"/>
          </a:xfrm>
          <a:prstGeom prst="rect">
            <a:avLst/>
          </a:prstGeom>
        </p:spPr>
      </p:pic>
      <p:pic>
        <p:nvPicPr>
          <p:cNvPr id="17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508250"/>
            <a:ext cx="10922000" cy="3543300"/>
          </a:xfrm>
          <a:prstGeom prst="rect">
            <a:avLst/>
          </a:prstGeom>
        </p:spPr>
      </p:pic>
      <p:sp>
        <p:nvSpPr>
          <p:cNvPr id="19" name="Акцентная линия"/>
          <p:cNvSpPr/>
          <p:nvPr/>
        </p:nvSpPr>
        <p:spPr>
          <a:xfrm>
            <a:off x="469900" y="0"/>
            <a:ext cx="0" cy="14097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/>
          <p:cNvSpPr txBox="1"/>
          <p:nvPr/>
        </p:nvSpPr>
        <p:spPr>
          <a:xfrm>
            <a:off x="635000" y="51435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КОМПЛЕКТНОСТЬ ДО СБОРКИ</a:t>
            </a:r>
          </a:p>
        </p:txBody>
      </p:sp>
      <p:sp>
        <p:nvSpPr>
          <p:cNvPr id="21" name="Текст 2"/>
          <p:cNvSpPr txBox="1"/>
          <p:nvPr/>
        </p:nvSpPr>
        <p:spPr>
          <a:xfrm>
            <a:off x="635000" y="1327150"/>
            <a:ext cx="10858500" cy="1047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4444"/>
              </a:lnSpc>
              <a:buNone/>
            </a:pPr>
            <a:r>
              <a:rPr lang="ru-RU" sz="18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Комплектность узла проверяют до начала сборки, а не в процессе. Один недостающий крепёж останавливает работу на середине и заставляет разбирать уже собранное.</a:t>
            </a:r>
          </a:p>
        </p:txBody>
      </p:sp>
      <p:sp>
        <p:nvSpPr>
          <p:cNvPr id="22" name="Текст 3"/>
          <p:cNvSpPr txBox="1"/>
          <p:nvPr/>
        </p:nvSpPr>
        <p:spPr>
          <a:xfrm>
            <a:off x="1587500" y="2813050"/>
            <a:ext cx="9334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700" b="1" spc="20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</a:t>
            </a:r>
          </a:p>
        </p:txBody>
      </p:sp>
      <p:sp>
        <p:nvSpPr>
          <p:cNvPr id="24" name="Текст 5"/>
          <p:cNvSpPr txBox="1"/>
          <p:nvPr/>
        </p:nvSpPr>
        <p:spPr>
          <a:xfrm>
            <a:off x="1587500" y="3181350"/>
            <a:ext cx="8899525" cy="2317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4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На участке вентиляционных секций смена начала сборку, не пересчитав уголки, хотя пересчёт стоит в сменном задании отдельной строкой. Нехватку четырёх штук заметили только на финальной затяжке, когда корпус уже стоял на стенде: узел разобрали полностью, крепёж искали в соседней кладовой, потеряли два часа, сорвали передачу на окраску, а заказ уехал на сутки позже срока. На разборе выяснилось, что кладовщик выдал комплект по старой спецификации, которую никто не отозвал, а бригада заметила нехватку ещё в начале смены и решила не останавливать работу, потому что в прошлый раз за остановку получила выговор.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st.bullets · коротк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9550" y="1873250"/>
            <a:ext cx="2324100" cy="2324100"/>
          </a:xfrm>
          <a:prstGeom prst="rect">
            <a:avLst/>
          </a:prstGeom>
        </p:spPr>
      </p:pic>
      <p:pic>
        <p:nvPicPr>
          <p:cNvPr id="11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3600" y="-2076450"/>
            <a:ext cx="3422650" cy="3422650"/>
          </a:xfrm>
          <a:prstGeom prst="rect">
            <a:avLst/>
          </a:prstGeom>
        </p:spPr>
      </p:pic>
      <p:pic>
        <p:nvPicPr>
          <p:cNvPr id="12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057400" y="1854200"/>
            <a:ext cx="3346450" cy="3346450"/>
          </a:xfrm>
          <a:prstGeom prst="rect">
            <a:avLst/>
          </a:prstGeom>
        </p:spPr>
      </p:pic>
      <p:pic>
        <p:nvPicPr>
          <p:cNvPr id="13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419100" y="6356350"/>
            <a:ext cx="2565400" cy="2565400"/>
          </a:xfrm>
          <a:prstGeom prst="rect">
            <a:avLst/>
          </a:prstGeom>
        </p:spPr>
      </p:pic>
      <p:pic>
        <p:nvPicPr>
          <p:cNvPr id="14" name="Шестерня 2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75100" y="-1428750"/>
            <a:ext cx="2247900" cy="2247900"/>
          </a:xfrm>
          <a:prstGeom prst="rect">
            <a:avLst/>
          </a:prstGeom>
        </p:spPr>
      </p:pic>
      <p:pic>
        <p:nvPicPr>
          <p:cNvPr id="15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6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3009900"/>
            <a:ext cx="10922000" cy="1968500"/>
          </a:xfrm>
          <a:prstGeom prst="rect">
            <a:avLst/>
          </a:prstGeom>
        </p:spPr>
      </p:pic>
      <p:sp>
        <p:nvSpPr>
          <p:cNvPr id="17" name="Шестигранник"/>
          <p:cNvSpPr/>
          <p:nvPr/>
        </p:nvSpPr>
        <p:spPr>
          <a:xfrm rot="5400000">
            <a:off x="1111250" y="34607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Шестигранник"/>
          <p:cNvSpPr/>
          <p:nvPr/>
        </p:nvSpPr>
        <p:spPr>
          <a:xfrm rot="5400000">
            <a:off x="1111250" y="39433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Шестигранник"/>
          <p:cNvSpPr/>
          <p:nvPr/>
        </p:nvSpPr>
        <p:spPr>
          <a:xfrm rot="5400000">
            <a:off x="1111250" y="44259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Акцентная линия"/>
          <p:cNvSpPr/>
          <p:nvPr/>
        </p:nvSpPr>
        <p:spPr>
          <a:xfrm>
            <a:off x="469900" y="0"/>
            <a:ext cx="0" cy="18415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/>
          <p:cNvSpPr txBox="1"/>
          <p:nvPr/>
        </p:nvSpPr>
        <p:spPr>
          <a:xfrm>
            <a:off x="635000" y="1498600"/>
            <a:ext cx="8890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С ЧЕГО НАЧИНАЕТСЯ СМЕНА</a:t>
            </a:r>
          </a:p>
        </p:txBody>
      </p:sp>
      <p:sp>
        <p:nvSpPr>
          <p:cNvPr id="22" name="Текст 2"/>
          <p:cNvSpPr txBox="1"/>
          <p:nvPr/>
        </p:nvSpPr>
        <p:spPr>
          <a:xfrm>
            <a:off x="635000" y="2324100"/>
            <a:ext cx="76200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375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Три действия до первой операции — в этом порядке.</a:t>
            </a:r>
          </a:p>
        </p:txBody>
      </p:sp>
      <p:sp>
        <p:nvSpPr>
          <p:cNvPr id="23" name="Текст 3"/>
          <p:cNvSpPr txBox="1"/>
          <p:nvPr/>
        </p:nvSpPr>
        <p:spPr>
          <a:xfrm>
            <a:off x="1358900" y="3365500"/>
            <a:ext cx="39560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Принять участок у предыдущей смены</a:t>
            </a:r>
          </a:p>
        </p:txBody>
      </p:sp>
      <p:sp>
        <p:nvSpPr>
          <p:cNvPr id="24" name="Текст 4"/>
          <p:cNvSpPr txBox="1"/>
          <p:nvPr/>
        </p:nvSpPr>
        <p:spPr>
          <a:xfrm>
            <a:off x="1358900" y="3848100"/>
            <a:ext cx="35560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Пересчитать комплект по заданию</a:t>
            </a:r>
          </a:p>
        </p:txBody>
      </p:sp>
      <p:sp>
        <p:nvSpPr>
          <p:cNvPr id="25" name="Текст 5"/>
          <p:cNvSpPr txBox="1"/>
          <p:nvPr/>
        </p:nvSpPr>
        <p:spPr>
          <a:xfrm>
            <a:off x="1358900" y="4330700"/>
            <a:ext cx="31178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Развести людей по операциям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st.bullets · на лимит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866900" y="1536700"/>
            <a:ext cx="2787650" cy="2787650"/>
          </a:xfrm>
          <a:prstGeom prst="rect">
            <a:avLst/>
          </a:prstGeom>
        </p:spPr>
      </p:pic>
      <p:pic>
        <p:nvPicPr>
          <p:cNvPr id="11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53850" y="2368550"/>
            <a:ext cx="2819400" cy="2819400"/>
          </a:xfrm>
          <a:prstGeom prst="rect">
            <a:avLst/>
          </a:prstGeom>
        </p:spPr>
      </p:pic>
      <p:pic>
        <p:nvPicPr>
          <p:cNvPr id="12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7500" y="-965200"/>
            <a:ext cx="1651000" cy="1651000"/>
          </a:xfrm>
          <a:prstGeom prst="rect">
            <a:avLst/>
          </a:prstGeom>
        </p:spPr>
      </p:pic>
      <p:pic>
        <p:nvPicPr>
          <p:cNvPr id="13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0550" y="6254750"/>
            <a:ext cx="3232150" cy="3232150"/>
          </a:xfrm>
          <a:prstGeom prst="rect">
            <a:avLst/>
          </a:prstGeom>
        </p:spPr>
      </p:pic>
      <p:pic>
        <p:nvPicPr>
          <p:cNvPr id="14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6500" y="-647700"/>
            <a:ext cx="990600" cy="990600"/>
          </a:xfrm>
          <a:prstGeom prst="rect">
            <a:avLst/>
          </a:prstGeom>
        </p:spPr>
      </p:pic>
      <p:pic>
        <p:nvPicPr>
          <p:cNvPr id="15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6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311400"/>
            <a:ext cx="10922000" cy="3613150"/>
          </a:xfrm>
          <a:prstGeom prst="rect">
            <a:avLst/>
          </a:prstGeom>
        </p:spPr>
      </p:pic>
      <p:sp>
        <p:nvSpPr>
          <p:cNvPr id="17" name="Шестигранник"/>
          <p:cNvSpPr/>
          <p:nvPr/>
        </p:nvSpPr>
        <p:spPr>
          <a:xfrm rot="5400000">
            <a:off x="1060450" y="27368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Шестигранник"/>
          <p:cNvSpPr/>
          <p:nvPr/>
        </p:nvSpPr>
        <p:spPr>
          <a:xfrm rot="5400000">
            <a:off x="1060450" y="31813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Шестигранник"/>
          <p:cNvSpPr/>
          <p:nvPr/>
        </p:nvSpPr>
        <p:spPr>
          <a:xfrm rot="5400000">
            <a:off x="1060450" y="36258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Шестигранник"/>
          <p:cNvSpPr/>
          <p:nvPr/>
        </p:nvSpPr>
        <p:spPr>
          <a:xfrm rot="5400000">
            <a:off x="1060450" y="40703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Шестигранник"/>
          <p:cNvSpPr/>
          <p:nvPr/>
        </p:nvSpPr>
        <p:spPr>
          <a:xfrm rot="5400000">
            <a:off x="1060450" y="45148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Шестигранник"/>
          <p:cNvSpPr/>
          <p:nvPr/>
        </p:nvSpPr>
        <p:spPr>
          <a:xfrm rot="5400000">
            <a:off x="1060450" y="495300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Шестигранник"/>
          <p:cNvSpPr/>
          <p:nvPr/>
        </p:nvSpPr>
        <p:spPr>
          <a:xfrm rot="5400000">
            <a:off x="1060450" y="539750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Акцентная линия"/>
          <p:cNvSpPr/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Текст 1"/>
          <p:cNvSpPr txBox="1"/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МАСТЕР ДЕЛАЕТ ДО ПЕРВОЙ ОПЕРАЦИИ</a:t>
            </a:r>
          </a:p>
        </p:txBody>
      </p:sp>
      <p:sp>
        <p:nvSpPr>
          <p:cNvPr id="26" name="Текст 2"/>
          <p:cNvSpPr txBox="1"/>
          <p:nvPr/>
        </p:nvSpPr>
        <p:spPr>
          <a:xfrm>
            <a:off x="635000" y="1562100"/>
            <a:ext cx="8255000" cy="933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375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Порядок неважен, важна полнота: пропущенный пункт всплывает во второй половине смены, когда исправлять его уже дорого и приходится останавливать участок.</a:t>
            </a:r>
          </a:p>
        </p:txBody>
      </p:sp>
      <p:sp>
        <p:nvSpPr>
          <p:cNvPr id="27" name="Текст 3"/>
          <p:cNvSpPr txBox="1"/>
          <p:nvPr/>
        </p:nvSpPr>
        <p:spPr>
          <a:xfrm>
            <a:off x="1308100" y="2641600"/>
            <a:ext cx="49720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Принять участок и журнал у предыдущей смены</a:t>
            </a:r>
          </a:p>
        </p:txBody>
      </p:sp>
      <p:sp>
        <p:nvSpPr>
          <p:cNvPr id="28" name="Текст 4"/>
          <p:cNvSpPr txBox="1"/>
          <p:nvPr/>
        </p:nvSpPr>
        <p:spPr>
          <a:xfrm>
            <a:off x="1308100" y="3086100"/>
            <a:ext cx="60769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Пересчитать комплект по спецификации сменного задания</a:t>
            </a:r>
          </a:p>
        </p:txBody>
      </p:sp>
      <p:sp>
        <p:nvSpPr>
          <p:cNvPr id="29" name="Текст 5"/>
          <p:cNvSpPr txBox="1"/>
          <p:nvPr/>
        </p:nvSpPr>
        <p:spPr>
          <a:xfrm>
            <a:off x="1308100" y="3530600"/>
            <a:ext cx="53848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Проверить исправность инструмента и наличие СИЗ</a:t>
            </a:r>
          </a:p>
        </p:txBody>
      </p:sp>
      <p:sp>
        <p:nvSpPr>
          <p:cNvPr id="30" name="Текст 6"/>
          <p:cNvSpPr txBox="1"/>
          <p:nvPr/>
        </p:nvSpPr>
        <p:spPr>
          <a:xfrm>
            <a:off x="1308100" y="3975100"/>
            <a:ext cx="55118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Развести сборщиков по операциям с учётом допусков</a:t>
            </a:r>
          </a:p>
        </p:txBody>
      </p:sp>
      <p:sp>
        <p:nvSpPr>
          <p:cNvPr id="31" name="Текст 7"/>
          <p:cNvSpPr txBox="1"/>
          <p:nvPr/>
        </p:nvSpPr>
        <p:spPr>
          <a:xfrm>
            <a:off x="1308100" y="4419600"/>
            <a:ext cx="55943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Освободить проходы и зону вокруг сборочного стенда</a:t>
            </a:r>
          </a:p>
        </p:txBody>
      </p:sp>
      <p:sp>
        <p:nvSpPr>
          <p:cNvPr id="32" name="Текст 8"/>
          <p:cNvSpPr txBox="1"/>
          <p:nvPr/>
        </p:nvSpPr>
        <p:spPr>
          <a:xfrm>
            <a:off x="1308100" y="4864100"/>
            <a:ext cx="48133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Сверить чертёж на стенде с версией в задании</a:t>
            </a:r>
          </a:p>
        </p:txBody>
      </p:sp>
      <p:sp>
        <p:nvSpPr>
          <p:cNvPr id="33" name="Текст 9"/>
          <p:cNvSpPr txBox="1"/>
          <p:nvPr/>
        </p:nvSpPr>
        <p:spPr>
          <a:xfrm>
            <a:off x="1308100" y="5302250"/>
            <a:ext cx="50927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Назвать бригаде цель смены и порядок передачи</a:t>
            </a:r>
          </a:p>
        </p:txBody>
      </p:sp>
      <p:sp>
        <p:nvSpPr>
          <p:cNvPr id="34" name="Текст 10"/>
          <p:cNvSpPr txBox="1"/>
          <p:nvPr/>
        </p:nvSpPr>
        <p:spPr>
          <a:xfrm>
            <a:off x="635000" y="6045200"/>
            <a:ext cx="7874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375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Семь пунктов занимают двадцать минут и снимают большую часть простоев после обеда.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st.bullets · избыто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6050" y="-1911350"/>
            <a:ext cx="3028950" cy="3028950"/>
          </a:xfrm>
          <a:prstGeom prst="rect">
            <a:avLst/>
          </a:prstGeom>
        </p:spPr>
      </p:pic>
      <p:pic>
        <p:nvPicPr>
          <p:cNvPr id="11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2900" y="-1276350"/>
            <a:ext cx="1962150" cy="1962150"/>
          </a:xfrm>
          <a:prstGeom prst="rect">
            <a:avLst/>
          </a:prstGeom>
        </p:spPr>
      </p:pic>
      <p:pic>
        <p:nvPicPr>
          <p:cNvPr id="12" name="Шестерня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36400" y="2419350"/>
            <a:ext cx="1016000" cy="1016000"/>
          </a:xfrm>
          <a:prstGeom prst="rect">
            <a:avLst/>
          </a:prstGeom>
        </p:spPr>
      </p:pic>
      <p:pic>
        <p:nvPicPr>
          <p:cNvPr id="13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4850" y="6489700"/>
            <a:ext cx="1911350" cy="1911350"/>
          </a:xfrm>
          <a:prstGeom prst="rect">
            <a:avLst/>
          </a:prstGeom>
        </p:spPr>
      </p:pic>
      <p:pic>
        <p:nvPicPr>
          <p:cNvPr id="14" name="Шестерня 2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009650" y="5187950"/>
            <a:ext cx="1358900" cy="1358900"/>
          </a:xfrm>
          <a:prstGeom prst="rect">
            <a:avLst/>
          </a:prstGeom>
        </p:spPr>
      </p:pic>
      <p:pic>
        <p:nvPicPr>
          <p:cNvPr id="15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6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311400"/>
            <a:ext cx="10922000" cy="3613150"/>
          </a:xfrm>
          <a:prstGeom prst="rect">
            <a:avLst/>
          </a:prstGeom>
        </p:spPr>
      </p:pic>
      <p:sp>
        <p:nvSpPr>
          <p:cNvPr id="17" name="Шестигранник"/>
          <p:cNvSpPr/>
          <p:nvPr/>
        </p:nvSpPr>
        <p:spPr>
          <a:xfrm rot="5400000">
            <a:off x="1060450" y="269240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Шестигранник"/>
          <p:cNvSpPr/>
          <p:nvPr/>
        </p:nvSpPr>
        <p:spPr>
          <a:xfrm rot="5400000">
            <a:off x="1060450" y="339090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Шестигранник"/>
          <p:cNvSpPr/>
          <p:nvPr/>
        </p:nvSpPr>
        <p:spPr>
          <a:xfrm rot="5400000">
            <a:off x="1060450" y="408940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Шестигранник"/>
          <p:cNvSpPr/>
          <p:nvPr/>
        </p:nvSpPr>
        <p:spPr>
          <a:xfrm rot="5400000">
            <a:off x="1060450" y="47815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Шестигранник"/>
          <p:cNvSpPr/>
          <p:nvPr/>
        </p:nvSpPr>
        <p:spPr>
          <a:xfrm rot="5400000">
            <a:off x="1060450" y="54800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Шестигранник"/>
          <p:cNvSpPr/>
          <p:nvPr/>
        </p:nvSpPr>
        <p:spPr>
          <a:xfrm rot="5400000">
            <a:off x="1060450" y="61785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Шестигранник"/>
          <p:cNvSpPr/>
          <p:nvPr/>
        </p:nvSpPr>
        <p:spPr>
          <a:xfrm rot="5400000">
            <a:off x="1060450" y="68770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Шестигранник"/>
          <p:cNvSpPr/>
          <p:nvPr/>
        </p:nvSpPr>
        <p:spPr>
          <a:xfrm rot="5400000">
            <a:off x="1060450" y="75755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Шестигранник"/>
          <p:cNvSpPr/>
          <p:nvPr/>
        </p:nvSpPr>
        <p:spPr>
          <a:xfrm rot="5400000">
            <a:off x="1060450" y="798195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Шестигранник"/>
          <p:cNvSpPr/>
          <p:nvPr/>
        </p:nvSpPr>
        <p:spPr>
          <a:xfrm rot="5400000">
            <a:off x="1060450" y="8382000"/>
            <a:ext cx="114300" cy="101600"/>
          </a:xfrm>
          <a:prstGeom prst="hexagon">
            <a:avLst/>
          </a:prstGeom>
          <a:solidFill>
            <a:srgbClr val="F5340B"/>
          </a:solidFill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Акцентная линия"/>
          <p:cNvSpPr/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Текст 1"/>
          <p:cNvSpPr txBox="1"/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МАСТЕР ДЕЛАЕТ ДО ПЕРВОЙ ОПЕРАЦИИ</a:t>
            </a:r>
          </a:p>
        </p:txBody>
      </p:sp>
      <p:sp>
        <p:nvSpPr>
          <p:cNvPr id="29" name="Текст 2"/>
          <p:cNvSpPr txBox="1"/>
          <p:nvPr/>
        </p:nvSpPr>
        <p:spPr>
          <a:xfrm>
            <a:off x="635000" y="1562100"/>
            <a:ext cx="8255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375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Порядок неважен, важна полнота: пропущенный пункт всплывает во второй половине смены.</a:t>
            </a:r>
          </a:p>
        </p:txBody>
      </p:sp>
      <p:sp>
        <p:nvSpPr>
          <p:cNvPr id="30" name="Текст 3"/>
          <p:cNvSpPr txBox="1"/>
          <p:nvPr/>
        </p:nvSpPr>
        <p:spPr>
          <a:xfrm>
            <a:off x="1308100" y="2641600"/>
            <a:ext cx="98171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Принять участок и журнал у предыдущей смены, отдельно проверив записи по возвратам и незакрытым замечаниям контроля</a:t>
            </a:r>
          </a:p>
        </p:txBody>
      </p:sp>
      <p:sp>
        <p:nvSpPr>
          <p:cNvPr id="31" name="Текст 4"/>
          <p:cNvSpPr txBox="1"/>
          <p:nvPr/>
        </p:nvSpPr>
        <p:spPr>
          <a:xfrm>
            <a:off x="1308100" y="3340100"/>
            <a:ext cx="98171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Пересчитать комплект по спецификации сменного задания и сверить его с фактической выдачей кладовой за сутки</a:t>
            </a:r>
          </a:p>
        </p:txBody>
      </p:sp>
      <p:sp>
        <p:nvSpPr>
          <p:cNvPr id="32" name="Текст 5"/>
          <p:cNvSpPr txBox="1"/>
          <p:nvPr/>
        </p:nvSpPr>
        <p:spPr>
          <a:xfrm>
            <a:off x="1308100" y="4038600"/>
            <a:ext cx="98171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Проверить исправность инструмента, наличие и срок годности СИЗ у каждого сборщика, включая пришедших на подмену</a:t>
            </a:r>
          </a:p>
        </p:txBody>
      </p:sp>
      <p:sp>
        <p:nvSpPr>
          <p:cNvPr id="33" name="Текст 6"/>
          <p:cNvSpPr txBox="1"/>
          <p:nvPr/>
        </p:nvSpPr>
        <p:spPr>
          <a:xfrm>
            <a:off x="1308100" y="4730750"/>
            <a:ext cx="98171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Развести сборщиков по операциям с учётом допусков, квалификации и опыта работы с этим типом секций</a:t>
            </a:r>
          </a:p>
        </p:txBody>
      </p:sp>
      <p:sp>
        <p:nvSpPr>
          <p:cNvPr id="34" name="Текст 7"/>
          <p:cNvSpPr txBox="1"/>
          <p:nvPr/>
        </p:nvSpPr>
        <p:spPr>
          <a:xfrm>
            <a:off x="1308100" y="5429250"/>
            <a:ext cx="98171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Освободить проходы, зону вокруг стенда и место под готовые узлы, чтобы транспортировка не мешала операции</a:t>
            </a:r>
          </a:p>
        </p:txBody>
      </p:sp>
      <p:sp>
        <p:nvSpPr>
          <p:cNvPr id="35" name="Текст 8"/>
          <p:cNvSpPr txBox="1"/>
          <p:nvPr/>
        </p:nvSpPr>
        <p:spPr>
          <a:xfrm>
            <a:off x="1308100" y="6127750"/>
            <a:ext cx="98171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Сверить чертёж на стенде с версией в задании и убедиться, что вчерашние изменения дошли до участка</a:t>
            </a:r>
          </a:p>
        </p:txBody>
      </p:sp>
      <p:sp>
        <p:nvSpPr>
          <p:cNvPr id="36" name="Текст 9"/>
          <p:cNvSpPr txBox="1"/>
          <p:nvPr/>
        </p:nvSpPr>
        <p:spPr>
          <a:xfrm>
            <a:off x="1308100" y="6826250"/>
            <a:ext cx="98171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Назвать бригаде цель смены, порядок передачи и время промежуточного контроля до начала работы</a:t>
            </a:r>
          </a:p>
        </p:txBody>
      </p:sp>
      <p:sp>
        <p:nvSpPr>
          <p:cNvPr id="37" name="Текст 10"/>
          <p:cNvSpPr txBox="1"/>
          <p:nvPr/>
        </p:nvSpPr>
        <p:spPr>
          <a:xfrm>
            <a:off x="1308100" y="7524750"/>
            <a:ext cx="92011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Отметить в журнале выявленные отклонения и сообщить о них начальнику производства</a:t>
            </a:r>
          </a:p>
        </p:txBody>
      </p:sp>
      <p:sp>
        <p:nvSpPr>
          <p:cNvPr id="38" name="Текст 11"/>
          <p:cNvSpPr txBox="1"/>
          <p:nvPr/>
        </p:nvSpPr>
        <p:spPr>
          <a:xfrm>
            <a:off x="1308100" y="7931150"/>
            <a:ext cx="92329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Проверить, что предыдущая смена не оставила незавершённую затяжку на общем стенде</a:t>
            </a:r>
          </a:p>
        </p:txBody>
      </p:sp>
      <p:sp>
        <p:nvSpPr>
          <p:cNvPr id="39" name="Текст 12"/>
          <p:cNvSpPr txBox="1"/>
          <p:nvPr/>
        </p:nvSpPr>
        <p:spPr>
          <a:xfrm>
            <a:off x="1308100" y="8331200"/>
            <a:ext cx="82296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Согласовать с кладовой время подвоза докомплекта на вторую половину смены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st.check · коротк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63350" y="4229100"/>
            <a:ext cx="2901950" cy="2901950"/>
          </a:xfrm>
          <a:prstGeom prst="rect">
            <a:avLst/>
          </a:prstGeom>
        </p:spPr>
      </p:pic>
      <p:pic>
        <p:nvPicPr>
          <p:cNvPr id="11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3200" y="-1739900"/>
            <a:ext cx="2882900" cy="2882900"/>
          </a:xfrm>
          <a:prstGeom prst="rect">
            <a:avLst/>
          </a:prstGeom>
        </p:spPr>
      </p:pic>
      <p:pic>
        <p:nvPicPr>
          <p:cNvPr id="12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350" y="6350000"/>
            <a:ext cx="1276350" cy="1276350"/>
          </a:xfrm>
          <a:prstGeom prst="rect">
            <a:avLst/>
          </a:prstGeom>
        </p:spPr>
      </p:pic>
      <p:pic>
        <p:nvPicPr>
          <p:cNvPr id="13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550" y="-2362200"/>
            <a:ext cx="2838450" cy="2838450"/>
          </a:xfrm>
          <a:prstGeom prst="rect">
            <a:avLst/>
          </a:prstGeom>
        </p:spPr>
      </p:pic>
      <p:pic>
        <p:nvPicPr>
          <p:cNvPr id="14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71300" y="4743450"/>
            <a:ext cx="1816100" cy="1816100"/>
          </a:xfrm>
          <a:prstGeom prst="rect">
            <a:avLst/>
          </a:prstGeom>
        </p:spPr>
      </p:pic>
      <p:pic>
        <p:nvPicPr>
          <p:cNvPr id="15" name="Шестерня 3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409700" y="2343150"/>
            <a:ext cx="1625600" cy="1625600"/>
          </a:xfrm>
          <a:prstGeom prst="rect">
            <a:avLst/>
          </a:prstGeom>
        </p:spPr>
      </p:pic>
      <p:pic>
        <p:nvPicPr>
          <p:cNvPr id="16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870200"/>
            <a:ext cx="10922000" cy="2133600"/>
          </a:xfrm>
          <a:prstGeom prst="rect">
            <a:avLst/>
          </a:prstGeom>
        </p:spPr>
      </p:pic>
      <p:sp>
        <p:nvSpPr>
          <p:cNvPr id="18" name="Линия строки"/>
          <p:cNvSpPr/>
          <p:nvPr/>
        </p:nvSpPr>
        <p:spPr>
          <a:xfrm>
            <a:off x="1041400" y="3676650"/>
            <a:ext cx="10109200" cy="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Фигура"/>
          <p:cNvSpPr/>
          <p:nvPr/>
        </p:nvSpPr>
        <p:spPr>
          <a:xfrm>
            <a:off x="1041400" y="3314700"/>
            <a:ext cx="19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Линия строки"/>
          <p:cNvSpPr/>
          <p:nvPr/>
        </p:nvSpPr>
        <p:spPr>
          <a:xfrm>
            <a:off x="1041400" y="4203700"/>
            <a:ext cx="10109200" cy="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Фигура"/>
          <p:cNvSpPr/>
          <p:nvPr/>
        </p:nvSpPr>
        <p:spPr>
          <a:xfrm>
            <a:off x="1041400" y="3841750"/>
            <a:ext cx="19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Фигура"/>
          <p:cNvSpPr/>
          <p:nvPr/>
        </p:nvSpPr>
        <p:spPr>
          <a:xfrm>
            <a:off x="1041400" y="4368800"/>
            <a:ext cx="19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Акцентная линия"/>
          <p:cNvSpPr/>
          <p:nvPr/>
        </p:nvSpPr>
        <p:spPr>
          <a:xfrm>
            <a:off x="469900" y="0"/>
            <a:ext cx="0" cy="2070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Текст 1"/>
          <p:cNvSpPr txBox="1"/>
          <p:nvPr/>
        </p:nvSpPr>
        <p:spPr>
          <a:xfrm>
            <a:off x="635000" y="1727200"/>
            <a:ext cx="8890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ЧЕК-ЛИСТ ПРИЁМКИ УЧАСТКА</a:t>
            </a:r>
          </a:p>
        </p:txBody>
      </p:sp>
      <p:sp>
        <p:nvSpPr>
          <p:cNvPr id="25" name="Текст 2"/>
          <p:cNvSpPr txBox="1"/>
          <p:nvPr/>
        </p:nvSpPr>
        <p:spPr>
          <a:xfrm>
            <a:off x="1397000" y="3263900"/>
            <a:ext cx="37528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Журнал закрыт предыдущей сменой</a:t>
            </a:r>
          </a:p>
        </p:txBody>
      </p:sp>
      <p:sp>
        <p:nvSpPr>
          <p:cNvPr id="26" name="Текст 3"/>
          <p:cNvSpPr txBox="1"/>
          <p:nvPr/>
        </p:nvSpPr>
        <p:spPr>
          <a:xfrm>
            <a:off x="1397000" y="3790950"/>
            <a:ext cx="34544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Комплект пересчитан по заданию</a:t>
            </a:r>
          </a:p>
        </p:txBody>
      </p:sp>
      <p:sp>
        <p:nvSpPr>
          <p:cNvPr id="27" name="Текст 4"/>
          <p:cNvSpPr txBox="1"/>
          <p:nvPr/>
        </p:nvSpPr>
        <p:spPr>
          <a:xfrm>
            <a:off x="1397000" y="4318000"/>
            <a:ext cx="37020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Инструмент исправен, СИЗ на месте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st.check · на лимит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800" y="-1924050"/>
            <a:ext cx="2984500" cy="2984500"/>
          </a:xfrm>
          <a:prstGeom prst="rect">
            <a:avLst/>
          </a:prstGeom>
        </p:spPr>
      </p:pic>
      <p:pic>
        <p:nvPicPr>
          <p:cNvPr id="11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85550" y="120650"/>
            <a:ext cx="2686050" cy="2686050"/>
          </a:xfrm>
          <a:prstGeom prst="rect">
            <a:avLst/>
          </a:prstGeom>
        </p:spPr>
      </p:pic>
      <p:pic>
        <p:nvPicPr>
          <p:cNvPr id="12" name="Шестерня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63400" y="5778500"/>
            <a:ext cx="1022350" cy="1022350"/>
          </a:xfrm>
          <a:prstGeom prst="rect">
            <a:avLst/>
          </a:prstGeom>
        </p:spPr>
      </p:pic>
      <p:pic>
        <p:nvPicPr>
          <p:cNvPr id="13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4700" y="6292850"/>
            <a:ext cx="2660650" cy="2660650"/>
          </a:xfrm>
          <a:prstGeom prst="rect">
            <a:avLst/>
          </a:prstGeom>
        </p:spPr>
      </p:pic>
      <p:pic>
        <p:nvPicPr>
          <p:cNvPr id="14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447800" y="4635500"/>
            <a:ext cx="2070100" cy="2070100"/>
          </a:xfrm>
          <a:prstGeom prst="rect">
            <a:avLst/>
          </a:prstGeom>
        </p:spPr>
      </p:pic>
      <p:pic>
        <p:nvPicPr>
          <p:cNvPr id="15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2350" y="6235700"/>
            <a:ext cx="2279650" cy="2279650"/>
          </a:xfrm>
          <a:prstGeom prst="rect">
            <a:avLst/>
          </a:prstGeom>
        </p:spPr>
      </p:pic>
      <p:pic>
        <p:nvPicPr>
          <p:cNvPr id="16" name="Шестерня 2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10000" y="-1365250"/>
            <a:ext cx="2228850" cy="2228850"/>
          </a:xfrm>
          <a:prstGeom prst="rect">
            <a:avLst/>
          </a:prstGeom>
        </p:spPr>
      </p:pic>
      <p:pic>
        <p:nvPicPr>
          <p:cNvPr id="17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2300" y="2228850"/>
            <a:ext cx="9937750" cy="4064000"/>
          </a:xfrm>
          <a:prstGeom prst="rect">
            <a:avLst/>
          </a:prstGeom>
        </p:spPr>
      </p:pic>
      <p:sp>
        <p:nvSpPr>
          <p:cNvPr id="19" name="Линия строки"/>
          <p:cNvSpPr/>
          <p:nvPr/>
        </p:nvSpPr>
        <p:spPr>
          <a:xfrm>
            <a:off x="1092200" y="3041650"/>
            <a:ext cx="8413750" cy="10160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Фигура"/>
          <p:cNvSpPr/>
          <p:nvPr/>
        </p:nvSpPr>
        <p:spPr>
          <a:xfrm>
            <a:off x="1568450" y="2692400"/>
            <a:ext cx="19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Линия строки"/>
          <p:cNvSpPr/>
          <p:nvPr/>
        </p:nvSpPr>
        <p:spPr>
          <a:xfrm>
            <a:off x="1092199" y="3543299"/>
            <a:ext cx="8366125" cy="82551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Фигура"/>
          <p:cNvSpPr/>
          <p:nvPr/>
        </p:nvSpPr>
        <p:spPr>
          <a:xfrm>
            <a:off x="1568450" y="3194050"/>
            <a:ext cx="19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Линия строки"/>
          <p:cNvSpPr/>
          <p:nvPr/>
        </p:nvSpPr>
        <p:spPr>
          <a:xfrm>
            <a:off x="1092200" y="4044950"/>
            <a:ext cx="8413750" cy="1270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Фигура"/>
          <p:cNvSpPr/>
          <p:nvPr/>
        </p:nvSpPr>
        <p:spPr>
          <a:xfrm>
            <a:off x="1568450" y="3695700"/>
            <a:ext cx="19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Линия строки"/>
          <p:cNvSpPr/>
          <p:nvPr/>
        </p:nvSpPr>
        <p:spPr>
          <a:xfrm>
            <a:off x="1092200" y="4546600"/>
            <a:ext cx="8413750" cy="8890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Фигура"/>
          <p:cNvSpPr/>
          <p:nvPr/>
        </p:nvSpPr>
        <p:spPr>
          <a:xfrm>
            <a:off x="1568450" y="4197350"/>
            <a:ext cx="19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Линия строки"/>
          <p:cNvSpPr/>
          <p:nvPr/>
        </p:nvSpPr>
        <p:spPr>
          <a:xfrm flipV="1">
            <a:off x="1092200" y="5029220"/>
            <a:ext cx="8413750" cy="1903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Фигура"/>
          <p:cNvSpPr/>
          <p:nvPr/>
        </p:nvSpPr>
        <p:spPr>
          <a:xfrm>
            <a:off x="1568450" y="4699000"/>
            <a:ext cx="19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Линия строки"/>
          <p:cNvSpPr/>
          <p:nvPr/>
        </p:nvSpPr>
        <p:spPr>
          <a:xfrm>
            <a:off x="1092200" y="5549899"/>
            <a:ext cx="8413750" cy="44431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Фигура"/>
          <p:cNvSpPr/>
          <p:nvPr/>
        </p:nvSpPr>
        <p:spPr>
          <a:xfrm>
            <a:off x="1568450" y="5200650"/>
            <a:ext cx="19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Фигура"/>
          <p:cNvSpPr/>
          <p:nvPr/>
        </p:nvSpPr>
        <p:spPr>
          <a:xfrm>
            <a:off x="1568450" y="5702300"/>
            <a:ext cx="19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Акцентная линия"/>
          <p:cNvSpPr/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Текст 1"/>
          <p:cNvSpPr txBox="1"/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ЧЕК-ЛИСТ ПРИЁМКИ УЧАСТКА</a:t>
            </a:r>
          </a:p>
        </p:txBody>
      </p:sp>
      <p:sp>
        <p:nvSpPr>
          <p:cNvPr id="34" name="Текст 2"/>
          <p:cNvSpPr txBox="1"/>
          <p:nvPr/>
        </p:nvSpPr>
        <p:spPr>
          <a:xfrm>
            <a:off x="635000" y="1562100"/>
            <a:ext cx="8255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375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Лист распечатывают и вешают у стенда. Мастер отмечает пункты до первой операции, а не по памяти в конце смены.</a:t>
            </a:r>
          </a:p>
        </p:txBody>
      </p:sp>
      <p:sp>
        <p:nvSpPr>
          <p:cNvPr id="35" name="Текст 3"/>
          <p:cNvSpPr txBox="1"/>
          <p:nvPr/>
        </p:nvSpPr>
        <p:spPr>
          <a:xfrm>
            <a:off x="1924050" y="2641600"/>
            <a:ext cx="61214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Журнал закрыт предыдущей сменой, замечания прочитаны</a:t>
            </a:r>
          </a:p>
        </p:txBody>
      </p:sp>
      <p:sp>
        <p:nvSpPr>
          <p:cNvPr id="36" name="Текст 4"/>
          <p:cNvSpPr txBox="1"/>
          <p:nvPr/>
        </p:nvSpPr>
        <p:spPr>
          <a:xfrm>
            <a:off x="1924050" y="3143250"/>
            <a:ext cx="59817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Комплект пересчитан по спецификации сменного задания</a:t>
            </a:r>
          </a:p>
        </p:txBody>
      </p:sp>
      <p:sp>
        <p:nvSpPr>
          <p:cNvPr id="37" name="Текст 5"/>
          <p:cNvSpPr txBox="1"/>
          <p:nvPr/>
        </p:nvSpPr>
        <p:spPr>
          <a:xfrm>
            <a:off x="1924050" y="3644900"/>
            <a:ext cx="50355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Чертёж на стенде совпадает с версией в задании</a:t>
            </a:r>
          </a:p>
        </p:txBody>
      </p:sp>
      <p:sp>
        <p:nvSpPr>
          <p:cNvPr id="38" name="Текст 6"/>
          <p:cNvSpPr txBox="1"/>
          <p:nvPr/>
        </p:nvSpPr>
        <p:spPr>
          <a:xfrm>
            <a:off x="1924050" y="4146550"/>
            <a:ext cx="47307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Инструмент исправен, поверка не просрочена</a:t>
            </a:r>
          </a:p>
        </p:txBody>
      </p:sp>
      <p:sp>
        <p:nvSpPr>
          <p:cNvPr id="39" name="Текст 7"/>
          <p:cNvSpPr txBox="1"/>
          <p:nvPr/>
        </p:nvSpPr>
        <p:spPr>
          <a:xfrm>
            <a:off x="1924050" y="4648200"/>
            <a:ext cx="52387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СИЗ выданы всем, включая сборщиков на подмене</a:t>
            </a:r>
          </a:p>
        </p:txBody>
      </p:sp>
      <p:sp>
        <p:nvSpPr>
          <p:cNvPr id="40" name="Текст 8"/>
          <p:cNvSpPr txBox="1"/>
          <p:nvPr/>
        </p:nvSpPr>
        <p:spPr>
          <a:xfrm>
            <a:off x="1924050" y="5149850"/>
            <a:ext cx="56959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Проходы свободны, место под готовые узлы размечено</a:t>
            </a:r>
          </a:p>
        </p:txBody>
      </p:sp>
      <p:sp>
        <p:nvSpPr>
          <p:cNvPr id="41" name="Текст 9"/>
          <p:cNvSpPr txBox="1"/>
          <p:nvPr/>
        </p:nvSpPr>
        <p:spPr>
          <a:xfrm>
            <a:off x="1924050" y="5651500"/>
            <a:ext cx="45720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Бригада знает цель смены и время контроля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st.check · избыто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06450" y="2870200"/>
            <a:ext cx="1111250" cy="1111250"/>
          </a:xfrm>
          <a:prstGeom prst="rect">
            <a:avLst/>
          </a:prstGeom>
        </p:spPr>
      </p:pic>
      <p:pic>
        <p:nvPicPr>
          <p:cNvPr id="12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61200" y="-1708150"/>
            <a:ext cx="2298700" cy="2298700"/>
          </a:xfrm>
          <a:prstGeom prst="rect">
            <a:avLst/>
          </a:prstGeom>
        </p:spPr>
      </p:pic>
      <p:pic>
        <p:nvPicPr>
          <p:cNvPr id="14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18950" y="4044950"/>
            <a:ext cx="2254250" cy="2254250"/>
          </a:xfrm>
          <a:prstGeom prst="rect">
            <a:avLst/>
          </a:prstGeom>
        </p:spPr>
      </p:pic>
      <p:pic>
        <p:nvPicPr>
          <p:cNvPr id="15" name="Шестерня 3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88750" y="3702050"/>
            <a:ext cx="1574800" cy="1574800"/>
          </a:xfrm>
          <a:prstGeom prst="rect">
            <a:avLst/>
          </a:prstGeom>
        </p:spPr>
      </p:pic>
      <p:pic>
        <p:nvPicPr>
          <p:cNvPr id="16" name="Логотип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" y="1612899"/>
            <a:ext cx="10444079" cy="4921251"/>
          </a:xfrm>
          <a:prstGeom prst="rect">
            <a:avLst/>
          </a:prstGeom>
        </p:spPr>
      </p:pic>
      <p:sp>
        <p:nvSpPr>
          <p:cNvPr id="18" name="Линия строки"/>
          <p:cNvSpPr/>
          <p:nvPr/>
        </p:nvSpPr>
        <p:spPr>
          <a:xfrm>
            <a:off x="1092200" y="2562225"/>
            <a:ext cx="9875921" cy="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9" name="Фигура"/>
          <p:cNvSpPr/>
          <p:nvPr/>
        </p:nvSpPr>
        <p:spPr>
          <a:xfrm>
            <a:off x="1092200" y="2228850"/>
            <a:ext cx="187993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0" name="Линия строки"/>
          <p:cNvSpPr/>
          <p:nvPr/>
        </p:nvSpPr>
        <p:spPr>
          <a:xfrm>
            <a:off x="1092200" y="3022600"/>
            <a:ext cx="9875921" cy="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1" name="Фигура"/>
          <p:cNvSpPr/>
          <p:nvPr/>
        </p:nvSpPr>
        <p:spPr>
          <a:xfrm>
            <a:off x="1112921" y="2717800"/>
            <a:ext cx="187993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2" name="Линия строки"/>
          <p:cNvSpPr/>
          <p:nvPr/>
        </p:nvSpPr>
        <p:spPr>
          <a:xfrm>
            <a:off x="1092200" y="3524250"/>
            <a:ext cx="9875921" cy="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3" name="Фигура"/>
          <p:cNvSpPr/>
          <p:nvPr/>
        </p:nvSpPr>
        <p:spPr>
          <a:xfrm>
            <a:off x="1092200" y="3175000"/>
            <a:ext cx="187993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4" name="Линия строки"/>
          <p:cNvSpPr/>
          <p:nvPr/>
        </p:nvSpPr>
        <p:spPr>
          <a:xfrm>
            <a:off x="1092200" y="4025900"/>
            <a:ext cx="9875921" cy="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5" name="Фигура"/>
          <p:cNvSpPr/>
          <p:nvPr/>
        </p:nvSpPr>
        <p:spPr>
          <a:xfrm>
            <a:off x="1092200" y="3670300"/>
            <a:ext cx="187993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6" name="Линия строки"/>
          <p:cNvSpPr/>
          <p:nvPr/>
        </p:nvSpPr>
        <p:spPr>
          <a:xfrm>
            <a:off x="1092200" y="4521200"/>
            <a:ext cx="9875921" cy="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7" name="Фигура"/>
          <p:cNvSpPr/>
          <p:nvPr/>
        </p:nvSpPr>
        <p:spPr>
          <a:xfrm>
            <a:off x="1092200" y="4171950"/>
            <a:ext cx="187993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8" name="Линия строки"/>
          <p:cNvSpPr/>
          <p:nvPr/>
        </p:nvSpPr>
        <p:spPr>
          <a:xfrm>
            <a:off x="1092200" y="5022850"/>
            <a:ext cx="9875921" cy="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0" name="Линия строки"/>
          <p:cNvSpPr/>
          <p:nvPr/>
        </p:nvSpPr>
        <p:spPr>
          <a:xfrm>
            <a:off x="1092200" y="5524500"/>
            <a:ext cx="9875921" cy="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2" name="Линия строки"/>
          <p:cNvSpPr/>
          <p:nvPr/>
        </p:nvSpPr>
        <p:spPr>
          <a:xfrm>
            <a:off x="1092200" y="6026150"/>
            <a:ext cx="9875921" cy="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4" name="Линия строки"/>
          <p:cNvSpPr/>
          <p:nvPr/>
        </p:nvSpPr>
        <p:spPr>
          <a:xfrm>
            <a:off x="1092200" y="7023100"/>
            <a:ext cx="9875921" cy="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6" name="Линия строки"/>
          <p:cNvSpPr/>
          <p:nvPr/>
        </p:nvSpPr>
        <p:spPr>
          <a:xfrm>
            <a:off x="1092200" y="7524750"/>
            <a:ext cx="9875921" cy="0"/>
          </a:xfrm>
          <a:prstGeom prst="line">
            <a:avLst/>
          </a:prstGeom>
          <a:noFill/>
          <a:ln w="9525">
            <a:solidFill>
              <a:srgbClr val="E5E8EC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7" name="Фигура"/>
          <p:cNvSpPr/>
          <p:nvPr/>
        </p:nvSpPr>
        <p:spPr>
          <a:xfrm>
            <a:off x="1092200" y="7175500"/>
            <a:ext cx="187993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8" name="Фигура"/>
          <p:cNvSpPr/>
          <p:nvPr/>
        </p:nvSpPr>
        <p:spPr>
          <a:xfrm>
            <a:off x="1092200" y="8286750"/>
            <a:ext cx="190500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Акцентная линия"/>
          <p:cNvSpPr/>
          <p:nvPr/>
        </p:nvSpPr>
        <p:spPr>
          <a:xfrm>
            <a:off x="469900" y="0"/>
            <a:ext cx="0" cy="75565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Текст 1"/>
          <p:cNvSpPr txBox="1"/>
          <p:nvPr/>
        </p:nvSpPr>
        <p:spPr>
          <a:xfrm>
            <a:off x="635000" y="180975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ЧЕК-ЛИСТ ПРИЁМКИ УЧАСТКА</a:t>
            </a:r>
          </a:p>
        </p:txBody>
      </p:sp>
      <p:sp>
        <p:nvSpPr>
          <p:cNvPr id="41" name="Текст 2"/>
          <p:cNvSpPr txBox="1"/>
          <p:nvPr/>
        </p:nvSpPr>
        <p:spPr>
          <a:xfrm>
            <a:off x="635000" y="1000124"/>
            <a:ext cx="82550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375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Лист распечатывают и вешают у стенда.</a:t>
            </a:r>
          </a:p>
        </p:txBody>
      </p:sp>
      <p:sp>
        <p:nvSpPr>
          <p:cNvPr id="42" name="Текст 3"/>
          <p:cNvSpPr txBox="1"/>
          <p:nvPr/>
        </p:nvSpPr>
        <p:spPr>
          <a:xfrm>
            <a:off x="1447800" y="2203450"/>
            <a:ext cx="9525000" cy="3587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4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Журнал закрыт предыдущей сменой, все замечания контроля прочитаны и по каждому есть отметка о решении</a:t>
            </a:r>
          </a:p>
        </p:txBody>
      </p:sp>
      <p:sp>
        <p:nvSpPr>
          <p:cNvPr id="43" name="Текст 4"/>
          <p:cNvSpPr txBox="1"/>
          <p:nvPr/>
        </p:nvSpPr>
        <p:spPr>
          <a:xfrm>
            <a:off x="1443121" y="2654300"/>
            <a:ext cx="9525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4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Комплект пересчитан по спецификации задания и сверен с фактической выдачей кладовой за сутки</a:t>
            </a:r>
          </a:p>
        </p:txBody>
      </p:sp>
      <p:sp>
        <p:nvSpPr>
          <p:cNvPr id="44" name="Текст 5"/>
          <p:cNvSpPr txBox="1"/>
          <p:nvPr/>
        </p:nvSpPr>
        <p:spPr>
          <a:xfrm>
            <a:off x="1447800" y="3124200"/>
            <a:ext cx="9186612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4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Чертёж на стенде совпадает с версией в задании, вчерашние изменения дошли до участка</a:t>
            </a:r>
          </a:p>
        </p:txBody>
      </p:sp>
      <p:sp>
        <p:nvSpPr>
          <p:cNvPr id="45" name="Текст 6"/>
          <p:cNvSpPr txBox="1"/>
          <p:nvPr/>
        </p:nvSpPr>
        <p:spPr>
          <a:xfrm>
            <a:off x="1447800" y="3625850"/>
            <a:ext cx="8516102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4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Инструмент исправен, поверка не просрочена, запасной ключ есть на случай отказа</a:t>
            </a:r>
          </a:p>
        </p:txBody>
      </p:sp>
      <p:sp>
        <p:nvSpPr>
          <p:cNvPr id="46" name="Текст 7"/>
          <p:cNvSpPr txBox="1"/>
          <p:nvPr/>
        </p:nvSpPr>
        <p:spPr>
          <a:xfrm>
            <a:off x="1447800" y="4121150"/>
            <a:ext cx="8522368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4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СИЗ выданы всем, включая сборщиков на подмене и практикантов учебного центра</a:t>
            </a:r>
          </a:p>
        </p:txBody>
      </p:sp>
      <p:sp>
        <p:nvSpPr>
          <p:cNvPr id="47" name="Текст 8"/>
          <p:cNvSpPr txBox="1"/>
          <p:nvPr/>
        </p:nvSpPr>
        <p:spPr>
          <a:xfrm>
            <a:off x="1447800" y="4622800"/>
            <a:ext cx="8152648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4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Проходы свободны, место под готовые узлы размечено и не занято тарой смены</a:t>
            </a:r>
          </a:p>
        </p:txBody>
      </p:sp>
      <p:sp>
        <p:nvSpPr>
          <p:cNvPr id="48" name="Текст 9"/>
          <p:cNvSpPr txBox="1"/>
          <p:nvPr/>
        </p:nvSpPr>
        <p:spPr>
          <a:xfrm>
            <a:off x="1447800" y="5124450"/>
            <a:ext cx="8265444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4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Бригада знает цель смены, время контроля и порядок передачи узлов на окраску</a:t>
            </a:r>
          </a:p>
        </p:txBody>
      </p:sp>
      <p:sp>
        <p:nvSpPr>
          <p:cNvPr id="51" name="Текст 12"/>
          <p:cNvSpPr txBox="1"/>
          <p:nvPr/>
        </p:nvSpPr>
        <p:spPr>
          <a:xfrm>
            <a:off x="1447800" y="7124700"/>
            <a:ext cx="71437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4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Отклонения занесены в журнал и переданы начальнику производства</a:t>
            </a:r>
          </a:p>
        </p:txBody>
      </p:sp>
      <p:sp>
        <p:nvSpPr>
          <p:cNvPr id="52" name="Текст 13"/>
          <p:cNvSpPr txBox="1"/>
          <p:nvPr/>
        </p:nvSpPr>
        <p:spPr>
          <a:xfrm>
            <a:off x="1447800" y="8235950"/>
            <a:ext cx="76581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5294"/>
              </a:lnSpc>
              <a:buNone/>
            </a:pPr>
            <a:r>
              <a:rPr lang="ru-RU" sz="17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Предыдущая смена не оставила незавершённую затяжку на общем стенде</a:t>
            </a:r>
          </a:p>
        </p:txBody>
      </p:sp>
      <p:sp>
        <p:nvSpPr>
          <p:cNvPr id="53" name="Фигура">
            <a:extLst>
              <a:ext uri="{FF2B5EF4-FFF2-40B4-BE49-F238E27FC236}">
                <a16:creationId xmlns:a16="http://schemas.microsoft.com/office/drawing/2014/main" id="{A583AD18-B883-4E6C-9E53-9147E879AA94}"/>
              </a:ext>
            </a:extLst>
          </p:cNvPr>
          <p:cNvSpPr/>
          <p:nvPr/>
        </p:nvSpPr>
        <p:spPr>
          <a:xfrm>
            <a:off x="1112920" y="4667250"/>
            <a:ext cx="187993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54" name="Фигура">
            <a:extLst>
              <a:ext uri="{FF2B5EF4-FFF2-40B4-BE49-F238E27FC236}">
                <a16:creationId xmlns:a16="http://schemas.microsoft.com/office/drawing/2014/main" id="{769BE8F1-E75C-47FB-8C52-BBEC9BE44210}"/>
              </a:ext>
            </a:extLst>
          </p:cNvPr>
          <p:cNvSpPr/>
          <p:nvPr/>
        </p:nvSpPr>
        <p:spPr>
          <a:xfrm>
            <a:off x="1092200" y="5149851"/>
            <a:ext cx="187993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A4ABB5"/>
            </a:solidFill>
            <a:prstDash val="solid"/>
          </a:ln>
        </p:spPr>
        <p:txBody>
          <a:bodyPr/>
          <a:lstStyle/>
          <a:p>
            <a:endParaRPr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rds.2 · на лимит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5150" y="-2679700"/>
            <a:ext cx="3594100" cy="3594100"/>
          </a:xfrm>
          <a:prstGeom prst="rect">
            <a:avLst/>
          </a:prstGeom>
        </p:spPr>
      </p:pic>
      <p:pic>
        <p:nvPicPr>
          <p:cNvPr id="11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4450" y="-1066800"/>
            <a:ext cx="1708150" cy="1708150"/>
          </a:xfrm>
          <a:prstGeom prst="rect">
            <a:avLst/>
          </a:prstGeom>
        </p:spPr>
      </p:pic>
      <p:pic>
        <p:nvPicPr>
          <p:cNvPr id="12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72850" y="4972050"/>
            <a:ext cx="2686050" cy="2686050"/>
          </a:xfrm>
          <a:prstGeom prst="rect">
            <a:avLst/>
          </a:prstGeom>
        </p:spPr>
      </p:pic>
      <p:pic>
        <p:nvPicPr>
          <p:cNvPr id="13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14400" y="527050"/>
            <a:ext cx="1498600" cy="1498600"/>
          </a:xfrm>
          <a:prstGeom prst="rect">
            <a:avLst/>
          </a:prstGeom>
        </p:spPr>
      </p:pic>
      <p:pic>
        <p:nvPicPr>
          <p:cNvPr id="14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06250" y="1130300"/>
            <a:ext cx="1790700" cy="1790700"/>
          </a:xfrm>
          <a:prstGeom prst="rect">
            <a:avLst/>
          </a:prstGeom>
        </p:spPr>
      </p:pic>
      <p:pic>
        <p:nvPicPr>
          <p:cNvPr id="15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76850" y="6584950"/>
            <a:ext cx="1778000" cy="1778000"/>
          </a:xfrm>
          <a:prstGeom prst="rect">
            <a:avLst/>
          </a:prstGeom>
        </p:spPr>
      </p:pic>
      <p:pic>
        <p:nvPicPr>
          <p:cNvPr id="16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2476499"/>
            <a:ext cx="5270500" cy="3038475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6500" y="2476500"/>
            <a:ext cx="5270500" cy="3038474"/>
          </a:xfrm>
          <a:prstGeom prst="rect">
            <a:avLst/>
          </a:prstGeom>
        </p:spPr>
      </p:pic>
      <p:sp>
        <p:nvSpPr>
          <p:cNvPr id="19" name="Акцентная линия"/>
          <p:cNvSpPr/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Текст 1"/>
          <p:cNvSpPr txBox="1"/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ДВЕ ЗОНЫ ОТВЕТСТВЕННОСТИ МАСТЕРА</a:t>
            </a:r>
          </a:p>
        </p:txBody>
      </p:sp>
      <p:sp>
        <p:nvSpPr>
          <p:cNvPr id="21" name="Текст 2"/>
          <p:cNvSpPr txBox="1"/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375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Одна зона — про план и сроки, вторая — про людей и порядок. Мастер, который держит только первую, к концу месяца теряет вторую.</a:t>
            </a:r>
          </a:p>
        </p:txBody>
      </p:sp>
      <p:sp>
        <p:nvSpPr>
          <p:cNvPr id="22" name="Текст 3"/>
          <p:cNvSpPr txBox="1"/>
          <p:nvPr/>
        </p:nvSpPr>
        <p:spPr>
          <a:xfrm>
            <a:off x="10414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ПЛАН</a:t>
            </a:r>
          </a:p>
        </p:txBody>
      </p:sp>
      <p:sp>
        <p:nvSpPr>
          <p:cNvPr id="23" name="Текст 4"/>
          <p:cNvSpPr txBox="1"/>
          <p:nvPr/>
        </p:nvSpPr>
        <p:spPr>
          <a:xfrm>
            <a:off x="10414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Сменное задание разбито по операциям, а не выдано бригаде целиком. Мастер видит отставание в середине смены, когда его ещё можно нагнать без сверхурочных.</a:t>
            </a:r>
          </a:p>
        </p:txBody>
      </p:sp>
      <p:sp>
        <p:nvSpPr>
          <p:cNvPr id="24" name="Текст 5"/>
          <p:cNvSpPr txBox="1"/>
          <p:nvPr/>
        </p:nvSpPr>
        <p:spPr>
          <a:xfrm>
            <a:off x="6692900" y="2806700"/>
            <a:ext cx="4457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ПОРЯДОК</a:t>
            </a:r>
          </a:p>
        </p:txBody>
      </p:sp>
      <p:sp>
        <p:nvSpPr>
          <p:cNvPr id="25" name="Текст 6"/>
          <p:cNvSpPr txBox="1"/>
          <p:nvPr/>
        </p:nvSpPr>
        <p:spPr>
          <a:xfrm>
            <a:off x="6692900" y="3200400"/>
            <a:ext cx="44577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Правила одинаковы для всех и не меняются от загрузки участка. Бригада знает, что проверка комплектности не отменяется, даже когда заказ горит.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rds.3 · на лимит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42950" y="1962150"/>
            <a:ext cx="984250" cy="984250"/>
          </a:xfrm>
          <a:prstGeom prst="rect">
            <a:avLst/>
          </a:prstGeom>
        </p:spPr>
      </p:pic>
      <p:pic>
        <p:nvPicPr>
          <p:cNvPr id="11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8100" y="4083050"/>
            <a:ext cx="1949450" cy="1949450"/>
          </a:xfrm>
          <a:prstGeom prst="rect">
            <a:avLst/>
          </a:prstGeom>
        </p:spPr>
      </p:pic>
      <p:pic>
        <p:nvPicPr>
          <p:cNvPr id="12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4350" y="-2197100"/>
            <a:ext cx="2628900" cy="2628900"/>
          </a:xfrm>
          <a:prstGeom prst="rect">
            <a:avLst/>
          </a:prstGeom>
        </p:spPr>
      </p:pic>
      <p:pic>
        <p:nvPicPr>
          <p:cNvPr id="13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4800" y="6350000"/>
            <a:ext cx="1600200" cy="1600200"/>
          </a:xfrm>
          <a:prstGeom prst="rect">
            <a:avLst/>
          </a:prstGeom>
        </p:spPr>
      </p:pic>
      <p:pic>
        <p:nvPicPr>
          <p:cNvPr id="14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8350" y="165100"/>
            <a:ext cx="3429000" cy="3429000"/>
          </a:xfrm>
          <a:prstGeom prst="rect">
            <a:avLst/>
          </a:prstGeom>
        </p:spPr>
      </p:pic>
      <p:pic>
        <p:nvPicPr>
          <p:cNvPr id="15" name="Шестерня 2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8600" y="-1073150"/>
            <a:ext cx="1352550" cy="1352550"/>
          </a:xfrm>
          <a:prstGeom prst="rect">
            <a:avLst/>
          </a:prstGeom>
        </p:spPr>
      </p:pic>
      <p:pic>
        <p:nvPicPr>
          <p:cNvPr id="16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476500"/>
            <a:ext cx="3454400" cy="251460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8800" y="2476500"/>
            <a:ext cx="3454400" cy="2514600"/>
          </a:xfrm>
          <a:prstGeom prst="rect">
            <a:avLst/>
          </a:prstGeom>
        </p:spPr>
      </p:pic>
      <p:pic>
        <p:nvPicPr>
          <p:cNvPr id="1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02600" y="2476500"/>
            <a:ext cx="3454400" cy="2514600"/>
          </a:xfrm>
          <a:prstGeom prst="rect">
            <a:avLst/>
          </a:prstGeom>
        </p:spPr>
      </p:pic>
      <p:sp>
        <p:nvSpPr>
          <p:cNvPr id="20" name="Акцентная линия"/>
          <p:cNvSpPr/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/>
          <p:cNvSpPr txBox="1"/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</a:p>
        </p:txBody>
      </p:sp>
      <p:sp>
        <p:nvSpPr>
          <p:cNvPr id="22" name="Текст 2"/>
          <p:cNvSpPr txBox="1"/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375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 и загрузки смены.</a:t>
            </a:r>
          </a:p>
        </p:txBody>
      </p:sp>
      <p:sp>
        <p:nvSpPr>
          <p:cNvPr id="23" name="Текст 3"/>
          <p:cNvSpPr txBox="1"/>
          <p:nvPr/>
        </p:nvSpPr>
        <p:spPr>
          <a:xfrm>
            <a:off x="9652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</a:p>
        </p:txBody>
      </p:sp>
      <p:sp>
        <p:nvSpPr>
          <p:cNvPr id="24" name="Текст 4"/>
          <p:cNvSpPr txBox="1"/>
          <p:nvPr/>
        </p:nvSpPr>
        <p:spPr>
          <a:xfrm>
            <a:off x="965200" y="3162300"/>
            <a:ext cx="2794000" cy="157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Проверки и затяжка идут по регламенту, а не «когда дойдут руки». Порядок операций не переставляют ради скорости.</a:t>
            </a:r>
          </a:p>
        </p:txBody>
      </p:sp>
      <p:sp>
        <p:nvSpPr>
          <p:cNvPr id="25" name="Текст 5"/>
          <p:cNvSpPr txBox="1"/>
          <p:nvPr/>
        </p:nvSpPr>
        <p:spPr>
          <a:xfrm>
            <a:off x="46990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</a:p>
        </p:txBody>
      </p:sp>
      <p:sp>
        <p:nvSpPr>
          <p:cNvPr id="26" name="Текст 6"/>
          <p:cNvSpPr txBox="1"/>
          <p:nvPr/>
        </p:nvSpPr>
        <p:spPr>
          <a:xfrm>
            <a:off x="4699000" y="3162300"/>
            <a:ext cx="27940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СИЗ надеты, зона свободна, инструмент исправен — до начала операции, а не после первого замечания.</a:t>
            </a:r>
          </a:p>
        </p:txBody>
      </p:sp>
      <p:sp>
        <p:nvSpPr>
          <p:cNvPr id="27" name="Текст 7"/>
          <p:cNvSpPr txBox="1"/>
          <p:nvPr/>
        </p:nvSpPr>
        <p:spPr>
          <a:xfrm>
            <a:off x="8432800" y="27813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</a:p>
        </p:txBody>
      </p:sp>
      <p:sp>
        <p:nvSpPr>
          <p:cNvPr id="28" name="Текст 8"/>
          <p:cNvSpPr txBox="1"/>
          <p:nvPr/>
        </p:nvSpPr>
        <p:spPr>
          <a:xfrm>
            <a:off x="8432800" y="3162300"/>
            <a:ext cx="27940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без «потом допишу по памяти».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rds.3 · коротк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8100" y="-3003550"/>
            <a:ext cx="3568700" cy="3568700"/>
          </a:xfrm>
          <a:prstGeom prst="rect">
            <a:avLst/>
          </a:prstGeom>
        </p:spPr>
      </p:pic>
      <p:pic>
        <p:nvPicPr>
          <p:cNvPr id="11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2700" y="-736600"/>
            <a:ext cx="3638550" cy="3638550"/>
          </a:xfrm>
          <a:prstGeom prst="rect">
            <a:avLst/>
          </a:prstGeom>
        </p:spPr>
      </p:pic>
      <p:pic>
        <p:nvPicPr>
          <p:cNvPr id="12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235200" y="4749800"/>
            <a:ext cx="3276600" cy="3276600"/>
          </a:xfrm>
          <a:prstGeom prst="rect">
            <a:avLst/>
          </a:prstGeom>
        </p:spPr>
      </p:pic>
      <p:pic>
        <p:nvPicPr>
          <p:cNvPr id="13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8000" y="-2330450"/>
            <a:ext cx="3175000" cy="3175000"/>
          </a:xfrm>
          <a:prstGeom prst="rect">
            <a:avLst/>
          </a:prstGeom>
        </p:spPr>
      </p:pic>
      <p:pic>
        <p:nvPicPr>
          <p:cNvPr id="14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2800" y="6527800"/>
            <a:ext cx="2038350" cy="2038350"/>
          </a:xfrm>
          <a:prstGeom prst="rect">
            <a:avLst/>
          </a:prstGeom>
        </p:spPr>
      </p:pic>
      <p:pic>
        <p:nvPicPr>
          <p:cNvPr id="15" name="Шестерня 2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42750" y="5257800"/>
            <a:ext cx="1835150" cy="1835150"/>
          </a:xfrm>
          <a:prstGeom prst="rect">
            <a:avLst/>
          </a:prstGeom>
        </p:spPr>
      </p:pic>
      <p:pic>
        <p:nvPicPr>
          <p:cNvPr id="16" name="Логотип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" y="2870200"/>
            <a:ext cx="3454400" cy="129540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68800" y="2870200"/>
            <a:ext cx="3454400" cy="1295400"/>
          </a:xfrm>
          <a:prstGeom prst="rect">
            <a:avLst/>
          </a:prstGeom>
        </p:spPr>
      </p:pic>
      <p:pic>
        <p:nvPicPr>
          <p:cNvPr id="1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02600" y="2870200"/>
            <a:ext cx="3454400" cy="1295400"/>
          </a:xfrm>
          <a:prstGeom prst="rect">
            <a:avLst/>
          </a:prstGeom>
        </p:spPr>
      </p:pic>
      <p:sp>
        <p:nvSpPr>
          <p:cNvPr id="20" name="Акцентная линия"/>
          <p:cNvSpPr/>
          <p:nvPr/>
        </p:nvSpPr>
        <p:spPr>
          <a:xfrm>
            <a:off x="469900" y="0"/>
            <a:ext cx="0" cy="2070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/>
          <p:cNvSpPr txBox="1"/>
          <p:nvPr/>
        </p:nvSpPr>
        <p:spPr>
          <a:xfrm>
            <a:off x="635000" y="1727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</a:t>
            </a:r>
          </a:p>
        </p:txBody>
      </p:sp>
      <p:sp>
        <p:nvSpPr>
          <p:cNvPr id="22" name="Текст 2"/>
          <p:cNvSpPr txBox="1"/>
          <p:nvPr/>
        </p:nvSpPr>
        <p:spPr>
          <a:xfrm>
            <a:off x="965200" y="31750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</a:t>
            </a:r>
          </a:p>
        </p:txBody>
      </p:sp>
      <p:sp>
        <p:nvSpPr>
          <p:cNvPr id="23" name="Текст 3"/>
          <p:cNvSpPr txBox="1"/>
          <p:nvPr/>
        </p:nvSpPr>
        <p:spPr>
          <a:xfrm>
            <a:off x="965200" y="3556000"/>
            <a:ext cx="2794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Проверки по регламенту.</a:t>
            </a:r>
          </a:p>
        </p:txBody>
      </p:sp>
      <p:sp>
        <p:nvSpPr>
          <p:cNvPr id="24" name="Текст 4"/>
          <p:cNvSpPr txBox="1"/>
          <p:nvPr/>
        </p:nvSpPr>
        <p:spPr>
          <a:xfrm>
            <a:off x="4699000" y="31750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</a:t>
            </a:r>
          </a:p>
        </p:txBody>
      </p:sp>
      <p:sp>
        <p:nvSpPr>
          <p:cNvPr id="25" name="Текст 5"/>
          <p:cNvSpPr txBox="1"/>
          <p:nvPr/>
        </p:nvSpPr>
        <p:spPr>
          <a:xfrm>
            <a:off x="4699000" y="3556000"/>
            <a:ext cx="2794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СИЗ надеты до операции.</a:t>
            </a:r>
          </a:p>
        </p:txBody>
      </p:sp>
      <p:sp>
        <p:nvSpPr>
          <p:cNvPr id="26" name="Текст 6"/>
          <p:cNvSpPr txBox="1"/>
          <p:nvPr/>
        </p:nvSpPr>
        <p:spPr>
          <a:xfrm>
            <a:off x="8432800" y="31750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</a:t>
            </a:r>
          </a:p>
        </p:txBody>
      </p:sp>
      <p:sp>
        <p:nvSpPr>
          <p:cNvPr id="27" name="Текст 7"/>
          <p:cNvSpPr txBox="1"/>
          <p:nvPr/>
        </p:nvSpPr>
        <p:spPr>
          <a:xfrm>
            <a:off x="8432800" y="3556000"/>
            <a:ext cx="2794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В журнале только факты.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rds.3 · избыто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3900" y="-641350"/>
            <a:ext cx="3441700" cy="3441700"/>
          </a:xfrm>
          <a:prstGeom prst="rect">
            <a:avLst/>
          </a:prstGeom>
        </p:spPr>
      </p:pic>
      <p:pic>
        <p:nvPicPr>
          <p:cNvPr id="11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1150" y="-1911350"/>
            <a:ext cx="3060700" cy="3060700"/>
          </a:xfrm>
          <a:prstGeom prst="rect">
            <a:avLst/>
          </a:prstGeom>
        </p:spPr>
      </p:pic>
      <p:pic>
        <p:nvPicPr>
          <p:cNvPr id="12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597150" y="3987800"/>
            <a:ext cx="3340100" cy="3340100"/>
          </a:xfrm>
          <a:prstGeom prst="rect">
            <a:avLst/>
          </a:prstGeom>
        </p:spPr>
      </p:pic>
      <p:pic>
        <p:nvPicPr>
          <p:cNvPr id="13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65500" y="5651500"/>
            <a:ext cx="3067050" cy="3067050"/>
          </a:xfrm>
          <a:prstGeom prst="rect">
            <a:avLst/>
          </a:prstGeom>
        </p:spPr>
      </p:pic>
      <p:pic>
        <p:nvPicPr>
          <p:cNvPr id="14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13350" y="-2463800"/>
            <a:ext cx="3594100" cy="3594100"/>
          </a:xfrm>
          <a:prstGeom prst="rect">
            <a:avLst/>
          </a:prstGeom>
        </p:spPr>
      </p:pic>
      <p:pic>
        <p:nvPicPr>
          <p:cNvPr id="15" name="Шестерня 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63400" y="1416050"/>
            <a:ext cx="1162050" cy="1162050"/>
          </a:xfrm>
          <a:prstGeom prst="rect">
            <a:avLst/>
          </a:prstGeom>
        </p:spPr>
      </p:pic>
      <p:pic>
        <p:nvPicPr>
          <p:cNvPr id="16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2012950"/>
            <a:ext cx="3454400" cy="428625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68800" y="2012950"/>
            <a:ext cx="3454400" cy="4286250"/>
          </a:xfrm>
          <a:prstGeom prst="rect">
            <a:avLst/>
          </a:prstGeom>
        </p:spPr>
      </p:pic>
      <p:pic>
        <p:nvPicPr>
          <p:cNvPr id="1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02600" y="2012950"/>
            <a:ext cx="3454400" cy="4286250"/>
          </a:xfrm>
          <a:prstGeom prst="rect">
            <a:avLst/>
          </a:prstGeom>
        </p:spPr>
      </p:pic>
      <p:sp>
        <p:nvSpPr>
          <p:cNvPr id="20" name="Акцентная линия"/>
          <p:cNvSpPr/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/>
          <p:cNvSpPr txBox="1"/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ТРИ ОПОРЫ КАЧЕСТВА НА УЧАСТКЕ</a:t>
            </a:r>
          </a:p>
        </p:txBody>
      </p:sp>
      <p:sp>
        <p:nvSpPr>
          <p:cNvPr id="22" name="Текст 2"/>
          <p:cNvSpPr txBox="1"/>
          <p:nvPr/>
        </p:nvSpPr>
        <p:spPr>
          <a:xfrm>
            <a:off x="635000" y="1562100"/>
            <a:ext cx="88900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375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Качество держится на трёх привычках, которые не зависят от сложности заказа.</a:t>
            </a:r>
          </a:p>
        </p:txBody>
      </p:sp>
      <p:sp>
        <p:nvSpPr>
          <p:cNvPr id="23" name="Текст 3"/>
          <p:cNvSpPr txBox="1"/>
          <p:nvPr/>
        </p:nvSpPr>
        <p:spPr>
          <a:xfrm>
            <a:off x="965200" y="2317750"/>
            <a:ext cx="2794000" cy="596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9444"/>
              </a:lnSpc>
              <a:buNone/>
            </a:pPr>
            <a:r>
              <a:rPr lang="ru-RU" sz="18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ВРЕМЯ И РЕГЛАМЕНТ ЗАТЯЖКИ</a:t>
            </a:r>
          </a:p>
        </p:txBody>
      </p:sp>
      <p:sp>
        <p:nvSpPr>
          <p:cNvPr id="24" name="Текст 4"/>
          <p:cNvSpPr txBox="1"/>
          <p:nvPr/>
        </p:nvSpPr>
        <p:spPr>
          <a:xfrm>
            <a:off x="965200" y="2698750"/>
            <a:ext cx="2794000" cy="3600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4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Проверки и затяжка идут строго по регламенту, а не «когда дойдут руки»: порядок операций не переставляют ради скорости, промежуточный контроль не переносят на конец смены, а время на пересчёт крепежа заложено в сменное задание отдельной строкой и не списывается на нехватку времени.</a:t>
            </a:r>
          </a:p>
        </p:txBody>
      </p:sp>
      <p:sp>
        <p:nvSpPr>
          <p:cNvPr id="25" name="Текст 5"/>
          <p:cNvSpPr txBox="1"/>
          <p:nvPr/>
        </p:nvSpPr>
        <p:spPr>
          <a:xfrm>
            <a:off x="4699000" y="2317750"/>
            <a:ext cx="2794000" cy="596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9444"/>
              </a:lnSpc>
              <a:buNone/>
            </a:pPr>
            <a:r>
              <a:rPr lang="ru-RU" sz="18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БЕЗОПАСНОСТЬ НА РАБОЧЕМ МЕСТЕ</a:t>
            </a:r>
          </a:p>
        </p:txBody>
      </p:sp>
      <p:sp>
        <p:nvSpPr>
          <p:cNvPr id="26" name="Текст 6"/>
          <p:cNvSpPr txBox="1"/>
          <p:nvPr/>
        </p:nvSpPr>
        <p:spPr>
          <a:xfrm>
            <a:off x="4699000" y="3003550"/>
            <a:ext cx="2794000" cy="3403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4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СИЗ надеты, зона вокруг стенда свободна, инструмент исправен и поверен — всё это до начала операции, а не после первого замечания службы охраны труда, потому что замечание фиксирует нарушение, но не отменяет травму, которая может случиться в тот же час.</a:t>
            </a:r>
          </a:p>
        </p:txBody>
      </p:sp>
      <p:sp>
        <p:nvSpPr>
          <p:cNvPr id="27" name="Текст 7"/>
          <p:cNvSpPr txBox="1"/>
          <p:nvPr/>
        </p:nvSpPr>
        <p:spPr>
          <a:xfrm>
            <a:off x="8432800" y="2317750"/>
            <a:ext cx="2794000" cy="596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9444"/>
              </a:lnSpc>
              <a:buNone/>
            </a:pPr>
            <a:r>
              <a:rPr lang="ru-RU" sz="18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ДОСТОВЕРНОСТЬ ЗАПИСЕЙ В ЖУРНАЛЕ</a:t>
            </a:r>
          </a:p>
        </p:txBody>
      </p:sp>
      <p:sp>
        <p:nvSpPr>
          <p:cNvPr id="28" name="Текст 8"/>
          <p:cNvSpPr txBox="1"/>
          <p:nvPr/>
        </p:nvSpPr>
        <p:spPr>
          <a:xfrm>
            <a:off x="8432800" y="3003550"/>
            <a:ext cx="2794000" cy="309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4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В журнал вносят то, что реально сделано, без округлений и без «потом допишу по памяти», потому что журнал читает не только мастер: по нему принимает смену следующая бригада, разбирают возвраты от контроля и считают выработку в конце месяца.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rds.4 · на лимит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77650" y="-450850"/>
            <a:ext cx="2089150" cy="2089150"/>
          </a:xfrm>
          <a:prstGeom prst="rect">
            <a:avLst/>
          </a:prstGeom>
        </p:spPr>
      </p:pic>
      <p:pic>
        <p:nvPicPr>
          <p:cNvPr id="11" name="Шестерня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-1111250"/>
            <a:ext cx="1339850" cy="1339850"/>
          </a:xfrm>
          <a:prstGeom prst="rect">
            <a:avLst/>
          </a:prstGeom>
        </p:spPr>
      </p:pic>
      <p:pic>
        <p:nvPicPr>
          <p:cNvPr id="12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300" y="-2876550"/>
            <a:ext cx="3333750" cy="3333750"/>
          </a:xfrm>
          <a:prstGeom prst="rect">
            <a:avLst/>
          </a:prstGeom>
        </p:spPr>
      </p:pic>
      <p:pic>
        <p:nvPicPr>
          <p:cNvPr id="13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84400" y="6203950"/>
            <a:ext cx="3219450" cy="3219450"/>
          </a:xfrm>
          <a:prstGeom prst="rect">
            <a:avLst/>
          </a:prstGeom>
        </p:spPr>
      </p:pic>
      <p:pic>
        <p:nvPicPr>
          <p:cNvPr id="14" name="Шестерня 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65200" y="4768850"/>
            <a:ext cx="1454150" cy="1454150"/>
          </a:xfrm>
          <a:prstGeom prst="rect">
            <a:avLst/>
          </a:prstGeom>
        </p:spPr>
      </p:pic>
      <p:pic>
        <p:nvPicPr>
          <p:cNvPr id="15" name="Логотип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6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2387600"/>
            <a:ext cx="5270500" cy="186690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2387600"/>
            <a:ext cx="5270500" cy="186690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" y="4508500"/>
            <a:ext cx="5270500" cy="1562100"/>
          </a:xfrm>
          <a:prstGeom prst="rect">
            <a:avLst/>
          </a:prstGeom>
        </p:spPr>
      </p:pic>
      <p:pic>
        <p:nvPicPr>
          <p:cNvPr id="1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4508500"/>
            <a:ext cx="5270500" cy="1562100"/>
          </a:xfrm>
          <a:prstGeom prst="rect">
            <a:avLst/>
          </a:prstGeom>
        </p:spPr>
      </p:pic>
      <p:sp>
        <p:nvSpPr>
          <p:cNvPr id="20" name="Акцентная линия"/>
          <p:cNvSpPr/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Текст 1"/>
          <p:cNvSpPr txBox="1"/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ЧЕТЫРЕ ПРИЧИНЫ ПРОСТОЯ НА УЧАСТКЕ</a:t>
            </a:r>
          </a:p>
        </p:txBody>
      </p:sp>
      <p:sp>
        <p:nvSpPr>
          <p:cNvPr id="22" name="Текст 2"/>
          <p:cNvSpPr txBox="1"/>
          <p:nvPr/>
        </p:nvSpPr>
        <p:spPr>
          <a:xfrm>
            <a:off x="635000" y="1562100"/>
            <a:ext cx="8890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375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Четыре причины, а не подгонка под сетку: столько их набралось за квартал по журналам двух смен.</a:t>
            </a:r>
          </a:p>
        </p:txBody>
      </p:sp>
      <p:sp>
        <p:nvSpPr>
          <p:cNvPr id="23" name="Текст 3"/>
          <p:cNvSpPr txBox="1"/>
          <p:nvPr/>
        </p:nvSpPr>
        <p:spPr>
          <a:xfrm>
            <a:off x="9906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НЕКОМПЛЕКТ</a:t>
            </a:r>
          </a:p>
        </p:txBody>
      </p:sp>
      <p:sp>
        <p:nvSpPr>
          <p:cNvPr id="24" name="Текст 4"/>
          <p:cNvSpPr txBox="1"/>
          <p:nvPr/>
        </p:nvSpPr>
        <p:spPr>
          <a:xfrm>
            <a:off x="9906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Крепёж или профиль выдан не полностью, нехватку находят в середине сборки, узел приходится разбирать.</a:t>
            </a:r>
          </a:p>
        </p:txBody>
      </p:sp>
      <p:sp>
        <p:nvSpPr>
          <p:cNvPr id="25" name="Текст 5"/>
          <p:cNvSpPr txBox="1"/>
          <p:nvPr/>
        </p:nvSpPr>
        <p:spPr>
          <a:xfrm>
            <a:off x="6642100" y="26797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ОСНАСТКА</a:t>
            </a:r>
          </a:p>
        </p:txBody>
      </p:sp>
      <p:sp>
        <p:nvSpPr>
          <p:cNvPr id="26" name="Текст 6"/>
          <p:cNvSpPr txBox="1"/>
          <p:nvPr/>
        </p:nvSpPr>
        <p:spPr>
          <a:xfrm>
            <a:off x="6642100" y="3048000"/>
            <a:ext cx="45593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Стенд занят предыдущим заказом или приспособление не переналажено под новый типоразмер секции.</a:t>
            </a:r>
          </a:p>
        </p:txBody>
      </p:sp>
      <p:sp>
        <p:nvSpPr>
          <p:cNvPr id="27" name="Текст 7"/>
          <p:cNvSpPr txBox="1"/>
          <p:nvPr/>
        </p:nvSpPr>
        <p:spPr>
          <a:xfrm>
            <a:off x="9906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ДОКУМЕНТЫ</a:t>
            </a:r>
          </a:p>
        </p:txBody>
      </p:sp>
      <p:sp>
        <p:nvSpPr>
          <p:cNvPr id="28" name="Текст 8"/>
          <p:cNvSpPr txBox="1"/>
          <p:nvPr/>
        </p:nvSpPr>
        <p:spPr>
          <a:xfrm>
            <a:off x="9906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На стенде старая версия чертежа, изменения дошли до участка после начала смены.</a:t>
            </a:r>
          </a:p>
        </p:txBody>
      </p:sp>
      <p:sp>
        <p:nvSpPr>
          <p:cNvPr id="29" name="Текст 9"/>
          <p:cNvSpPr txBox="1"/>
          <p:nvPr/>
        </p:nvSpPr>
        <p:spPr>
          <a:xfrm>
            <a:off x="6642100" y="4800600"/>
            <a:ext cx="45593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ЛЮДИ</a:t>
            </a:r>
          </a:p>
        </p:txBody>
      </p:sp>
      <p:sp>
        <p:nvSpPr>
          <p:cNvPr id="30" name="Текст 10"/>
          <p:cNvSpPr txBox="1"/>
          <p:nvPr/>
        </p:nvSpPr>
        <p:spPr>
          <a:xfrm>
            <a:off x="6642100" y="5168900"/>
            <a:ext cx="45593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Сборщик без допуска поставлен на операцию, где допуск нужен, и работу переделывают.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rds.6 · на лимит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27100" y="2152650"/>
            <a:ext cx="1054100" cy="1054100"/>
          </a:xfrm>
          <a:prstGeom prst="rect">
            <a:avLst/>
          </a:prstGeom>
        </p:spPr>
      </p:pic>
      <p:pic>
        <p:nvPicPr>
          <p:cNvPr id="11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6050" y="5715000"/>
            <a:ext cx="3194050" cy="3194050"/>
          </a:xfrm>
          <a:prstGeom prst="rect">
            <a:avLst/>
          </a:prstGeom>
        </p:spPr>
      </p:pic>
      <p:pic>
        <p:nvPicPr>
          <p:cNvPr id="12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7300" y="-1809750"/>
            <a:ext cx="2349500" cy="2349500"/>
          </a:xfrm>
          <a:prstGeom prst="rect">
            <a:avLst/>
          </a:prstGeom>
        </p:spPr>
      </p:pic>
      <p:pic>
        <p:nvPicPr>
          <p:cNvPr id="13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93500" y="5378450"/>
            <a:ext cx="1943100" cy="1943100"/>
          </a:xfrm>
          <a:prstGeom prst="rect">
            <a:avLst/>
          </a:prstGeom>
        </p:spPr>
      </p:pic>
      <p:pic>
        <p:nvPicPr>
          <p:cNvPr id="14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5500" y="-2266950"/>
            <a:ext cx="2762250" cy="2762250"/>
          </a:xfrm>
          <a:prstGeom prst="rect">
            <a:avLst/>
          </a:prstGeom>
        </p:spPr>
      </p:pic>
      <p:pic>
        <p:nvPicPr>
          <p:cNvPr id="15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88750" y="1892300"/>
            <a:ext cx="2755900" cy="2755900"/>
          </a:xfrm>
          <a:prstGeom prst="rect">
            <a:avLst/>
          </a:prstGeom>
        </p:spPr>
      </p:pic>
      <p:pic>
        <p:nvPicPr>
          <p:cNvPr id="16" name="Шестерня 2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58150" y="6559550"/>
            <a:ext cx="1574800" cy="1574800"/>
          </a:xfrm>
          <a:prstGeom prst="rect">
            <a:avLst/>
          </a:prstGeom>
        </p:spPr>
      </p:pic>
      <p:pic>
        <p:nvPicPr>
          <p:cNvPr id="17" name="Логотип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" y="1879600"/>
            <a:ext cx="3454400" cy="1778000"/>
          </a:xfrm>
          <a:prstGeom prst="rect">
            <a:avLst/>
          </a:prstGeom>
        </p:spPr>
      </p:pic>
      <p:pic>
        <p:nvPicPr>
          <p:cNvPr id="1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68800" y="1879600"/>
            <a:ext cx="3454400" cy="1778000"/>
          </a:xfrm>
          <a:prstGeom prst="rect">
            <a:avLst/>
          </a:prstGeom>
        </p:spPr>
      </p:pic>
      <p:pic>
        <p:nvPicPr>
          <p:cNvPr id="20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02600" y="1879600"/>
            <a:ext cx="3454400" cy="1778000"/>
          </a:xfrm>
          <a:prstGeom prst="rect">
            <a:avLst/>
          </a:prstGeom>
        </p:spPr>
      </p:pic>
      <p:pic>
        <p:nvPicPr>
          <p:cNvPr id="21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" y="3911600"/>
            <a:ext cx="3454400" cy="1778000"/>
          </a:xfrm>
          <a:prstGeom prst="rect">
            <a:avLst/>
          </a:prstGeom>
        </p:spPr>
      </p:pic>
      <p:pic>
        <p:nvPicPr>
          <p:cNvPr id="22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68800" y="3911600"/>
            <a:ext cx="3454400" cy="1778000"/>
          </a:xfrm>
          <a:prstGeom prst="rect">
            <a:avLst/>
          </a:prstGeom>
        </p:spPr>
      </p:pic>
      <p:pic>
        <p:nvPicPr>
          <p:cNvPr id="23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02600" y="3911600"/>
            <a:ext cx="3454400" cy="1778000"/>
          </a:xfrm>
          <a:prstGeom prst="rect">
            <a:avLst/>
          </a:prstGeom>
        </p:spPr>
      </p:pic>
      <p:sp>
        <p:nvSpPr>
          <p:cNvPr id="24" name="Акцентная линия"/>
          <p:cNvSpPr/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Текст 1"/>
          <p:cNvSpPr txBox="1"/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ШЕСТЬ ПРОВЕРОК ПЕРЕД СДАЧЕЙ УЗЛА</a:t>
            </a:r>
          </a:p>
        </p:txBody>
      </p:sp>
      <p:sp>
        <p:nvSpPr>
          <p:cNvPr id="26" name="Текст 2"/>
          <p:cNvSpPr txBox="1"/>
          <p:nvPr/>
        </p:nvSpPr>
        <p:spPr>
          <a:xfrm>
            <a:off x="914400" y="2133600"/>
            <a:ext cx="289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ЗАТЯЖКА</a:t>
            </a:r>
          </a:p>
        </p:txBody>
      </p:sp>
      <p:sp>
        <p:nvSpPr>
          <p:cNvPr id="27" name="Текст 3"/>
          <p:cNvSpPr txBox="1"/>
          <p:nvPr/>
        </p:nvSpPr>
        <p:spPr>
          <a:xfrm>
            <a:off x="914400" y="2489200"/>
            <a:ext cx="28956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Все соединения затянуты по моменту, контрольная метка нанесена.</a:t>
            </a:r>
          </a:p>
        </p:txBody>
      </p:sp>
      <p:sp>
        <p:nvSpPr>
          <p:cNvPr id="28" name="Текст 4"/>
          <p:cNvSpPr txBox="1"/>
          <p:nvPr/>
        </p:nvSpPr>
        <p:spPr>
          <a:xfrm>
            <a:off x="4648200" y="2133600"/>
            <a:ext cx="289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ЗАЗОРЫ</a:t>
            </a:r>
          </a:p>
        </p:txBody>
      </p:sp>
      <p:sp>
        <p:nvSpPr>
          <p:cNvPr id="29" name="Текст 5"/>
          <p:cNvSpPr txBox="1"/>
          <p:nvPr/>
        </p:nvSpPr>
        <p:spPr>
          <a:xfrm>
            <a:off x="4648200" y="2489200"/>
            <a:ext cx="28956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Зазоры в пределах допуска по чертежу, замер занесён в журнал.</a:t>
            </a:r>
          </a:p>
        </p:txBody>
      </p:sp>
      <p:sp>
        <p:nvSpPr>
          <p:cNvPr id="30" name="Текст 6"/>
          <p:cNvSpPr txBox="1"/>
          <p:nvPr/>
        </p:nvSpPr>
        <p:spPr>
          <a:xfrm>
            <a:off x="8382000" y="2133600"/>
            <a:ext cx="289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ГЕОМЕТРИЯ</a:t>
            </a:r>
          </a:p>
        </p:txBody>
      </p:sp>
      <p:sp>
        <p:nvSpPr>
          <p:cNvPr id="31" name="Текст 7"/>
          <p:cNvSpPr txBox="1"/>
          <p:nvPr/>
        </p:nvSpPr>
        <p:spPr>
          <a:xfrm>
            <a:off x="8382000" y="2489200"/>
            <a:ext cx="28956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Диагонали секции сведены, перекос не превышает допустимый.</a:t>
            </a:r>
          </a:p>
        </p:txBody>
      </p:sp>
      <p:sp>
        <p:nvSpPr>
          <p:cNvPr id="32" name="Текст 8"/>
          <p:cNvSpPr txBox="1"/>
          <p:nvPr/>
        </p:nvSpPr>
        <p:spPr>
          <a:xfrm>
            <a:off x="914400" y="4165600"/>
            <a:ext cx="289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КОМПЛЕКТ</a:t>
            </a:r>
          </a:p>
        </p:txBody>
      </p:sp>
      <p:sp>
        <p:nvSpPr>
          <p:cNvPr id="33" name="Текст 9"/>
          <p:cNvSpPr txBox="1"/>
          <p:nvPr/>
        </p:nvSpPr>
        <p:spPr>
          <a:xfrm>
            <a:off x="914400" y="4521200"/>
            <a:ext cx="28956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Установлены все детали по спецификации, лишнего крепежа не осталось.</a:t>
            </a:r>
          </a:p>
        </p:txBody>
      </p:sp>
      <p:sp>
        <p:nvSpPr>
          <p:cNvPr id="34" name="Текст 10"/>
          <p:cNvSpPr txBox="1"/>
          <p:nvPr/>
        </p:nvSpPr>
        <p:spPr>
          <a:xfrm>
            <a:off x="4648200" y="4165600"/>
            <a:ext cx="289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ПОВЕРХНОСТЬ</a:t>
            </a:r>
          </a:p>
        </p:txBody>
      </p:sp>
      <p:sp>
        <p:nvSpPr>
          <p:cNvPr id="35" name="Текст 11"/>
          <p:cNvSpPr txBox="1"/>
          <p:nvPr/>
        </p:nvSpPr>
        <p:spPr>
          <a:xfrm>
            <a:off x="4648200" y="4521200"/>
            <a:ext cx="28956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Кромки без вмятин и задиров, следы транспортировки убраны.</a:t>
            </a:r>
          </a:p>
        </p:txBody>
      </p:sp>
      <p:sp>
        <p:nvSpPr>
          <p:cNvPr id="36" name="Текст 12"/>
          <p:cNvSpPr txBox="1"/>
          <p:nvPr/>
        </p:nvSpPr>
        <p:spPr>
          <a:xfrm>
            <a:off x="8382000" y="4165600"/>
            <a:ext cx="289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800" b="1" spc="50" dirty="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ЖУРНАЛ</a:t>
            </a:r>
          </a:p>
        </p:txBody>
      </p:sp>
      <p:sp>
        <p:nvSpPr>
          <p:cNvPr id="37" name="Текст 13"/>
          <p:cNvSpPr txBox="1"/>
          <p:nvPr/>
        </p:nvSpPr>
        <p:spPr>
          <a:xfrm>
            <a:off x="8382000" y="4521200"/>
            <a:ext cx="28956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Запись сделана в смену сдачи, подписи сборщика и мастера стоят.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rast.rightwr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8950" y="-1714500"/>
            <a:ext cx="2857500" cy="2857500"/>
          </a:xfrm>
          <a:prstGeom prst="rect">
            <a:avLst/>
          </a:prstGeom>
        </p:spPr>
      </p:pic>
      <p:pic>
        <p:nvPicPr>
          <p:cNvPr id="11" name="Шестерня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5100" y="-742950"/>
            <a:ext cx="1085850" cy="1085850"/>
          </a:xfrm>
          <a:prstGeom prst="rect">
            <a:avLst/>
          </a:prstGeom>
        </p:spPr>
      </p:pic>
      <p:pic>
        <p:nvPicPr>
          <p:cNvPr id="12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88800" y="1492250"/>
            <a:ext cx="1168400" cy="1168400"/>
          </a:xfrm>
          <a:prstGeom prst="rect">
            <a:avLst/>
          </a:prstGeom>
        </p:spPr>
      </p:pic>
      <p:pic>
        <p:nvPicPr>
          <p:cNvPr id="13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6350" y="6464300"/>
            <a:ext cx="1035050" cy="1035050"/>
          </a:xfrm>
          <a:prstGeom prst="rect">
            <a:avLst/>
          </a:prstGeom>
        </p:spPr>
      </p:pic>
      <p:pic>
        <p:nvPicPr>
          <p:cNvPr id="14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051050" y="4870450"/>
            <a:ext cx="2374900" cy="2374900"/>
          </a:xfrm>
          <a:prstGeom prst="rect">
            <a:avLst/>
          </a:prstGeom>
        </p:spPr>
      </p:pic>
      <p:pic>
        <p:nvPicPr>
          <p:cNvPr id="15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37900" y="1930400"/>
            <a:ext cx="3676650" cy="3676650"/>
          </a:xfrm>
          <a:prstGeom prst="rect">
            <a:avLst/>
          </a:prstGeom>
        </p:spPr>
      </p:pic>
      <p:pic>
        <p:nvPicPr>
          <p:cNvPr id="16" name="Шестерня 2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3550" y="6203950"/>
            <a:ext cx="2025650" cy="2025650"/>
          </a:xfrm>
          <a:prstGeom prst="rect">
            <a:avLst/>
          </a:prstGeom>
        </p:spPr>
      </p:pic>
      <p:pic>
        <p:nvPicPr>
          <p:cNvPr id="17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2095500"/>
            <a:ext cx="5207000" cy="3460750"/>
          </a:xfrm>
          <a:prstGeom prst="rect">
            <a:avLst/>
          </a:prstGeom>
        </p:spPr>
      </p:pic>
      <p:pic>
        <p:nvPicPr>
          <p:cNvPr id="19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2095500"/>
            <a:ext cx="5207000" cy="3460750"/>
          </a:xfrm>
          <a:prstGeom prst="rect">
            <a:avLst/>
          </a:prstGeom>
        </p:spPr>
      </p:pic>
      <p:sp>
        <p:nvSpPr>
          <p:cNvPr id="20" name="Шестигранник"/>
          <p:cNvSpPr/>
          <p:nvPr/>
        </p:nvSpPr>
        <p:spPr>
          <a:xfrm rot="5400000">
            <a:off x="1009650" y="2457450"/>
            <a:ext cx="520700" cy="457200"/>
          </a:xfrm>
          <a:prstGeom prst="hexagon">
            <a:avLst/>
          </a:prstGeom>
          <a:solidFill>
            <a:srgbClr val="FB4D4D"/>
          </a:solidFill>
          <a:ln w="9525">
            <a:solidFill>
              <a:srgbClr val="FB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Знак"/>
          <p:cNvSpPr txBox="1"/>
          <p:nvPr/>
        </p:nvSpPr>
        <p:spPr>
          <a:xfrm>
            <a:off x="1041400" y="2519426"/>
            <a:ext cx="457200" cy="3644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07895"/>
              </a:lnSpc>
              <a:buNone/>
            </a:pPr>
            <a:r>
              <a:rPr lang="ru-RU" sz="1900" b="0" spc="0" dirty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✕</a:t>
            </a:r>
          </a:p>
        </p:txBody>
      </p:sp>
      <p:sp>
        <p:nvSpPr>
          <p:cNvPr id="22" name="Шестигранник"/>
          <p:cNvSpPr/>
          <p:nvPr/>
        </p:nvSpPr>
        <p:spPr>
          <a:xfrm rot="5400000">
            <a:off x="1035050" y="3219450"/>
            <a:ext cx="101600" cy="88900"/>
          </a:xfrm>
          <a:prstGeom prst="hexagon">
            <a:avLst/>
          </a:prstGeom>
          <a:solidFill>
            <a:srgbClr val="FB4D4D"/>
          </a:solidFill>
          <a:ln w="9525">
            <a:solidFill>
              <a:srgbClr val="FB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Шестигранник"/>
          <p:cNvSpPr/>
          <p:nvPr/>
        </p:nvSpPr>
        <p:spPr>
          <a:xfrm rot="5400000">
            <a:off x="1035050" y="3943350"/>
            <a:ext cx="101600" cy="88900"/>
          </a:xfrm>
          <a:prstGeom prst="hexagon">
            <a:avLst/>
          </a:prstGeom>
          <a:solidFill>
            <a:srgbClr val="FB4D4D"/>
          </a:solidFill>
          <a:ln w="9525">
            <a:solidFill>
              <a:srgbClr val="FB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Шестигранник"/>
          <p:cNvSpPr/>
          <p:nvPr/>
        </p:nvSpPr>
        <p:spPr>
          <a:xfrm rot="5400000">
            <a:off x="1035050" y="4660900"/>
            <a:ext cx="101600" cy="88900"/>
          </a:xfrm>
          <a:prstGeom prst="hexagon">
            <a:avLst/>
          </a:prstGeom>
          <a:solidFill>
            <a:srgbClr val="FB4D4D"/>
          </a:solidFill>
          <a:ln w="9525">
            <a:solidFill>
              <a:srgbClr val="FB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Шестигранник"/>
          <p:cNvSpPr/>
          <p:nvPr/>
        </p:nvSpPr>
        <p:spPr>
          <a:xfrm rot="5400000">
            <a:off x="6724650" y="2457450"/>
            <a:ext cx="520700" cy="457200"/>
          </a:xfrm>
          <a:prstGeom prst="hexagon">
            <a:avLst/>
          </a:prstGeom>
          <a:solidFill>
            <a:srgbClr val="21C535"/>
          </a:solidFill>
          <a:ln w="9525">
            <a:solidFill>
              <a:srgbClr val="21C5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Знак"/>
          <p:cNvSpPr txBox="1"/>
          <p:nvPr/>
        </p:nvSpPr>
        <p:spPr>
          <a:xfrm>
            <a:off x="6756400" y="2519426"/>
            <a:ext cx="457200" cy="36449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07895"/>
              </a:lnSpc>
              <a:buNone/>
            </a:pPr>
            <a:r>
              <a:rPr lang="ru-RU" sz="1900" b="0" spc="0" dirty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✓</a:t>
            </a:r>
          </a:p>
        </p:txBody>
      </p:sp>
      <p:sp>
        <p:nvSpPr>
          <p:cNvPr id="27" name="Шестигранник"/>
          <p:cNvSpPr/>
          <p:nvPr/>
        </p:nvSpPr>
        <p:spPr>
          <a:xfrm rot="5400000">
            <a:off x="6750050" y="3219450"/>
            <a:ext cx="101600" cy="88900"/>
          </a:xfrm>
          <a:prstGeom prst="hexagon">
            <a:avLst/>
          </a:prstGeom>
          <a:solidFill>
            <a:srgbClr val="21C535"/>
          </a:solidFill>
          <a:ln w="9525">
            <a:solidFill>
              <a:srgbClr val="21C5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Шестигранник"/>
          <p:cNvSpPr/>
          <p:nvPr/>
        </p:nvSpPr>
        <p:spPr>
          <a:xfrm rot="5400000">
            <a:off x="6750050" y="3657600"/>
            <a:ext cx="101600" cy="88900"/>
          </a:xfrm>
          <a:prstGeom prst="hexagon">
            <a:avLst/>
          </a:prstGeom>
          <a:solidFill>
            <a:srgbClr val="21C535"/>
          </a:solidFill>
          <a:ln w="9525">
            <a:solidFill>
              <a:srgbClr val="21C5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Шестигранник"/>
          <p:cNvSpPr/>
          <p:nvPr/>
        </p:nvSpPr>
        <p:spPr>
          <a:xfrm rot="5400000">
            <a:off x="6750050" y="4375150"/>
            <a:ext cx="101600" cy="88900"/>
          </a:xfrm>
          <a:prstGeom prst="hexagon">
            <a:avLst/>
          </a:prstGeom>
          <a:solidFill>
            <a:srgbClr val="21C535"/>
          </a:solidFill>
          <a:ln w="9525">
            <a:solidFill>
              <a:srgbClr val="21C5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Акцентная линия"/>
          <p:cNvSpPr/>
          <p:nvPr/>
        </p:nvSpPr>
        <p:spPr>
          <a:xfrm>
            <a:off x="469900" y="0"/>
            <a:ext cx="0" cy="14986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Текст 1"/>
          <p:cNvSpPr txBox="1"/>
          <p:nvPr/>
        </p:nvSpPr>
        <p:spPr>
          <a:xfrm>
            <a:off x="635000" y="11557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КАК РАЗБИРАТЬ БРАК С БРИГАДОЙ</a:t>
            </a:r>
          </a:p>
        </p:txBody>
      </p:sp>
      <p:sp>
        <p:nvSpPr>
          <p:cNvPr id="32" name="Текст 2"/>
          <p:cNvSpPr txBox="1"/>
          <p:nvPr/>
        </p:nvSpPr>
        <p:spPr>
          <a:xfrm>
            <a:off x="1663700" y="2552700"/>
            <a:ext cx="216535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21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НАКАЗАТЬ СМЕНУ</a:t>
            </a:r>
          </a:p>
        </p:txBody>
      </p:sp>
      <p:sp>
        <p:nvSpPr>
          <p:cNvPr id="33" name="Текст 3"/>
          <p:cNvSpPr txBox="1"/>
          <p:nvPr/>
        </p:nvSpPr>
        <p:spPr>
          <a:xfrm>
            <a:off x="1257300" y="3162300"/>
            <a:ext cx="4178300" cy="622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625"/>
              </a:lnSpc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Штраф выписан на всю бригаду без разбора причины</a:t>
            </a:r>
          </a:p>
        </p:txBody>
      </p:sp>
      <p:sp>
        <p:nvSpPr>
          <p:cNvPr id="34" name="Текст 4"/>
          <p:cNvSpPr txBox="1"/>
          <p:nvPr/>
        </p:nvSpPr>
        <p:spPr>
          <a:xfrm>
            <a:off x="1257300" y="3886200"/>
            <a:ext cx="4178300" cy="622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625"/>
              </a:lnSpc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Сборщик в следующий раз скрывает дефект до сдачи</a:t>
            </a:r>
          </a:p>
        </p:txBody>
      </p:sp>
      <p:sp>
        <p:nvSpPr>
          <p:cNvPr id="35" name="Текст 5"/>
          <p:cNvSpPr txBox="1"/>
          <p:nvPr/>
        </p:nvSpPr>
        <p:spPr>
          <a:xfrm>
            <a:off x="1257300" y="4603750"/>
            <a:ext cx="4178300" cy="622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625"/>
              </a:lnSpc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Причина остаётся, брак повторяется на другом заказе</a:t>
            </a:r>
          </a:p>
        </p:txBody>
      </p:sp>
      <p:sp>
        <p:nvSpPr>
          <p:cNvPr id="36" name="Текст 6"/>
          <p:cNvSpPr txBox="1"/>
          <p:nvPr/>
        </p:nvSpPr>
        <p:spPr>
          <a:xfrm>
            <a:off x="7378700" y="2552700"/>
            <a:ext cx="2044700" cy="317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2100" b="1" spc="50" dirty="0">
                <a:solidFill>
                  <a:srgbClr val="1AAC39"/>
                </a:solidFill>
                <a:latin typeface="Bahnschrift SemiBold Condensed"/>
                <a:ea typeface="Bahnschrift SemiBold Condensed"/>
                <a:cs typeface="Bahnschrift SemiBold Condensed"/>
              </a:rPr>
              <a:t>НАЙТИ ПРИЧИНУ</a:t>
            </a:r>
          </a:p>
        </p:txBody>
      </p:sp>
      <p:sp>
        <p:nvSpPr>
          <p:cNvPr id="37" name="Текст 7"/>
          <p:cNvSpPr txBox="1"/>
          <p:nvPr/>
        </p:nvSpPr>
        <p:spPr>
          <a:xfrm>
            <a:off x="6972300" y="3162300"/>
            <a:ext cx="4159250" cy="336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625"/>
              </a:lnSpc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Разбор идёт по операции, а не по фамилии</a:t>
            </a:r>
          </a:p>
        </p:txBody>
      </p:sp>
      <p:sp>
        <p:nvSpPr>
          <p:cNvPr id="38" name="Текст 8"/>
          <p:cNvSpPr txBox="1"/>
          <p:nvPr/>
        </p:nvSpPr>
        <p:spPr>
          <a:xfrm>
            <a:off x="6972300" y="3600450"/>
            <a:ext cx="4178300" cy="622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625"/>
              </a:lnSpc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Порядок меняют так, чтобы ошибка стала невозможной</a:t>
            </a:r>
          </a:p>
        </p:txBody>
      </p:sp>
      <p:sp>
        <p:nvSpPr>
          <p:cNvPr id="39" name="Текст 9"/>
          <p:cNvSpPr txBox="1"/>
          <p:nvPr/>
        </p:nvSpPr>
        <p:spPr>
          <a:xfrm>
            <a:off x="6972300" y="4318000"/>
            <a:ext cx="4178300" cy="622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625"/>
              </a:lnSpc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Бригада сама сообщает о дефекте в первый час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rast.pros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6750" y="6210300"/>
            <a:ext cx="1536700" cy="1536700"/>
          </a:xfrm>
          <a:prstGeom prst="rect">
            <a:avLst/>
          </a:prstGeom>
        </p:spPr>
      </p:pic>
      <p:pic>
        <p:nvPicPr>
          <p:cNvPr id="11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3950" y="1250950"/>
            <a:ext cx="3346450" cy="3346450"/>
          </a:xfrm>
          <a:prstGeom prst="rect">
            <a:avLst/>
          </a:prstGeom>
        </p:spPr>
      </p:pic>
      <p:pic>
        <p:nvPicPr>
          <p:cNvPr id="12" name="Шестерня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9800" y="-2743200"/>
            <a:ext cx="3670300" cy="3670300"/>
          </a:xfrm>
          <a:prstGeom prst="rect">
            <a:avLst/>
          </a:prstGeom>
        </p:spPr>
      </p:pic>
      <p:pic>
        <p:nvPicPr>
          <p:cNvPr id="13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749300" y="-2241550"/>
            <a:ext cx="3232150" cy="3232150"/>
          </a:xfrm>
          <a:prstGeom prst="rect">
            <a:avLst/>
          </a:prstGeom>
        </p:spPr>
      </p:pic>
      <p:pic>
        <p:nvPicPr>
          <p:cNvPr id="14" name="Шестерня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854200" y="3924300"/>
            <a:ext cx="2381250" cy="2381250"/>
          </a:xfrm>
          <a:prstGeom prst="rect">
            <a:avLst/>
          </a:prstGeom>
        </p:spPr>
      </p:pic>
      <p:pic>
        <p:nvPicPr>
          <p:cNvPr id="15" name="Шестерня 3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25300" y="4870450"/>
            <a:ext cx="1758950" cy="1758950"/>
          </a:xfrm>
          <a:prstGeom prst="rect">
            <a:avLst/>
          </a:prstGeom>
        </p:spPr>
      </p:pic>
      <p:pic>
        <p:nvPicPr>
          <p:cNvPr id="16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pic>
        <p:nvPicPr>
          <p:cNvPr id="17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" y="2476500"/>
            <a:ext cx="5207000" cy="3308350"/>
          </a:xfrm>
          <a:prstGeom prst="rect">
            <a:avLst/>
          </a:prstGeom>
        </p:spPr>
      </p:pic>
      <p:pic>
        <p:nvPicPr>
          <p:cNvPr id="18" name="Плашк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2476500"/>
            <a:ext cx="5207000" cy="3308350"/>
          </a:xfrm>
          <a:prstGeom prst="rect">
            <a:avLst/>
          </a:prstGeom>
        </p:spPr>
      </p:pic>
      <p:sp>
        <p:nvSpPr>
          <p:cNvPr id="19" name="Шестигранник"/>
          <p:cNvSpPr/>
          <p:nvPr/>
        </p:nvSpPr>
        <p:spPr>
          <a:xfrm rot="5400000">
            <a:off x="1009650" y="2813050"/>
            <a:ext cx="469900" cy="406400"/>
          </a:xfrm>
          <a:prstGeom prst="hexagon">
            <a:avLst/>
          </a:prstGeom>
          <a:solidFill>
            <a:srgbClr val="21C535"/>
          </a:solidFill>
          <a:ln w="9525">
            <a:solidFill>
              <a:srgbClr val="21C5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Знак"/>
          <p:cNvSpPr txBox="1"/>
          <p:nvPr/>
        </p:nvSpPr>
        <p:spPr>
          <a:xfrm>
            <a:off x="1041400" y="2865882"/>
            <a:ext cx="406400" cy="3289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08824"/>
              </a:lnSpc>
              <a:buNone/>
            </a:pPr>
            <a:r>
              <a:rPr lang="ru-RU" sz="1700" b="0" spc="0" dirty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+</a:t>
            </a:r>
          </a:p>
        </p:txBody>
      </p:sp>
      <p:sp>
        <p:nvSpPr>
          <p:cNvPr id="21" name="Шестигранник"/>
          <p:cNvSpPr/>
          <p:nvPr/>
        </p:nvSpPr>
        <p:spPr>
          <a:xfrm rot="5400000">
            <a:off x="1035050" y="3498850"/>
            <a:ext cx="101600" cy="88900"/>
          </a:xfrm>
          <a:prstGeom prst="hexagon">
            <a:avLst/>
          </a:prstGeom>
          <a:solidFill>
            <a:srgbClr val="21C535"/>
          </a:solidFill>
          <a:ln w="9525">
            <a:solidFill>
              <a:srgbClr val="21C5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Шестигранник"/>
          <p:cNvSpPr/>
          <p:nvPr/>
        </p:nvSpPr>
        <p:spPr>
          <a:xfrm rot="5400000">
            <a:off x="1035050" y="3924300"/>
            <a:ext cx="101600" cy="88900"/>
          </a:xfrm>
          <a:prstGeom prst="hexagon">
            <a:avLst/>
          </a:prstGeom>
          <a:solidFill>
            <a:srgbClr val="21C535"/>
          </a:solidFill>
          <a:ln w="9525">
            <a:solidFill>
              <a:srgbClr val="21C5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Шестигранник"/>
          <p:cNvSpPr/>
          <p:nvPr/>
        </p:nvSpPr>
        <p:spPr>
          <a:xfrm rot="5400000">
            <a:off x="1035050" y="4629150"/>
            <a:ext cx="101600" cy="88900"/>
          </a:xfrm>
          <a:prstGeom prst="hexagon">
            <a:avLst/>
          </a:prstGeom>
          <a:solidFill>
            <a:srgbClr val="21C535"/>
          </a:solidFill>
          <a:ln w="9525">
            <a:solidFill>
              <a:srgbClr val="21C5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Шестигранник"/>
          <p:cNvSpPr/>
          <p:nvPr/>
        </p:nvSpPr>
        <p:spPr>
          <a:xfrm rot="5400000">
            <a:off x="6724650" y="2813050"/>
            <a:ext cx="469900" cy="406400"/>
          </a:xfrm>
          <a:prstGeom prst="hexagon">
            <a:avLst/>
          </a:prstGeom>
          <a:solidFill>
            <a:srgbClr val="FB4D4D"/>
          </a:solidFill>
          <a:ln w="9525">
            <a:solidFill>
              <a:srgbClr val="FB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Знак"/>
          <p:cNvSpPr txBox="1"/>
          <p:nvPr/>
        </p:nvSpPr>
        <p:spPr>
          <a:xfrm>
            <a:off x="6756400" y="2865882"/>
            <a:ext cx="406400" cy="3289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08824"/>
              </a:lnSpc>
              <a:buNone/>
            </a:pPr>
            <a:r>
              <a:rPr lang="ru-RU" sz="1700" b="0" spc="0" dirty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−</a:t>
            </a:r>
          </a:p>
        </p:txBody>
      </p:sp>
      <p:sp>
        <p:nvSpPr>
          <p:cNvPr id="26" name="Шестигранник"/>
          <p:cNvSpPr/>
          <p:nvPr/>
        </p:nvSpPr>
        <p:spPr>
          <a:xfrm rot="5400000">
            <a:off x="6750050" y="3498850"/>
            <a:ext cx="101600" cy="88900"/>
          </a:xfrm>
          <a:prstGeom prst="hexagon">
            <a:avLst/>
          </a:prstGeom>
          <a:solidFill>
            <a:srgbClr val="FB4D4D"/>
          </a:solidFill>
          <a:ln w="9525">
            <a:solidFill>
              <a:srgbClr val="FB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Шестигранник"/>
          <p:cNvSpPr/>
          <p:nvPr/>
        </p:nvSpPr>
        <p:spPr>
          <a:xfrm rot="5400000">
            <a:off x="6750050" y="4210050"/>
            <a:ext cx="101600" cy="88900"/>
          </a:xfrm>
          <a:prstGeom prst="hexagon">
            <a:avLst/>
          </a:prstGeom>
          <a:solidFill>
            <a:srgbClr val="FB4D4D"/>
          </a:solidFill>
          <a:ln w="9525">
            <a:solidFill>
              <a:srgbClr val="FB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Шестигранник"/>
          <p:cNvSpPr/>
          <p:nvPr/>
        </p:nvSpPr>
        <p:spPr>
          <a:xfrm rot="5400000">
            <a:off x="6750050" y="4914900"/>
            <a:ext cx="101600" cy="88900"/>
          </a:xfrm>
          <a:prstGeom prst="hexagon">
            <a:avLst/>
          </a:prstGeom>
          <a:solidFill>
            <a:srgbClr val="FB4D4D"/>
          </a:solidFill>
          <a:ln w="9525">
            <a:solidFill>
              <a:srgbClr val="FB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Акцентная линия"/>
          <p:cNvSpPr/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Текст 1"/>
          <p:cNvSpPr txBox="1"/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ПЕРЕСЧЁТ КОМПЛЕКТА СИЛАМИ БРИГАДЫ</a:t>
            </a:r>
          </a:p>
        </p:txBody>
      </p:sp>
      <p:sp>
        <p:nvSpPr>
          <p:cNvPr id="31" name="Текст 2"/>
          <p:cNvSpPr txBox="1"/>
          <p:nvPr/>
        </p:nvSpPr>
        <p:spPr>
          <a:xfrm>
            <a:off x="635000" y="1562100"/>
            <a:ext cx="9525000" cy="641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3750"/>
              </a:lnSpc>
              <a:buNone/>
            </a:pPr>
            <a:r>
              <a:rPr lang="ru-RU" sz="1600" b="0" spc="0" dirty="0">
                <a:solidFill>
                  <a:srgbClr val="676C74"/>
                </a:solidFill>
                <a:latin typeface="Nunito"/>
                <a:ea typeface="Nunito"/>
                <a:cs typeface="Nunito"/>
              </a:rPr>
              <a:t>Решение спорное: пересчёт отнимает время у сборщиков, но снимает главную причину простоев. Ниже — то, что мастер взвешивает до того, как вносить пункт в задание.</a:t>
            </a:r>
          </a:p>
        </p:txBody>
      </p:sp>
      <p:sp>
        <p:nvSpPr>
          <p:cNvPr id="32" name="Текст 3"/>
          <p:cNvSpPr txBox="1"/>
          <p:nvPr/>
        </p:nvSpPr>
        <p:spPr>
          <a:xfrm>
            <a:off x="1600200" y="2927350"/>
            <a:ext cx="635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400" b="1" spc="50" dirty="0">
                <a:solidFill>
                  <a:srgbClr val="1AAC39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ПЛЮСЫ</a:t>
            </a:r>
          </a:p>
        </p:txBody>
      </p:sp>
      <p:sp>
        <p:nvSpPr>
          <p:cNvPr id="33" name="Текст 4"/>
          <p:cNvSpPr txBox="1"/>
          <p:nvPr/>
        </p:nvSpPr>
        <p:spPr>
          <a:xfrm>
            <a:off x="1257300" y="3441700"/>
            <a:ext cx="4152900" cy="336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625"/>
              </a:lnSpc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Нехватка видна до сборки, а не на затяжке</a:t>
            </a:r>
          </a:p>
        </p:txBody>
      </p:sp>
      <p:sp>
        <p:nvSpPr>
          <p:cNvPr id="34" name="Текст 5"/>
          <p:cNvSpPr txBox="1"/>
          <p:nvPr/>
        </p:nvSpPr>
        <p:spPr>
          <a:xfrm>
            <a:off x="1257300" y="3867150"/>
            <a:ext cx="4178300" cy="622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625"/>
              </a:lnSpc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Заявку на докомплект успевают закрыть в смену</a:t>
            </a:r>
          </a:p>
        </p:txBody>
      </p:sp>
      <p:sp>
        <p:nvSpPr>
          <p:cNvPr id="35" name="Текст 6"/>
          <p:cNvSpPr txBox="1"/>
          <p:nvPr/>
        </p:nvSpPr>
        <p:spPr>
          <a:xfrm>
            <a:off x="1257300" y="4572000"/>
            <a:ext cx="4178300" cy="622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625"/>
              </a:lnSpc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Сборщик знает состав узла до начала работы</a:t>
            </a:r>
          </a:p>
        </p:txBody>
      </p:sp>
      <p:sp>
        <p:nvSpPr>
          <p:cNvPr id="36" name="Текст 7"/>
          <p:cNvSpPr txBox="1"/>
          <p:nvPr/>
        </p:nvSpPr>
        <p:spPr>
          <a:xfrm>
            <a:off x="7315200" y="2927350"/>
            <a:ext cx="723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400" b="1" spc="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МИНУСЫ</a:t>
            </a:r>
          </a:p>
        </p:txBody>
      </p:sp>
      <p:sp>
        <p:nvSpPr>
          <p:cNvPr id="37" name="Текст 8"/>
          <p:cNvSpPr txBox="1"/>
          <p:nvPr/>
        </p:nvSpPr>
        <p:spPr>
          <a:xfrm>
            <a:off x="6972300" y="3441700"/>
            <a:ext cx="4178300" cy="622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625"/>
              </a:lnSpc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Пересчёт занимает до двадцати минут смены</a:t>
            </a:r>
          </a:p>
        </p:txBody>
      </p:sp>
      <p:sp>
        <p:nvSpPr>
          <p:cNvPr id="38" name="Текст 9"/>
          <p:cNvSpPr txBox="1"/>
          <p:nvPr/>
        </p:nvSpPr>
        <p:spPr>
          <a:xfrm>
            <a:off x="6972300" y="4152900"/>
            <a:ext cx="4178300" cy="622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625"/>
              </a:lnSpc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Бригада читает пункт как недоверие к кладовой</a:t>
            </a:r>
          </a:p>
        </p:txBody>
      </p:sp>
      <p:sp>
        <p:nvSpPr>
          <p:cNvPr id="39" name="Текст 10"/>
          <p:cNvSpPr txBox="1"/>
          <p:nvPr/>
        </p:nvSpPr>
        <p:spPr>
          <a:xfrm>
            <a:off x="6972300" y="4857750"/>
            <a:ext cx="4178300" cy="622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40625"/>
              </a:lnSpc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При горящем заказе пункт первым уходит из задания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lg.sce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0800" y="4800600"/>
            <a:ext cx="2108200" cy="2108200"/>
          </a:xfrm>
          <a:prstGeom prst="rect">
            <a:avLst/>
          </a:prstGeom>
        </p:spPr>
      </p:pic>
      <p:pic>
        <p:nvPicPr>
          <p:cNvPr id="11" name="Шестерня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7450" y="5683250"/>
            <a:ext cx="3600450" cy="3600450"/>
          </a:xfrm>
          <a:prstGeom prst="rect">
            <a:avLst/>
          </a:prstGeom>
        </p:spPr>
      </p:pic>
      <p:pic>
        <p:nvPicPr>
          <p:cNvPr id="12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520950" y="2349500"/>
            <a:ext cx="3587750" cy="3587750"/>
          </a:xfrm>
          <a:prstGeom prst="rect">
            <a:avLst/>
          </a:prstGeom>
        </p:spPr>
      </p:pic>
      <p:pic>
        <p:nvPicPr>
          <p:cNvPr id="13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1750" y="6223000"/>
            <a:ext cx="2317750" cy="2317750"/>
          </a:xfrm>
          <a:prstGeom prst="rect">
            <a:avLst/>
          </a:prstGeom>
        </p:spPr>
      </p:pic>
      <p:pic>
        <p:nvPicPr>
          <p:cNvPr id="14" name="Шестерня 4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63350" y="1530350"/>
            <a:ext cx="2381250" cy="2381250"/>
          </a:xfrm>
          <a:prstGeom prst="rect">
            <a:avLst/>
          </a:prstGeom>
        </p:spPr>
      </p:pic>
      <p:pic>
        <p:nvPicPr>
          <p:cNvPr id="15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11850" y="-2393950"/>
            <a:ext cx="3155950" cy="3155950"/>
          </a:xfrm>
          <a:prstGeom prst="rect">
            <a:avLst/>
          </a:prstGeom>
        </p:spPr>
      </p:pic>
      <p:pic>
        <p:nvPicPr>
          <p:cNvPr id="17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sp>
        <p:nvSpPr>
          <p:cNvPr id="18" name="Место под изображение"/>
          <p:cNvSpPr/>
          <p:nvPr/>
        </p:nvSpPr>
        <p:spPr>
          <a:xfrm>
            <a:off x="0" y="1905000"/>
            <a:ext cx="12192000" cy="4953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Место под изображение"/>
          <p:cNvSpPr/>
          <p:nvPr/>
        </p:nvSpPr>
        <p:spPr>
          <a:xfrm>
            <a:off x="635000" y="1905000"/>
            <a:ext cx="1905000" cy="4953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B9C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Место под изображение"/>
          <p:cNvSpPr/>
          <p:nvPr/>
        </p:nvSpPr>
        <p:spPr>
          <a:xfrm>
            <a:off x="9652000" y="1905000"/>
            <a:ext cx="1905000" cy="4953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B9C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Бабл"/>
          <p:cNvSpPr/>
          <p:nvPr/>
        </p:nvSpPr>
        <p:spPr>
          <a:xfrm>
            <a:off x="2794000" y="1346199"/>
            <a:ext cx="3117850" cy="4035425"/>
          </a:xfrm>
          <a:prstGeom prst="wedgeRoundRectCallout">
            <a:avLst>
              <a:gd name="adj1" fmla="val -42837"/>
              <a:gd name="adj2" fmla="val 50148"/>
              <a:gd name="adj3" fmla="val 12000"/>
            </a:avLst>
          </a:prstGeom>
          <a:solidFill>
            <a:srgbClr val="FFFFFF"/>
          </a:solid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Бабл"/>
          <p:cNvSpPr/>
          <p:nvPr/>
        </p:nvSpPr>
        <p:spPr>
          <a:xfrm>
            <a:off x="6343650" y="2657475"/>
            <a:ext cx="3054350" cy="3933825"/>
          </a:xfrm>
          <a:prstGeom prst="wedgeRoundRectCallout">
            <a:avLst>
              <a:gd name="adj1" fmla="val 42550"/>
              <a:gd name="adj2" fmla="val 50148"/>
              <a:gd name="adj3" fmla="val 12000"/>
            </a:avLst>
          </a:prstGeom>
          <a:solidFill>
            <a:srgbClr val="FFFFFF"/>
          </a:solid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Акцентная линия"/>
          <p:cNvSpPr/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Текст 1"/>
          <p:cNvSpPr txBox="1"/>
          <p:nvPr/>
        </p:nvSpPr>
        <p:spPr>
          <a:xfrm>
            <a:off x="635000" y="1562100"/>
            <a:ext cx="224155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b="0" spc="50" dirty="0">
                <a:solidFill>
                  <a:srgbClr val="6E767F"/>
                </a:solidFill>
                <a:latin typeface="Consolas"/>
                <a:ea typeface="Consolas"/>
                <a:cs typeface="Consolas"/>
              </a:rPr>
              <a:t>SCENE · ФОН УЧАСТКА</a:t>
            </a:r>
          </a:p>
        </p:txBody>
      </p:sp>
      <p:sp>
        <p:nvSpPr>
          <p:cNvPr id="25" name="Текст 2"/>
          <p:cNvSpPr txBox="1"/>
          <p:nvPr/>
        </p:nvSpPr>
        <p:spPr>
          <a:xfrm>
            <a:off x="641350" y="27305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НАЧАЛО СМЕНЫ НА УЧАСТКЕ</a:t>
            </a:r>
          </a:p>
        </p:txBody>
      </p:sp>
      <p:sp>
        <p:nvSpPr>
          <p:cNvPr id="26" name="Текст 3"/>
          <p:cNvSpPr txBox="1"/>
          <p:nvPr/>
        </p:nvSpPr>
        <p:spPr>
          <a:xfrm>
            <a:off x="641350" y="624205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b="0" spc="50" dirty="0">
                <a:solidFill>
                  <a:srgbClr val="5D656E"/>
                </a:solidFill>
                <a:latin typeface="Consolas"/>
                <a:ea typeface="Consolas"/>
                <a:cs typeface="Consolas"/>
              </a:rPr>
              <a:t>АЛЕКСЕЙ · В ПОЛНЫЙ РОСТ</a:t>
            </a:r>
          </a:p>
        </p:txBody>
      </p:sp>
      <p:sp>
        <p:nvSpPr>
          <p:cNvPr id="27" name="Текст 4"/>
          <p:cNvSpPr txBox="1"/>
          <p:nvPr/>
        </p:nvSpPr>
        <p:spPr>
          <a:xfrm>
            <a:off x="9658350" y="624205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b="0" spc="50" dirty="0">
                <a:solidFill>
                  <a:srgbClr val="5D656E"/>
                </a:solidFill>
                <a:latin typeface="Consolas"/>
                <a:ea typeface="Consolas"/>
                <a:cs typeface="Consolas"/>
              </a:rPr>
              <a:t>ДЕНИС · В ПОЛНЫЙ РОСТ</a:t>
            </a:r>
          </a:p>
        </p:txBody>
      </p:sp>
      <p:sp>
        <p:nvSpPr>
          <p:cNvPr id="28" name="Текст 5"/>
          <p:cNvSpPr txBox="1"/>
          <p:nvPr/>
        </p:nvSpPr>
        <p:spPr>
          <a:xfrm>
            <a:off x="3130550" y="1606550"/>
            <a:ext cx="5930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b="1" spc="1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АЛЕКСЕЙ</a:t>
            </a:r>
          </a:p>
        </p:txBody>
      </p:sp>
      <p:sp>
        <p:nvSpPr>
          <p:cNvPr id="29" name="Текст 6"/>
          <p:cNvSpPr txBox="1"/>
          <p:nvPr/>
        </p:nvSpPr>
        <p:spPr>
          <a:xfrm>
            <a:off x="3055937" y="2003425"/>
            <a:ext cx="2708275" cy="29971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Денис, смотри: секции стоят с прошлой смены, а журнал не закрыт. Я не знаю, на какой операции остановились. </a:t>
            </a:r>
          </a:p>
          <a:p>
            <a:pPr marL="0" indent="0" algn="l"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Формально я могу принять участок и начать сборку, но тогда любая ошибка предыдущей смены станет моей.</a:t>
            </a:r>
          </a:p>
        </p:txBody>
      </p:sp>
      <p:sp>
        <p:nvSpPr>
          <p:cNvPr id="30" name="Текст 7"/>
          <p:cNvSpPr txBox="1"/>
          <p:nvPr/>
        </p:nvSpPr>
        <p:spPr>
          <a:xfrm>
            <a:off x="6565900" y="2794000"/>
            <a:ext cx="5676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b="1" spc="150" dirty="0">
                <a:solidFill>
                  <a:srgbClr val="1AAC39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ДЕНИС</a:t>
            </a:r>
          </a:p>
        </p:txBody>
      </p:sp>
      <p:sp>
        <p:nvSpPr>
          <p:cNvPr id="31" name="Текст 8"/>
          <p:cNvSpPr txBox="1"/>
          <p:nvPr/>
        </p:nvSpPr>
        <p:spPr>
          <a:xfrm>
            <a:off x="6657975" y="3349626"/>
            <a:ext cx="2482850" cy="308927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ru-RU" sz="16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С журнала. Пока он не закрыт, участка у меня нет — есть чужая незаконченная работа. Я нахожу мастера предыдущей смены, прохожу с ним по стендам и записываю, что осталось.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lg.bub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Шестерня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89000" y="4387850"/>
            <a:ext cx="1416050" cy="1416050"/>
          </a:xfrm>
          <a:prstGeom prst="rect">
            <a:avLst/>
          </a:prstGeom>
        </p:spPr>
      </p:pic>
      <p:pic>
        <p:nvPicPr>
          <p:cNvPr id="11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" y="6426200"/>
            <a:ext cx="3276600" cy="3276600"/>
          </a:xfrm>
          <a:prstGeom prst="rect">
            <a:avLst/>
          </a:prstGeom>
        </p:spPr>
      </p:pic>
      <p:pic>
        <p:nvPicPr>
          <p:cNvPr id="12" name="Шестерня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55100" y="6235700"/>
            <a:ext cx="2114550" cy="2114550"/>
          </a:xfrm>
          <a:prstGeom prst="rect">
            <a:avLst/>
          </a:prstGeom>
        </p:spPr>
      </p:pic>
      <p:pic>
        <p:nvPicPr>
          <p:cNvPr id="13" name="Шестерня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66900" y="-1460500"/>
            <a:ext cx="1924050" cy="1924050"/>
          </a:xfrm>
          <a:prstGeom prst="rect">
            <a:avLst/>
          </a:prstGeom>
        </p:spPr>
      </p:pic>
      <p:pic>
        <p:nvPicPr>
          <p:cNvPr id="14" name="Шестерня 4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8500" y="-844550"/>
            <a:ext cx="1409700" cy="1409700"/>
          </a:xfrm>
          <a:prstGeom prst="rect">
            <a:avLst/>
          </a:prstGeom>
        </p:spPr>
      </p:pic>
      <p:pic>
        <p:nvPicPr>
          <p:cNvPr id="15" name="Шестерня 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26900" y="5784850"/>
            <a:ext cx="1079500" cy="1079500"/>
          </a:xfrm>
          <a:prstGeom prst="rect">
            <a:avLst/>
          </a:prstGeom>
        </p:spPr>
      </p:pic>
      <p:pic>
        <p:nvPicPr>
          <p:cNvPr id="16" name="Шестерня 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53800" y="546100"/>
            <a:ext cx="2044700" cy="2044700"/>
          </a:xfrm>
          <a:prstGeom prst="rect">
            <a:avLst/>
          </a:prstGeom>
        </p:spPr>
      </p:pic>
      <p:pic>
        <p:nvPicPr>
          <p:cNvPr id="17" name="Логотип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609600"/>
            <a:ext cx="920750" cy="292100"/>
          </a:xfrm>
          <a:prstGeom prst="rect">
            <a:avLst/>
          </a:prstGeom>
        </p:spPr>
      </p:pic>
      <p:sp>
        <p:nvSpPr>
          <p:cNvPr id="18" name="Место под изображение"/>
          <p:cNvSpPr/>
          <p:nvPr/>
        </p:nvSpPr>
        <p:spPr>
          <a:xfrm>
            <a:off x="698500" y="2159000"/>
            <a:ext cx="2413000" cy="4699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B9C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Место под изображение"/>
          <p:cNvSpPr/>
          <p:nvPr/>
        </p:nvSpPr>
        <p:spPr>
          <a:xfrm>
            <a:off x="9080500" y="2159000"/>
            <a:ext cx="2413000" cy="4699000"/>
          </a:xfrm>
          <a:prstGeom prst="rect">
            <a:avLst/>
          </a:prstGeom>
          <a:pattFill prst="wdUpDiag">
            <a:fgClr>
              <a:srgbClr val="CFD6DD"/>
            </a:fgClr>
            <a:bgClr>
              <a:srgbClr val="E7EBEF"/>
            </a:bgClr>
          </a:pattFill>
          <a:ln w="9525">
            <a:solidFill>
              <a:srgbClr val="B9C0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Бабл"/>
          <p:cNvSpPr/>
          <p:nvPr/>
        </p:nvSpPr>
        <p:spPr>
          <a:xfrm>
            <a:off x="3365500" y="1714500"/>
            <a:ext cx="4787900" cy="2247900"/>
          </a:xfrm>
          <a:prstGeom prst="wedgeRoundRectCallout">
            <a:avLst>
              <a:gd name="adj1" fmla="val -50058"/>
              <a:gd name="adj2" fmla="val -26695"/>
              <a:gd name="adj3" fmla="val 12000"/>
            </a:avLst>
          </a:prstGeom>
          <a:solidFill>
            <a:srgbClr val="FFFFFF"/>
          </a:solid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Бабл"/>
          <p:cNvSpPr/>
          <p:nvPr/>
        </p:nvSpPr>
        <p:spPr>
          <a:xfrm>
            <a:off x="4191000" y="4191000"/>
            <a:ext cx="4717504" cy="2396412"/>
          </a:xfrm>
          <a:prstGeom prst="wedgeRoundRectCallout">
            <a:avLst>
              <a:gd name="adj1" fmla="val 50050"/>
              <a:gd name="adj2" fmla="val -25000"/>
              <a:gd name="adj3" fmla="val 12000"/>
            </a:avLst>
          </a:prstGeom>
          <a:solidFill>
            <a:srgbClr val="FFFFFF"/>
          </a:solidFill>
          <a:ln w="9525">
            <a:solidFill>
              <a:srgbClr val="DCDCDF"/>
            </a:solidFill>
            <a:prstDash val="solid"/>
          </a:ln>
        </p:spPr>
        <p:txBody>
          <a:bodyPr/>
          <a:lstStyle/>
          <a:p>
            <a:endParaRPr sz="1400" dirty="0"/>
          </a:p>
        </p:txBody>
      </p:sp>
      <p:sp>
        <p:nvSpPr>
          <p:cNvPr id="22" name="Акцентная линия"/>
          <p:cNvSpPr/>
          <p:nvPr/>
        </p:nvSpPr>
        <p:spPr>
          <a:xfrm>
            <a:off x="469900" y="0"/>
            <a:ext cx="0" cy="1181100"/>
          </a:xfrm>
          <a:prstGeom prst="line">
            <a:avLst/>
          </a:prstGeom>
          <a:noFill/>
          <a:ln w="9525">
            <a:solidFill>
              <a:srgbClr val="F534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Текст 1"/>
          <p:cNvSpPr txBox="1"/>
          <p:nvPr/>
        </p:nvSpPr>
        <p:spPr>
          <a:xfrm>
            <a:off x="635000" y="838200"/>
            <a:ext cx="9525000" cy="488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3000" b="1" spc="50" dirty="0">
                <a:solidFill>
                  <a:srgbClr val="2F3740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КТО ОТВЕЧАЕТ ЗА НЕЗАКРЫТЫЙ ЖУРНАЛ</a:t>
            </a:r>
          </a:p>
        </p:txBody>
      </p:sp>
      <p:sp>
        <p:nvSpPr>
          <p:cNvPr id="24" name="Текст 2"/>
          <p:cNvSpPr txBox="1"/>
          <p:nvPr/>
        </p:nvSpPr>
        <p:spPr>
          <a:xfrm>
            <a:off x="704850" y="6242050"/>
            <a:ext cx="2400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b="0" spc="50" dirty="0">
                <a:solidFill>
                  <a:srgbClr val="5D656E"/>
                </a:solidFill>
                <a:latin typeface="Consolas"/>
                <a:ea typeface="Consolas"/>
                <a:cs typeface="Consolas"/>
              </a:rPr>
              <a:t>АЛЕКСЕЙ · В ПОЛНЫЙ РОСТ</a:t>
            </a:r>
          </a:p>
        </p:txBody>
      </p:sp>
      <p:sp>
        <p:nvSpPr>
          <p:cNvPr id="25" name="Текст 3"/>
          <p:cNvSpPr txBox="1"/>
          <p:nvPr/>
        </p:nvSpPr>
        <p:spPr>
          <a:xfrm>
            <a:off x="9086850" y="6242050"/>
            <a:ext cx="2400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b="0" spc="50" dirty="0">
                <a:solidFill>
                  <a:srgbClr val="5D656E"/>
                </a:solidFill>
                <a:latin typeface="Consolas"/>
                <a:ea typeface="Consolas"/>
                <a:cs typeface="Consolas"/>
              </a:rPr>
              <a:t>ДЕНИС · В ПОЛНЫЙ РОСТ</a:t>
            </a:r>
          </a:p>
        </p:txBody>
      </p:sp>
      <p:sp>
        <p:nvSpPr>
          <p:cNvPr id="26" name="Текст 4"/>
          <p:cNvSpPr txBox="1"/>
          <p:nvPr/>
        </p:nvSpPr>
        <p:spPr>
          <a:xfrm>
            <a:off x="3702050" y="1987550"/>
            <a:ext cx="4787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b="1" spc="150" dirty="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АЛЕКСЕЙ</a:t>
            </a:r>
          </a:p>
        </p:txBody>
      </p:sp>
      <p:sp>
        <p:nvSpPr>
          <p:cNvPr id="27" name="Текст 5"/>
          <p:cNvSpPr txBox="1"/>
          <p:nvPr/>
        </p:nvSpPr>
        <p:spPr>
          <a:xfrm>
            <a:off x="3702050" y="2317750"/>
            <a:ext cx="4191648" cy="142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4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Получается, я отвечаю за то, чего не делал. Смена ушла, журнал пустой, а разбираться с возвратом от контроля будут со мной, потому что узел сдавал мой участок.</a:t>
            </a:r>
          </a:p>
        </p:txBody>
      </p:sp>
      <p:sp>
        <p:nvSpPr>
          <p:cNvPr id="28" name="Текст 6"/>
          <p:cNvSpPr txBox="1"/>
          <p:nvPr/>
        </p:nvSpPr>
        <p:spPr>
          <a:xfrm>
            <a:off x="4532446" y="4419859"/>
            <a:ext cx="3779158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b="1" spc="150" dirty="0">
                <a:solidFill>
                  <a:srgbClr val="1AAC39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ДЕНИС</a:t>
            </a:r>
          </a:p>
        </p:txBody>
      </p:sp>
      <p:sp>
        <p:nvSpPr>
          <p:cNvPr id="29" name="Текст 7"/>
          <p:cNvSpPr txBox="1"/>
          <p:nvPr/>
        </p:nvSpPr>
        <p:spPr>
          <a:xfrm>
            <a:off x="4532446" y="4794250"/>
            <a:ext cx="4039507" cy="142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ru-RU" sz="1400" b="0" spc="0" dirty="0">
                <a:solidFill>
                  <a:srgbClr val="2F3740"/>
                </a:solidFill>
                <a:latin typeface="Nunito"/>
                <a:ea typeface="Nunito"/>
                <a:cs typeface="Nunito"/>
              </a:rPr>
              <a:t>Отвечаешь ты за приёмку, а не за их работу. Пока ты не подписал приёмку, это их незакрытая смена. Подписал — стало твоим. Поэтому приёмка и стоит первым пунктом в задании.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Palette Gears Bright 1">
      <a:dk1>
        <a:srgbClr val="2F3740"/>
      </a:dk1>
      <a:lt1>
        <a:srgbClr val="FFFFFF"/>
      </a:lt1>
      <a:dk2>
        <a:srgbClr val="676C74"/>
      </a:dk2>
      <a:lt2>
        <a:srgbClr val="EEF1F4"/>
      </a:lt2>
      <a:accent1>
        <a:srgbClr val="F5340B"/>
      </a:accent1>
      <a:accent2>
        <a:srgbClr val="21C535"/>
      </a:accent2>
      <a:accent3>
        <a:srgbClr val="FFB219"/>
      </a:accent3>
      <a:accent4>
        <a:srgbClr val="FA7E7E"/>
      </a:accent4>
      <a:accent5>
        <a:srgbClr val="64E46D"/>
      </a:accent5>
      <a:accent6>
        <a:srgbClr val="F7D8A5"/>
      </a:accent6>
      <a:hlink>
        <a:srgbClr val="21C535"/>
      </a:hlink>
      <a:folHlink>
        <a:srgbClr val="1AAC3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lette Gears Bright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3398</Words>
  <Application>Microsoft Office PowerPoint</Application>
  <DocSecurity>0</DocSecurity>
  <PresentationFormat>Широкоэкранный</PresentationFormat>
  <Paragraphs>270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7" baseType="lpstr">
      <vt:lpstr>Arial</vt:lpstr>
      <vt:lpstr>Bahnschrift Condensed</vt:lpstr>
      <vt:lpstr>Bahnschrift SemiBold Condensed</vt:lpstr>
      <vt:lpstr>Calibri</vt:lpstr>
      <vt:lpstr>Calibri Light</vt:lpstr>
      <vt:lpstr>Consolas</vt:lpstr>
      <vt:lpstr>Montserrat Light</vt:lpstr>
      <vt:lpstr>Nunito</vt:lpstr>
      <vt:lpstr>Roboto Condensed</vt:lpstr>
      <vt:lpstr>Office Theme</vt:lpstr>
      <vt:lpstr>РОЛЬ МАСТЕРА</vt:lpstr>
      <vt:lpstr>УРОК 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Судьбинина Анастасия Игоревна</cp:lastModifiedBy>
  <cp:revision>9</cp:revision>
  <dcterms:created xsi:type="dcterms:W3CDTF">2026-08-18T12:30:31Z</dcterms:created>
  <dcterms:modified xsi:type="dcterms:W3CDTF">2026-08-19T12:26:26Z</dcterms:modified>
</cp:coreProperties>
</file>