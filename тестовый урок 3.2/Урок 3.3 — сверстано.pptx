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6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dlg.bubbles · на лимите · две реплики до 85 слов, без фона — только баблы и персонажи. Больше двух реплик на слайд не бывает.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dlg.bubbles · на лимите · две реплики до 85 слов, без фона — только баблы и персонажи. Больше двух реплик на слайд не бывает.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2 в ряд · на лимите · label ≤4 слова, body 30 слов. Карточки равной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2 в ряд · на лимите · label ≤4 слова, body 30 слов. Карточки равной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3 в ряд · на лимите · label ≤4 слова, body 30 слов.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3 в ряд · на лимите · label ≤4 слова, body 30 слов.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2 в ряд · на лимите · label ≤4 слова, body 30 слов. Карточки равной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2 в ряд · на лимите · label ≤4 слова, body 30 слов. Карточки равной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3 в ряд · на лимите · label ≤4 слова, body 30 слов.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2 в ряд · на лимите · label ≤4 слова, body 30 слов. Карточки равной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2 в ряд · на лимите · label ≤4 слова, body 30 слов. Карточки равной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dlg.bubbles · на лимите · две реплики до 85 слов, без фона — только баблы и персонажи. Больше двух реплик на слайд не бывает.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text.plain · на лимите · body 2 абзаца по 45 слов. Плашка выросла под объём, кегль не менялся.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3 в ряд · на лимите · label ≤4 слова, body 30 слов.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cards.N раскладка 4 сеткой 2×2 · на лимите · label ≤4 слова, body 24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3">
            <a:extLst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9" y="3002440"/>
            <a:ext cx="4702800" cy="177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33">
            <a:extLst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839433" y="1323640"/>
            <a:ext cx="2088800" cy="1440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3">
            <a:extLst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449" y="5019631"/>
            <a:ext cx="3185600" cy="77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>
            <a:endParaRPr/>
          </a:p>
        </p:txBody>
      </p:sp>
      <p:cxnSp>
        <p:nvCxnSpPr>
          <p:cNvPr id="1272" name="Google Shape;1260;p33"/>
          <p:cNvCxnSpPr/>
          <p:nvPr/>
        </p:nvCxnSpPr>
        <p:spPr>
          <a:xfrm rot="10800000">
            <a:off x="3971184" y="2820651"/>
            <a:ext cx="82208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>
            <a:extLst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22580"/>
            <a:ext cx="4553520" cy="218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62" name="Google Shape;1162;p30">
            <a:extLst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433" y="2586565"/>
            <a:ext cx="4701600" cy="218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72" name="Google Shape;1163;p30"/>
          <p:cNvCxnSpPr/>
          <p:nvPr/>
        </p:nvCxnSpPr>
        <p:spPr>
          <a:xfrm>
            <a:off x="6096000" y="-162400"/>
            <a:ext cx="0" cy="501400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0.svg"/><Relationship Id="rId10" Type="http://schemas.openxmlformats.org/officeDocument/2006/relationships/image" Target="../media/image33.png"/><Relationship Id="rId4" Type="http://schemas.openxmlformats.org/officeDocument/2006/relationships/image" Target="../media/image31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0.svg"/><Relationship Id="rId10" Type="http://schemas.openxmlformats.org/officeDocument/2006/relationships/image" Target="../media/image33.png"/><Relationship Id="rId4" Type="http://schemas.openxmlformats.org/officeDocument/2006/relationships/image" Target="../media/image31.sv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21.svg"/><Relationship Id="rId10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21.svg"/><Relationship Id="rId10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21.svg"/><Relationship Id="rId10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21.svg"/><Relationship Id="rId10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21.svg"/><Relationship Id="rId10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21.svg"/><Relationship Id="rId10" Type="http://schemas.openxmlformats.org/officeDocument/2006/relationships/image" Target="../media/image33.png"/><Relationship Id="rId4" Type="http://schemas.openxmlformats.org/officeDocument/2006/relationships/image" Target="../media/image16.svg"/><Relationship Id="rId9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0.svg"/><Relationship Id="rId10" Type="http://schemas.openxmlformats.org/officeDocument/2006/relationships/image" Target="../media/image33.png"/><Relationship Id="rId4" Type="http://schemas.openxmlformats.org/officeDocument/2006/relationships/image" Target="../media/image31.svg"/><Relationship Id="rId9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6.svg"/><Relationship Id="rId5" Type="http://schemas.openxmlformats.org/officeDocument/2006/relationships/image" Target="../media/image29.svg"/><Relationship Id="rId10" Type="http://schemas.openxmlformats.org/officeDocument/2006/relationships/image" Target="../media/image33.png"/><Relationship Id="rId4" Type="http://schemas.openxmlformats.org/officeDocument/2006/relationships/image" Target="../media/image24.svg"/><Relationship Id="rId9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4.svg"/><Relationship Id="rId10" Type="http://schemas.openxmlformats.org/officeDocument/2006/relationships/image" Target="../media/image36.svg"/><Relationship Id="rId4" Type="http://schemas.openxmlformats.org/officeDocument/2006/relationships/image" Target="../media/image16.sv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5">
            <a:extLst>
              <a:ext uri="{FF2B5EF4-FFF2-40B4-BE49-F238E27FC236}">
                <a16:creationId xmlns:a16="http://schemas.microsoft.com/office/drawing/2014/main" id="{83EB69A0-C6B1-4CEA-B7A6-6ADF3DBA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50" y="3002440"/>
            <a:ext cx="11285832" cy="1778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r>
              <a:t>Урок 3.3. Как добиваться результата без крика</a:t>
            </a:r>
          </a:p>
        </p:txBody>
      </p:sp>
      <p:sp>
        <p:nvSpPr>
          <p:cNvPr id="2141" name="Google Shape;2141;p65">
            <a:extLst>
              <a:ext uri="{FF2B5EF4-FFF2-40B4-BE49-F238E27FC236}">
                <a16:creationId xmlns:a16="http://schemas.microsoft.com/office/drawing/2014/main" id="{F969B564-E148-47E0-A029-7064E9BD2C7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839433" y="1323640"/>
            <a:ext cx="6894084" cy="1440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Autofit/>
          </a:bodyPr>
          <a:lstStyle/>
          <a:p>
            <a:endParaRPr/>
          </a:p>
        </p:txBody>
      </p:sp>
      <p:sp>
        <p:nvSpPr>
          <p:cNvPr id="2142" name="Google Shape;2142;p65">
            <a:extLst>
              <a:ext uri="{FF2B5EF4-FFF2-40B4-BE49-F238E27FC236}">
                <a16:creationId xmlns:a16="http://schemas.microsoft.com/office/drawing/2014/main" id="{9F01F7C8-7A22-438D-BC56-3C9D31A81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259" y="4489703"/>
            <a:ext cx="6969722" cy="777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endParaRPr/>
          </a:p>
        </p:txBody>
      </p:sp>
      <p:pic>
        <p:nvPicPr>
          <p:cNvPr id="2178" name="Рисунок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56" y="8568853"/>
            <a:ext cx="1857375" cy="1857375"/>
          </a:xfrm>
          <a:prstGeom prst="rect">
            <a:avLst/>
          </a:prstGeom>
        </p:spPr>
      </p:pic>
      <p:pic>
        <p:nvPicPr>
          <p:cNvPr id="2179" name="Рисунок 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24390" y="2687797"/>
            <a:ext cx="2419350" cy="2419350"/>
          </a:xfrm>
          <a:prstGeom prst="rect">
            <a:avLst/>
          </a:prstGeom>
        </p:spPr>
      </p:pic>
      <p:pic>
        <p:nvPicPr>
          <p:cNvPr id="2180" name="Рисунок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184029" y="138288"/>
            <a:ext cx="1790700" cy="1790700"/>
          </a:xfrm>
          <a:prstGeom prst="rect">
            <a:avLst/>
          </a:prstGeom>
        </p:spPr>
      </p:pic>
      <p:pic>
        <p:nvPicPr>
          <p:cNvPr id="2181" name="Рисунок 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98294" y="3538436"/>
            <a:ext cx="1257300" cy="1257300"/>
          </a:xfrm>
          <a:prstGeom prst="rect">
            <a:avLst/>
          </a:prstGeom>
        </p:spPr>
      </p:pic>
      <p:pic>
        <p:nvPicPr>
          <p:cNvPr id="2182" name="Рисунок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8966" y="8604458"/>
            <a:ext cx="2019300" cy="2019300"/>
          </a:xfrm>
          <a:prstGeom prst="rect">
            <a:avLst/>
          </a:prstGeom>
        </p:spPr>
      </p:pic>
      <p:pic>
        <p:nvPicPr>
          <p:cNvPr id="2183" name="Рисунок 3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3733" y="-3812722"/>
            <a:ext cx="2305050" cy="2305050"/>
          </a:xfrm>
          <a:prstGeom prst="rect">
            <a:avLst/>
          </a:prstGeom>
        </p:spPr>
      </p:pic>
      <p:pic>
        <p:nvPicPr>
          <p:cNvPr id="2184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96105" y="6899111"/>
            <a:ext cx="3714750" cy="3714750"/>
          </a:xfrm>
          <a:prstGeom prst="rect">
            <a:avLst/>
          </a:prstGeom>
        </p:spPr>
      </p:pic>
      <p:pic>
        <p:nvPicPr>
          <p:cNvPr id="2185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4891278" y="2148846"/>
            <a:ext cx="2257425" cy="2257425"/>
          </a:xfrm>
          <a:prstGeom prst="rect">
            <a:avLst/>
          </a:prstGeom>
        </p:spPr>
      </p:pic>
      <p:pic>
        <p:nvPicPr>
          <p:cNvPr id="2186" name="Рисунок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83881" y="-3377845"/>
            <a:ext cx="3124200" cy="3124200"/>
          </a:xfrm>
          <a:prstGeom prst="rect">
            <a:avLst/>
          </a:prstGeom>
        </p:spPr>
      </p:pic>
      <p:pic>
        <p:nvPicPr>
          <p:cNvPr id="2187" name="Рисунок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492916" y="841737"/>
            <a:ext cx="2019300" cy="2019300"/>
          </a:xfrm>
          <a:prstGeom prst="rect">
            <a:avLst/>
          </a:prstGeom>
        </p:spPr>
      </p:pic>
      <p:pic>
        <p:nvPicPr>
          <p:cNvPr id="2188" name="Рисунок 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1558" y="9162903"/>
            <a:ext cx="1238250" cy="1238250"/>
          </a:xfrm>
          <a:prstGeom prst="rect">
            <a:avLst/>
          </a:prstGeom>
        </p:spPr>
      </p:pic>
      <p:pic>
        <p:nvPicPr>
          <p:cNvPr id="2189" name="Рисунок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628956" y="678282"/>
            <a:ext cx="3314700" cy="3314700"/>
          </a:xfrm>
          <a:prstGeom prst="rect">
            <a:avLst/>
          </a:prstGeom>
        </p:spPr>
      </p:pic>
      <p:pic>
        <p:nvPicPr>
          <p:cNvPr id="2190" name="Рисунок 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7904" y="-3455838"/>
            <a:ext cx="1609725" cy="1609725"/>
          </a:xfrm>
          <a:prstGeom prst="rect">
            <a:avLst/>
          </a:prstGeom>
        </p:spPr>
      </p:pic>
      <p:pic>
        <p:nvPicPr>
          <p:cNvPr id="2191" name="Рисунок 4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10855" y="-3524066"/>
            <a:ext cx="2019300" cy="2019300"/>
          </a:xfrm>
          <a:prstGeom prst="rect">
            <a:avLst/>
          </a:prstGeom>
        </p:spPr>
      </p:pic>
      <p:pic>
        <p:nvPicPr>
          <p:cNvPr id="2192" name="Рисунок 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921293" y="1193172"/>
            <a:ext cx="2419350" cy="2419350"/>
          </a:xfrm>
          <a:prstGeom prst="rect">
            <a:avLst/>
          </a:prstGeom>
        </p:spPr>
      </p:pic>
      <p:pic>
        <p:nvPicPr>
          <p:cNvPr id="2193" name="Рисунок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4870923" y="3584411"/>
            <a:ext cx="3314700" cy="3314700"/>
          </a:xfrm>
          <a:prstGeom prst="rect">
            <a:avLst/>
          </a:prstGeom>
        </p:spPr>
      </p:pic>
      <p:pic>
        <p:nvPicPr>
          <p:cNvPr id="2194" name="Рисунок 4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330993" y="-695660"/>
            <a:ext cx="2019300" cy="2019300"/>
          </a:xfrm>
          <a:prstGeom prst="rect">
            <a:avLst/>
          </a:prstGeom>
        </p:spPr>
      </p:pic>
      <p:pic>
        <p:nvPicPr>
          <p:cNvPr id="2195" name="Рисунок 4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717486" y="4425294"/>
            <a:ext cx="3435929" cy="3435929"/>
          </a:xfrm>
          <a:prstGeom prst="rect">
            <a:avLst/>
          </a:prstGeom>
        </p:spPr>
      </p:pic>
      <p:pic>
        <p:nvPicPr>
          <p:cNvPr id="2196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-2990850" y="-2552700"/>
            <a:ext cx="3267075" cy="3267075"/>
          </a:xfrm>
          <a:prstGeom prst="rect">
            <a:avLst/>
          </a:prstGeom>
        </p:spPr>
      </p:pic>
      <p:pic>
        <p:nvPicPr>
          <p:cNvPr id="2197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 rot="1020000">
            <a:off x="11477625" y="-1771650"/>
            <a:ext cx="1971675" cy="1971675"/>
          </a:xfrm>
          <a:prstGeom prst="rect">
            <a:avLst/>
          </a:prstGeom>
        </p:spPr>
      </p:pic>
      <p:pic>
        <p:nvPicPr>
          <p:cNvPr id="2198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 rot="2040000">
            <a:off x="-272776" y="3497339"/>
            <a:ext cx="2141298" cy="2141298"/>
          </a:xfrm>
          <a:prstGeom prst="rect">
            <a:avLst/>
          </a:prstGeom>
        </p:spPr>
      </p:pic>
      <p:pic>
        <p:nvPicPr>
          <p:cNvPr id="2199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 rot="3060000">
            <a:off x="664367" y="2473289"/>
            <a:ext cx="1792123" cy="1792123"/>
          </a:xfrm>
          <a:prstGeom prst="rect">
            <a:avLst/>
          </a:prstGeom>
        </p:spPr>
      </p:pic>
      <p:pic>
        <p:nvPicPr>
          <p:cNvPr id="2200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 rot="4080000">
            <a:off x="-142875" y="6305550"/>
            <a:ext cx="1913573" cy="1913573"/>
          </a:xfrm>
          <a:prstGeom prst="rect">
            <a:avLst/>
          </a:prstGeom>
        </p:spPr>
      </p:pic>
      <p:pic>
        <p:nvPicPr>
          <p:cNvPr id="2201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 rot="5100000">
            <a:off x="10643461" y="2871454"/>
            <a:ext cx="1671638" cy="1671638"/>
          </a:xfrm>
          <a:prstGeom prst="rect">
            <a:avLst/>
          </a:prstGeom>
        </p:spPr>
      </p:pic>
      <p:pic>
        <p:nvPicPr>
          <p:cNvPr id="2202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 rot="6120000">
            <a:off x="-2205478" y="848062"/>
            <a:ext cx="3420428" cy="3420428"/>
          </a:xfrm>
          <a:prstGeom prst="rect">
            <a:avLst/>
          </a:prstGeom>
        </p:spPr>
      </p:pic>
      <p:pic>
        <p:nvPicPr>
          <p:cNvPr id="2203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 rot="7140000">
            <a:off x="5953125" y="6696075"/>
            <a:ext cx="2069783" cy="2069783"/>
          </a:xfrm>
          <a:prstGeom prst="rect">
            <a:avLst/>
          </a:prstGeom>
        </p:spPr>
      </p:pic>
      <p:pic>
        <p:nvPicPr>
          <p:cNvPr id="2204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 rot="8160000">
            <a:off x="-1819275" y="1114425"/>
            <a:ext cx="1960245" cy="1960245"/>
          </a:xfrm>
          <a:prstGeom prst="rect">
            <a:avLst/>
          </a:prstGeom>
        </p:spPr>
      </p:pic>
      <p:pic>
        <p:nvPicPr>
          <p:cNvPr id="2205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/>
        </p:blipFill>
        <p:spPr>
          <a:xfrm rot="9180000">
            <a:off x="12031329" y="298022"/>
            <a:ext cx="1585913" cy="1585913"/>
          </a:xfrm>
          <a:prstGeom prst="rect">
            <a:avLst/>
          </a:prstGeom>
        </p:spPr>
      </p:pic>
      <p:pic>
        <p:nvPicPr>
          <p:cNvPr id="2206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/>
        </p:blipFill>
        <p:spPr>
          <a:xfrm rot="10200000">
            <a:off x="11200522" y="6154447"/>
            <a:ext cx="1737360" cy="1737360"/>
          </a:xfrm>
          <a:prstGeom prst="rect">
            <a:avLst/>
          </a:prstGeom>
        </p:spPr>
      </p:pic>
      <p:pic>
        <p:nvPicPr>
          <p:cNvPr id="2207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1220000">
            <a:off x="-1078359" y="5140924"/>
            <a:ext cx="4333312" cy="4333312"/>
          </a:xfrm>
          <a:prstGeom prst="rect">
            <a:avLst/>
          </a:prstGeom>
        </p:spPr>
      </p:pic>
      <p:pic>
        <p:nvPicPr>
          <p:cNvPr id="2208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/>
        </p:blipFill>
        <p:spPr>
          <a:xfrm rot="12240000">
            <a:off x="1200150" y="-1647825"/>
            <a:ext cx="1540193" cy="1540193"/>
          </a:xfrm>
          <a:prstGeom prst="rect">
            <a:avLst/>
          </a:prstGeom>
        </p:spPr>
      </p:pic>
      <p:pic>
        <p:nvPicPr>
          <p:cNvPr id="2209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 rot="13260000">
            <a:off x="11382375" y="4848225"/>
            <a:ext cx="1757363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9000" y="4387850"/>
            <a:ext cx="1416050" cy="1416050"/>
          </a:xfrm>
          <a:prstGeom prst="rect">
            <a:avLst/>
          </a:prstGeom>
        </p:spPr>
      </p:pic>
      <p:pic>
        <p:nvPicPr>
          <p:cNvPr id="39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" y="6426200"/>
            <a:ext cx="3276600" cy="3276600"/>
          </a:xfrm>
          <a:prstGeom prst="rect">
            <a:avLst/>
          </a:prstGeom>
        </p:spPr>
      </p:pic>
      <p:pic>
        <p:nvPicPr>
          <p:cNvPr id="40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5100" y="6235700"/>
            <a:ext cx="2114550" cy="2114550"/>
          </a:xfrm>
          <a:prstGeom prst="rect">
            <a:avLst/>
          </a:prstGeom>
        </p:spPr>
      </p:pic>
      <p:pic>
        <p:nvPicPr>
          <p:cNvPr id="41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6900" y="-1460500"/>
            <a:ext cx="1924050" cy="1924050"/>
          </a:xfrm>
          <a:prstGeom prst="rect">
            <a:avLst/>
          </a:prstGeom>
        </p:spPr>
      </p:pic>
      <p:pic>
        <p:nvPicPr>
          <p:cNvPr id="42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8500" y="-844550"/>
            <a:ext cx="1409700" cy="1409700"/>
          </a:xfrm>
          <a:prstGeom prst="rect">
            <a:avLst/>
          </a:prstGeom>
        </p:spPr>
      </p:pic>
      <p:pic>
        <p:nvPicPr>
          <p:cNvPr id="4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26900" y="5784850"/>
            <a:ext cx="1079500" cy="1079500"/>
          </a:xfrm>
          <a:prstGeom prst="rect">
            <a:avLst/>
          </a:prstGeom>
        </p:spPr>
      </p:pic>
      <p:pic>
        <p:nvPicPr>
          <p:cNvPr id="44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53800" y="546100"/>
            <a:ext cx="2044700" cy="204470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sp>
        <p:nvSpPr>
          <p:cNvPr id="18" name="Место под изображение">
            <a:extLst>
              <a:ext uri="{FF2B5EF4-FFF2-40B4-BE49-F238E27FC236}">
                <a16:creationId xmlns:a16="http://schemas.microsoft.com/office/drawing/2014/main" id="{BEF62A79-503E-4B52-AB3F-C6A367C88BE2}"/>
              </a:ext>
            </a:extLst>
          </p:cNvPr>
          <p:cNvSpPr>
            <a:spLocks noGrp="1"/>
          </p:cNvSpPr>
          <p:nvPr/>
        </p:nvSpPr>
        <p:spPr>
          <a:xfrm>
            <a:off x="698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Место под изображение">
            <a:extLst>
              <a:ext uri="{FF2B5EF4-FFF2-40B4-BE49-F238E27FC236}">
                <a16:creationId xmlns:a16="http://schemas.microsoft.com/office/drawing/2014/main" id="{59E7FAE0-9CE9-4736-BD5C-62F4A9B4A04A}"/>
              </a:ext>
            </a:extLst>
          </p:cNvPr>
          <p:cNvSpPr>
            <a:spLocks noGrp="1"/>
          </p:cNvSpPr>
          <p:nvPr/>
        </p:nvSpPr>
        <p:spPr>
          <a:xfrm>
            <a:off x="9080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Бабл">
            <a:extLst>
              <a:ext uri="{FF2B5EF4-FFF2-40B4-BE49-F238E27FC236}">
                <a16:creationId xmlns:a16="http://schemas.microsoft.com/office/drawing/2014/main" id="{FF9C173E-D37A-481A-A926-056CD181A49E}"/>
              </a:ext>
            </a:extLst>
          </p:cNvPr>
          <p:cNvSpPr>
            <a:spLocks noGrp="1"/>
          </p:cNvSpPr>
          <p:nvPr/>
        </p:nvSpPr>
        <p:spPr>
          <a:xfrm>
            <a:off x="3365500" y="1714500"/>
            <a:ext cx="4787900" cy="2247900"/>
          </a:xfrm>
          <a:prstGeom prst="wedgeRoundRectCallout">
            <a:avLst>
              <a:gd name="adj1" fmla="val -50058"/>
              <a:gd name="adj2" fmla="val -26695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Бабл">
            <a:extLst>
              <a:ext uri="{FF2B5EF4-FFF2-40B4-BE49-F238E27FC236}">
                <a16:creationId xmlns:a16="http://schemas.microsoft.com/office/drawing/2014/main" id="{FCA11471-E32C-42A1-8670-A89339C73607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4717504" cy="2396412"/>
          </a:xfrm>
          <a:prstGeom prst="wedgeRoundRectCallout">
            <a:avLst>
              <a:gd name="adj1" fmla="val 50050"/>
              <a:gd name="adj2" fmla="val -25000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2" name="Акцентная линия">
            <a:extLst>
              <a:ext uri="{FF2B5EF4-FFF2-40B4-BE49-F238E27FC236}">
                <a16:creationId xmlns:a16="http://schemas.microsoft.com/office/drawing/2014/main" id="{B660629D-F848-45A4-ABBA-1B32F99E18B9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Текст 1">
            <a:extLst>
              <a:ext uri="{FF2B5EF4-FFF2-40B4-BE49-F238E27FC236}">
                <a16:creationId xmlns:a16="http://schemas.microsoft.com/office/drawing/2014/main" id="{B00A8B6C-F8F0-4575-AFBD-EC667C2381C6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/>
              <a:t>АЛЕКСЕЙ ПРИНОСИТ ЧУЖИЕ СЛОВА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F5A69B6C-2520-407B-9B2B-08DDBE248CE4}"/>
              </a:ext>
            </a:extLst>
          </p:cNvPr>
          <p:cNvSpPr>
            <a:spLocks noGrp="1"/>
          </p:cNvSpPr>
          <p:nvPr/>
        </p:nvSpPr>
        <p:spPr>
          <a:xfrm>
            <a:off x="704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0" spc="5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АЛЕКСЕЙ · В ПОЛНЫЙ РОСТ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E6CE0C45-613F-43F2-A328-87A991589A45}"/>
              </a:ext>
            </a:extLst>
          </p:cNvPr>
          <p:cNvSpPr>
            <a:spLocks noGrp="1"/>
          </p:cNvSpPr>
          <p:nvPr/>
        </p:nvSpPr>
        <p:spPr>
          <a:xfrm>
            <a:off x="9086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0" spc="5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ДЕНИС · В ПОЛНЫЙ РОСТ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D64BA1AC-7EAB-4893-B3B5-5C621C2A980E}"/>
              </a:ext>
            </a:extLst>
          </p:cNvPr>
          <p:cNvSpPr>
            <a:spLocks noGrp="1"/>
          </p:cNvSpPr>
          <p:nvPr/>
        </p:nvSpPr>
        <p:spPr>
          <a:xfrm>
            <a:off x="3702050" y="1987550"/>
            <a:ext cx="4787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Алексей</a:t>
            </a: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B9C199C5-1818-4DE1-A918-CC5B6B4094C9}"/>
              </a:ext>
            </a:extLst>
          </p:cNvPr>
          <p:cNvSpPr>
            <a:spLocks noGrp="1"/>
          </p:cNvSpPr>
          <p:nvPr/>
        </p:nvSpPr>
        <p:spPr>
          <a:xfrm>
            <a:off x="3702050" y="2317750"/>
            <a:ext cx="4191648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соседнем</a:t>
            </a:r>
            <a:r>
              <a:rPr dirty="0"/>
              <a:t> </a:t>
            </a:r>
            <a:r>
              <a:rPr dirty="0" err="1"/>
              <a:t>участке</a:t>
            </a:r>
            <a:r>
              <a:rPr dirty="0"/>
              <a:t> </a:t>
            </a:r>
            <a:r>
              <a:rPr dirty="0" err="1"/>
              <a:t>мастер</a:t>
            </a:r>
            <a:r>
              <a:rPr dirty="0"/>
              <a:t> </a:t>
            </a:r>
            <a:r>
              <a:rPr dirty="0" err="1"/>
              <a:t>орёт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смену</a:t>
            </a:r>
            <a:r>
              <a:rPr dirty="0"/>
              <a:t>. И у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делается</a:t>
            </a:r>
            <a:r>
              <a:rPr dirty="0"/>
              <a:t>. А я </a:t>
            </a:r>
            <a:r>
              <a:rPr dirty="0" err="1"/>
              <a:t>прошу</a:t>
            </a:r>
            <a:r>
              <a:rPr dirty="0"/>
              <a:t> </a:t>
            </a:r>
            <a:r>
              <a:rPr dirty="0" err="1"/>
              <a:t>спокойно</a:t>
            </a:r>
            <a:r>
              <a:rPr dirty="0"/>
              <a:t>, и </a:t>
            </a:r>
            <a:r>
              <a:rPr dirty="0" err="1"/>
              <a:t>меня</a:t>
            </a:r>
            <a:r>
              <a:rPr dirty="0"/>
              <a:t> </a:t>
            </a:r>
            <a:r>
              <a:rPr dirty="0" err="1"/>
              <a:t>будто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 </a:t>
            </a:r>
            <a:r>
              <a:rPr dirty="0" err="1"/>
              <a:t>Может</a:t>
            </a:r>
            <a:r>
              <a:rPr dirty="0"/>
              <a:t>, и </a:t>
            </a:r>
            <a:r>
              <a:rPr dirty="0" err="1"/>
              <a:t>правда</a:t>
            </a:r>
            <a:r>
              <a:rPr dirty="0"/>
              <a:t> </a:t>
            </a:r>
            <a:r>
              <a:rPr dirty="0" err="1"/>
              <a:t>по-другому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понимают</a:t>
            </a:r>
            <a:r>
              <a:rPr dirty="0"/>
              <a:t>?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F9D0EE01-FB49-4D04-89F1-720B97C24636}"/>
              </a:ext>
            </a:extLst>
          </p:cNvPr>
          <p:cNvSpPr>
            <a:spLocks noGrp="1"/>
          </p:cNvSpPr>
          <p:nvPr/>
        </p:nvSpPr>
        <p:spPr>
          <a:xfrm>
            <a:off x="4532446" y="4419859"/>
            <a:ext cx="3779158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Денис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DE1FF489-807B-4247-8376-67CB3CB5D8AB}"/>
              </a:ext>
            </a:extLst>
          </p:cNvPr>
          <p:cNvSpPr>
            <a:spLocks noGrp="1"/>
          </p:cNvSpPr>
          <p:nvPr/>
        </p:nvSpPr>
        <p:spPr>
          <a:xfrm>
            <a:off x="4532446" y="4794250"/>
            <a:ext cx="4039507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Ты сам как думаешь?</a:t>
            </a:r>
          </a:p>
        </p:txBody>
      </p:sp>
    </p:spTree>
    <p:extLst>
      <p:ext uri="{BB962C8B-B14F-4D97-AF65-F5344CB8AC3E}">
        <p14:creationId xmlns:p14="http://schemas.microsoft.com/office/powerpoint/2010/main" val="61101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9000" y="4387850"/>
            <a:ext cx="1416050" cy="1416050"/>
          </a:xfrm>
          <a:prstGeom prst="rect">
            <a:avLst/>
          </a:prstGeom>
        </p:spPr>
      </p:pic>
      <p:pic>
        <p:nvPicPr>
          <p:cNvPr id="39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" y="6426200"/>
            <a:ext cx="3276600" cy="3276600"/>
          </a:xfrm>
          <a:prstGeom prst="rect">
            <a:avLst/>
          </a:prstGeom>
        </p:spPr>
      </p:pic>
      <p:pic>
        <p:nvPicPr>
          <p:cNvPr id="40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5100" y="6235700"/>
            <a:ext cx="2114550" cy="2114550"/>
          </a:xfrm>
          <a:prstGeom prst="rect">
            <a:avLst/>
          </a:prstGeom>
        </p:spPr>
      </p:pic>
      <p:pic>
        <p:nvPicPr>
          <p:cNvPr id="41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6900" y="-1460500"/>
            <a:ext cx="1924050" cy="1924050"/>
          </a:xfrm>
          <a:prstGeom prst="rect">
            <a:avLst/>
          </a:prstGeom>
        </p:spPr>
      </p:pic>
      <p:pic>
        <p:nvPicPr>
          <p:cNvPr id="42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8500" y="-844550"/>
            <a:ext cx="1409700" cy="1409700"/>
          </a:xfrm>
          <a:prstGeom prst="rect">
            <a:avLst/>
          </a:prstGeom>
        </p:spPr>
      </p:pic>
      <p:pic>
        <p:nvPicPr>
          <p:cNvPr id="4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26900" y="5784850"/>
            <a:ext cx="1079500" cy="1079500"/>
          </a:xfrm>
          <a:prstGeom prst="rect">
            <a:avLst/>
          </a:prstGeom>
        </p:spPr>
      </p:pic>
      <p:pic>
        <p:nvPicPr>
          <p:cNvPr id="44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53800" y="546100"/>
            <a:ext cx="2044700" cy="204470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sp>
        <p:nvSpPr>
          <p:cNvPr id="18" name="Место под изображение">
            <a:extLst>
              <a:ext uri="{FF2B5EF4-FFF2-40B4-BE49-F238E27FC236}">
                <a16:creationId xmlns:a16="http://schemas.microsoft.com/office/drawing/2014/main" id="{BEF62A79-503E-4B52-AB3F-C6A367C88BE2}"/>
              </a:ext>
            </a:extLst>
          </p:cNvPr>
          <p:cNvSpPr>
            <a:spLocks noGrp="1"/>
          </p:cNvSpPr>
          <p:nvPr/>
        </p:nvSpPr>
        <p:spPr>
          <a:xfrm>
            <a:off x="698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Место под изображение">
            <a:extLst>
              <a:ext uri="{FF2B5EF4-FFF2-40B4-BE49-F238E27FC236}">
                <a16:creationId xmlns:a16="http://schemas.microsoft.com/office/drawing/2014/main" id="{59E7FAE0-9CE9-4736-BD5C-62F4A9B4A04A}"/>
              </a:ext>
            </a:extLst>
          </p:cNvPr>
          <p:cNvSpPr>
            <a:spLocks noGrp="1"/>
          </p:cNvSpPr>
          <p:nvPr/>
        </p:nvSpPr>
        <p:spPr>
          <a:xfrm>
            <a:off x="9080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Бабл">
            <a:extLst>
              <a:ext uri="{FF2B5EF4-FFF2-40B4-BE49-F238E27FC236}">
                <a16:creationId xmlns:a16="http://schemas.microsoft.com/office/drawing/2014/main" id="{FF9C173E-D37A-481A-A926-056CD181A49E}"/>
              </a:ext>
            </a:extLst>
          </p:cNvPr>
          <p:cNvSpPr>
            <a:spLocks noGrp="1"/>
          </p:cNvSpPr>
          <p:nvPr/>
        </p:nvSpPr>
        <p:spPr>
          <a:xfrm>
            <a:off x="3365500" y="1714500"/>
            <a:ext cx="4787900" cy="2247900"/>
          </a:xfrm>
          <a:prstGeom prst="wedgeRoundRectCallout">
            <a:avLst>
              <a:gd name="adj1" fmla="val -50058"/>
              <a:gd name="adj2" fmla="val -26695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Бабл">
            <a:extLst>
              <a:ext uri="{FF2B5EF4-FFF2-40B4-BE49-F238E27FC236}">
                <a16:creationId xmlns:a16="http://schemas.microsoft.com/office/drawing/2014/main" id="{FCA11471-E32C-42A1-8670-A89339C73607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4717504" cy="2396412"/>
          </a:xfrm>
          <a:prstGeom prst="wedgeRoundRectCallout">
            <a:avLst>
              <a:gd name="adj1" fmla="val 50050"/>
              <a:gd name="adj2" fmla="val -25000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2" name="Акцентная линия">
            <a:extLst>
              <a:ext uri="{FF2B5EF4-FFF2-40B4-BE49-F238E27FC236}">
                <a16:creationId xmlns:a16="http://schemas.microsoft.com/office/drawing/2014/main" id="{B660629D-F848-45A4-ABBA-1B32F99E18B9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Текст 1">
            <a:extLst>
              <a:ext uri="{FF2B5EF4-FFF2-40B4-BE49-F238E27FC236}">
                <a16:creationId xmlns:a16="http://schemas.microsoft.com/office/drawing/2014/main" id="{B00A8B6C-F8F0-4575-AFBD-EC667C2381C6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ДВЕ ПРИЧИНЫ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F5A69B6C-2520-407B-9B2B-08DDBE248CE4}"/>
              </a:ext>
            </a:extLst>
          </p:cNvPr>
          <p:cNvSpPr>
            <a:spLocks noGrp="1"/>
          </p:cNvSpPr>
          <p:nvPr/>
        </p:nvSpPr>
        <p:spPr>
          <a:xfrm>
            <a:off x="704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0" spc="5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АЛЕКСЕЙ · В ПОЛНЫЙ РОСТ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E6CE0C45-613F-43F2-A328-87A991589A45}"/>
              </a:ext>
            </a:extLst>
          </p:cNvPr>
          <p:cNvSpPr>
            <a:spLocks noGrp="1"/>
          </p:cNvSpPr>
          <p:nvPr/>
        </p:nvSpPr>
        <p:spPr>
          <a:xfrm>
            <a:off x="9086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0" spc="5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ДЕНИС · В ПОЛНЫЙ РОСТ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D64BA1AC-7EAB-4893-B3B5-5C621C2A980E}"/>
              </a:ext>
            </a:extLst>
          </p:cNvPr>
          <p:cNvSpPr>
            <a:spLocks noGrp="1"/>
          </p:cNvSpPr>
          <p:nvPr/>
        </p:nvSpPr>
        <p:spPr>
          <a:xfrm>
            <a:off x="3702050" y="1987550"/>
            <a:ext cx="4787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Алексей</a:t>
            </a: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B9C199C5-1818-4DE1-A918-CC5B6B4094C9}"/>
              </a:ext>
            </a:extLst>
          </p:cNvPr>
          <p:cNvSpPr>
            <a:spLocks noGrp="1"/>
          </p:cNvSpPr>
          <p:nvPr/>
        </p:nvSpPr>
        <p:spPr>
          <a:xfrm>
            <a:off x="3702050" y="2317750"/>
            <a:ext cx="4191648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Не знаю. Я и сорваться могу, я вспыльчивый. Но потом извиняюсь.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F9D0EE01-FB49-4D04-89F1-720B97C24636}"/>
              </a:ext>
            </a:extLst>
          </p:cNvPr>
          <p:cNvSpPr>
            <a:spLocks noGrp="1"/>
          </p:cNvSpPr>
          <p:nvPr/>
        </p:nvSpPr>
        <p:spPr>
          <a:xfrm>
            <a:off x="4532446" y="4419859"/>
            <a:ext cx="3779158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Денис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DE1FF489-807B-4247-8376-67CB3CB5D8AB}"/>
              </a:ext>
            </a:extLst>
          </p:cNvPr>
          <p:cNvSpPr>
            <a:spLocks noGrp="1"/>
          </p:cNvSpPr>
          <p:nvPr/>
        </p:nvSpPr>
        <p:spPr>
          <a:xfrm>
            <a:off x="4532446" y="4794250"/>
            <a:ext cx="4039507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Ты назвал две причины. Обе я слышу на заводе двадцать лет. Давай по одной.</a:t>
            </a:r>
          </a:p>
        </p:txBody>
      </p:sp>
    </p:spTree>
    <p:extLst>
      <p:ext uri="{BB962C8B-B14F-4D97-AF65-F5344CB8AC3E}">
        <p14:creationId xmlns:p14="http://schemas.microsoft.com/office/powerpoint/2010/main" val="61101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37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38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39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40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41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4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F40CBF3B-5C3C-414B-8F19-FD9356A43885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E61DB92F-7E60-4226-84C8-544B4A4BC905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«Я ТАКОЙ ЧЕЛОВЕК, ВСПЫЛЬЧИВЫЙ»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C0312BB6-0E0C-41A4-9B1C-522BCBF05954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D577813-C94E-4CC6-B2DD-BAD446849B08}"/>
              </a:ext>
            </a:extLst>
          </p:cNvPr>
          <p:cNvSpPr>
            <a:spLocks noGrp="1"/>
          </p:cNvSpPr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СДЕРЖАННОСТЬ ЕСТЬ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8C0059C9-1192-4451-A97D-8B5CAAC90F3D}"/>
              </a:ext>
            </a:extLst>
          </p:cNvPr>
          <p:cNvSpPr>
            <a:spLocks noGrp="1"/>
          </p:cNvSpPr>
          <p:nvPr/>
        </p:nvSpPr>
        <p:spPr>
          <a:xfrm>
            <a:off x="10414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Мастер, который считает себя вспыльчивым, за год повышал голос на рабочих, комплектовщика, кладовщика, водителя погрузчика. На гендиректора, на инспектора по труду и на заказчика, который приехал принимать партию, он голос не повышал.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A4A58BC0-4B43-41BA-ABFD-847E7E96FF5B}"/>
              </a:ext>
            </a:extLst>
          </p:cNvPr>
          <p:cNvSpPr>
            <a:spLocks noGrp="1"/>
          </p:cNvSpPr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ВЫБОР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7F9ABDAD-AC66-44AD-B9F4-F7E7D0DAAB21}"/>
              </a:ext>
            </a:extLst>
          </p:cNvPr>
          <p:cNvSpPr>
            <a:spLocks noGrp="1"/>
          </p:cNvSpPr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Там, где за срыв придётся отвечать, сдержанности хватает. Значит, она есть, и работает избирательно.</a:t>
            </a:r>
          </a:p>
          <a:p>
            <a:r>
              <a:t>Если Вы кричите и на гендиректора тоже, причина настоящая. Разбирается она на курсе по управлению гневом.</a:t>
            </a:r>
          </a:p>
        </p:txBody>
      </p:sp>
    </p:spTree>
    <p:extLst>
      <p:ext uri="{BB962C8B-B14F-4D97-AF65-F5344CB8AC3E}">
        <p14:creationId xmlns:p14="http://schemas.microsoft.com/office/powerpoint/2010/main" val="315194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«ОНИ ПО-ДРУГОМУ НЕ ПОНИМАЮТ»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Мастер, который так говорит, описывает участок, который построил сам.</a:t>
            </a:r>
          </a:p>
          <a:p>
            <a:r>
              <a:t>Годами он показывал людям: пока он просит спокойно, требование можно не выполнять. Дошло до крика, значит, началось всерьёз. Рабочие ориентируются на этот признак, потому что другого мастер им не дал.</a:t>
            </a:r>
          </a:p>
          <a:p>
            <a:r>
              <a:t>В уроке 2.4 разбирали отрицательную мотивацию: она даёт результат, пока источник рядом. Мастер ушёл в отпуск, и участок вернулся к обычному темпу.</a:t>
            </a:r>
          </a:p>
          <a:p>
            <a:r>
              <a:t>Признак серьёзности можно сменить. Чем его заменить, разберём во второй половине урока.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37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38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39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40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41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4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F40CBF3B-5C3C-414B-8F19-FD9356A43885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E61DB92F-7E60-4226-84C8-544B4A4BC905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ГРОМКО И ОСКОРБИТЕЛЬНО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C0312BB6-0E0C-41A4-9B1C-522BCBF05954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обязан быть слышен через шум станка, поэтому громкость сама по себе к оскорблению отношения не имеет.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D577813-C94E-4CC6-B2DD-BAD446849B08}"/>
              </a:ext>
            </a:extLst>
          </p:cNvPr>
          <p:cNvSpPr>
            <a:spLocks noGrp="1"/>
          </p:cNvSpPr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«Отложи деталь, здесь брак», сказанное громко, сообщает рабочему, что деталь бракованная и её надо отложить.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8C0059C9-1192-4451-A97D-8B5CAAC90F3D}"/>
              </a:ext>
            </a:extLst>
          </p:cNvPr>
          <p:cNvSpPr>
            <a:spLocks noGrp="1"/>
          </p:cNvSpPr>
          <p:nvPr/>
        </p:nvSpPr>
        <p:spPr>
          <a:xfrm>
            <a:off x="1041400" y="3665537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/>
              <a:t>«</a:t>
            </a:r>
            <a:r>
              <a:rPr dirty="0" err="1"/>
              <a:t>Ты</a:t>
            </a:r>
            <a:r>
              <a:rPr dirty="0"/>
              <a:t> </a:t>
            </a:r>
            <a:r>
              <a:rPr dirty="0" err="1"/>
              <a:t>дурак</a:t>
            </a:r>
            <a:r>
              <a:rPr dirty="0"/>
              <a:t>», </a:t>
            </a:r>
            <a:r>
              <a:rPr dirty="0" err="1"/>
              <a:t>сказанное</a:t>
            </a:r>
            <a:r>
              <a:rPr dirty="0"/>
              <a:t> с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громкостью</a:t>
            </a:r>
            <a:r>
              <a:rPr dirty="0"/>
              <a:t>, о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сообщает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.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A4A58BC0-4B43-41BA-ABFD-847E7E96FF5B}"/>
              </a:ext>
            </a:extLst>
          </p:cNvPr>
          <p:cNvSpPr>
            <a:spLocks noGrp="1"/>
          </p:cNvSpPr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Дальше в уроке речь идёт про второе.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7F9ABDAD-AC66-44AD-B9F4-F7E7D0DAAB21}"/>
              </a:ext>
            </a:extLst>
          </p:cNvPr>
          <p:cNvSpPr>
            <a:spLocks noGrp="1"/>
          </p:cNvSpPr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9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42950" y="1962150"/>
            <a:ext cx="984250" cy="984250"/>
          </a:xfrm>
          <a:prstGeom prst="rect">
            <a:avLst/>
          </a:prstGeom>
        </p:spPr>
      </p:pic>
      <p:pic>
        <p:nvPicPr>
          <p:cNvPr id="4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100" y="4083050"/>
            <a:ext cx="1949450" cy="1949450"/>
          </a:xfrm>
          <a:prstGeom prst="rect">
            <a:avLst/>
          </a:prstGeom>
        </p:spPr>
      </p:pic>
      <p:pic>
        <p:nvPicPr>
          <p:cNvPr id="41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4350" y="-2197100"/>
            <a:ext cx="2628900" cy="2628900"/>
          </a:xfrm>
          <a:prstGeom prst="rect">
            <a:avLst/>
          </a:prstGeom>
        </p:spPr>
      </p:pic>
      <p:pic>
        <p:nvPicPr>
          <p:cNvPr id="42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4800" y="6350000"/>
            <a:ext cx="1600200" cy="1600200"/>
          </a:xfrm>
          <a:prstGeom prst="rect">
            <a:avLst/>
          </a:prstGeom>
        </p:spPr>
      </p:pic>
      <p:pic>
        <p:nvPicPr>
          <p:cNvPr id="43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8350" y="165100"/>
            <a:ext cx="3429000" cy="3429000"/>
          </a:xfrm>
          <a:prstGeom prst="rect">
            <a:avLst/>
          </a:prstGeom>
        </p:spPr>
      </p:pic>
      <p:pic>
        <p:nvPicPr>
          <p:cNvPr id="44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-1073150"/>
            <a:ext cx="1352550" cy="135255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476500"/>
            <a:ext cx="3454400" cy="25146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8800" y="2476500"/>
            <a:ext cx="3454400" cy="25146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2600" y="2476500"/>
            <a:ext cx="3454400" cy="25146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221554DA-0A55-438B-817C-3E440E24AB83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DED1FAE4-156E-4946-81CC-78385A8E47C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ОТМАЗКИ ПРО СЕБЯ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FFF26AF-12B5-4F87-BF39-9E8E1365AA0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681AE26-80FD-4349-AD4D-8046C9D3D482}"/>
              </a:ext>
            </a:extLst>
          </p:cNvPr>
          <p:cNvSpPr>
            <a:spLocks noGrp="1"/>
          </p:cNvSpPr>
          <p:nvPr/>
        </p:nvSpPr>
        <p:spPr>
          <a:xfrm>
            <a:off x="9652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«Я отходчивый, они не обижаются, мы тут свои».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B863EC35-646B-4F82-A83D-09867371138B}"/>
              </a:ext>
            </a:extLst>
          </p:cNvPr>
          <p:cNvSpPr>
            <a:spLocks noGrp="1"/>
          </p:cNvSpPr>
          <p:nvPr/>
        </p:nvSpPr>
        <p:spPr>
          <a:xfrm>
            <a:off x="965200" y="3162300"/>
            <a:ext cx="2794000" cy="157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Жаловаться на мастера рабочему некому, поэтому жалоб мастер и не слышит. Люди отвечают иначе: снижают усилия, перестают подходить с вопросами, увольняются.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C48ED784-35E8-436B-81F0-F2E02BB8C3FE}"/>
              </a:ext>
            </a:extLst>
          </p:cNvPr>
          <p:cNvSpPr>
            <a:spLocks noGrp="1"/>
          </p:cNvSpPr>
          <p:nvPr/>
        </p:nvSpPr>
        <p:spPr>
          <a:xfrm>
            <a:off x="46990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«На меня самого сверху кричат».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B1B2BDC7-35C6-42AD-8F87-EC1915139FEC}"/>
              </a:ext>
            </a:extLst>
          </p:cNvPr>
          <p:cNvSpPr>
            <a:spLocks noGrp="1"/>
          </p:cNvSpPr>
          <p:nvPr/>
        </p:nvSpPr>
        <p:spPr>
          <a:xfrm>
            <a:off x="46990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Двойное давление разбирали в уроке 1.3. Мастер, который передаёт давление вниз в том виде, в каком получил сверху, работает передаточным звеном и своей работы не делает.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A7542817-9A37-4EFC-B319-727664B11DAC}"/>
              </a:ext>
            </a:extLst>
          </p:cNvPr>
          <p:cNvSpPr>
            <a:spLocks noGrp="1"/>
          </p:cNvSpPr>
          <p:nvPr/>
        </p:nvSpPr>
        <p:spPr>
          <a:xfrm>
            <a:off x="84328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«Меня так учили, и ничего, человеком стал».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153FAA4A-1AE9-4629-9F11-31FD7416753A}"/>
              </a:ext>
            </a:extLst>
          </p:cNvPr>
          <p:cNvSpPr>
            <a:spLocks noGrp="1"/>
          </p:cNvSpPr>
          <p:nvPr/>
        </p:nvSpPr>
        <p:spPr>
          <a:xfrm>
            <a:off x="84328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Те, кого такое обучение выбило из профессии, на заводе больше не работают. Мастер видит только тех, кто выдержал, и по ним судит о методе.</a:t>
            </a:r>
          </a:p>
        </p:txBody>
      </p:sp>
    </p:spTree>
    <p:extLst>
      <p:ext uri="{BB962C8B-B14F-4D97-AF65-F5344CB8AC3E}">
        <p14:creationId xmlns:p14="http://schemas.microsoft.com/office/powerpoint/2010/main" val="1504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/>
              <a:t>ОТМАЗКИ ПРО ПОЛЬЗУ ДЕЛА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/>
              <a:t>«Я </a:t>
            </a:r>
            <a:r>
              <a:rPr dirty="0" err="1"/>
              <a:t>кричу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дело</a:t>
            </a:r>
            <a:r>
              <a:rPr dirty="0"/>
              <a:t> </a:t>
            </a:r>
            <a:r>
              <a:rPr dirty="0" err="1"/>
              <a:t>болею</a:t>
            </a:r>
            <a:r>
              <a:rPr dirty="0"/>
              <a:t>».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Проверяется одним вопросом: что изменилось на участке после прошлого крика. Если ничего, крик снял напряжение мастеру и на работу не повлиял.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«Заказ горит, некогда разговаривать».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Короткие команды под срыв уместны. Оскорбление времени не экономит: давление на скорость даёт брак, а переделка стоит дороже разговора.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«Не будешь кричать, сядут на шею».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 err="1"/>
              <a:t>Мастер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полгода</a:t>
            </a:r>
            <a:r>
              <a:rPr dirty="0"/>
              <a:t> </a:t>
            </a:r>
            <a:r>
              <a:rPr dirty="0" err="1"/>
              <a:t>уговаривал</a:t>
            </a:r>
            <a:r>
              <a:rPr dirty="0"/>
              <a:t>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надеть</a:t>
            </a:r>
            <a:r>
              <a:rPr dirty="0"/>
              <a:t> </a:t>
            </a:r>
            <a:r>
              <a:rPr dirty="0" err="1"/>
              <a:t>каски</a:t>
            </a:r>
            <a:r>
              <a:rPr dirty="0"/>
              <a:t>,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кричал</a:t>
            </a:r>
            <a:r>
              <a:rPr dirty="0"/>
              <a:t>,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слушали</a:t>
            </a:r>
            <a:r>
              <a:rPr dirty="0"/>
              <a:t>. У </a:t>
            </a:r>
            <a:r>
              <a:rPr dirty="0" err="1"/>
              <a:t>обоих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требованием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стояло</a:t>
            </a:r>
            <a:r>
              <a:rPr dirty="0"/>
              <a:t>.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«Он заслужил».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Мера воздействия — это разговор, объяснительная, депремирование, увольнение (урок 3.4). Крик не отнимает у нарушителя ничего, кроме достоинства, и на участке ничего не меняет.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УЧАСТОК ПЛАТИТ ЗА КРИК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Кристин Порат и Кристин Пирсон опросили 800 руководителей и сотрудников в 17 отраслях. Вопросы задавали тем, с кем на работе обошлись грубо.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48%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48% — снизили усилия → медленнее работают, не берут лишнюю задачу, не помогают закрыть срочный заказ.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38%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38% — снизили качество работы → видят отклонение и молча передают деталь дальше.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63%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63% — тратили рабочее время, чтобы не пересекаться с обидчиком → откладывают вопросы, ждут, пока мастер уйдёт, лишний раз не подходят.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12%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12% — уволились из-за такого обращения → участок теряет обученного рабочего и тратит время на замену.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КРИЧАТ НА ОДНОГО, ТЕРЯЮТ ВСЕ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 том же исследовании смотрели на свидетелей крика. Люди, при которых нагрубили коллеге, работают примерно на 20% хуже, и половина из них меньше готова помогать другим.</a:t>
            </a:r>
          </a:p>
          <a:p>
            <a:r>
              <a:t>Крик в цеху слышит вся смена. Мастер разбирается с одним рабочим, а работа проседает у всех, кто рядом.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УЗНАЁТ О ПРОБЛЕМАХ ПОСЛЕДНИМ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 участке, где за плохую новость получают по голове, рабочие начинают скрывать проблемы. Механизм разбирали в уроке 1.3.</a:t>
            </a:r>
          </a:p>
          <a:p>
            <a:r>
              <a:t>Пример</a:t>
            </a:r>
          </a:p>
          <a:p>
            <a:r>
              <a:t>Рабочего вчера облаяли за брак. На следующий день он увидел, что отверстия не сходятся с чертежом, но к мастеру не подошёл. Попробовал подогнать деталь по месту и передал её дальше.</a:t>
            </a:r>
          </a:p>
          <a:p>
            <a:r>
              <a:t>Мастер увидел проблему уже на сборке, когда узел было сложно разобрать.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КРИК ПЕРЕСТАЁТ ЧТО-ЛИБО ЗНАЧИТЬ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Крик работает как сигнал, пока он редкий: рабочий слышит его и понимает, что дело серьёзное.</a:t>
            </a:r>
          </a:p>
          <a:p>
            <a:r>
              <a:t>Мастер, который кричит каждый день, этот сигнал теряет. Тон одинаковый и когда сорван заказ, и когда на верстаке грязная кружка. Рабочий не может отличить, мастер действительно недоволен или кричит по привычке, потому что не выспался и на него самого наорали утром.</a:t>
            </a:r>
          </a:p>
          <a:p>
            <a:r>
              <a:t>Крик быстро входит в привычку, потому что сразу даёт мастеру ощущение результата: он выплеснул напряжение, а рабочий после крика начал выполнять требование. Последствия появляются позже. Рабочие скрывают проблемы, качество снижается, кто-то начинает искать другую работу. К этому моменту мастер уже не связывает происходящее со своими постоянными срывами.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42950" y="1962150"/>
            <a:ext cx="984250" cy="984250"/>
          </a:xfrm>
          <a:prstGeom prst="rect">
            <a:avLst/>
          </a:prstGeom>
        </p:spPr>
      </p:pic>
      <p:pic>
        <p:nvPicPr>
          <p:cNvPr id="4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100" y="4083050"/>
            <a:ext cx="1949450" cy="1949450"/>
          </a:xfrm>
          <a:prstGeom prst="rect">
            <a:avLst/>
          </a:prstGeom>
        </p:spPr>
      </p:pic>
      <p:pic>
        <p:nvPicPr>
          <p:cNvPr id="41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4350" y="-2197100"/>
            <a:ext cx="2628900" cy="2628900"/>
          </a:xfrm>
          <a:prstGeom prst="rect">
            <a:avLst/>
          </a:prstGeom>
        </p:spPr>
      </p:pic>
      <p:pic>
        <p:nvPicPr>
          <p:cNvPr id="42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4800" y="6350000"/>
            <a:ext cx="1600200" cy="1600200"/>
          </a:xfrm>
          <a:prstGeom prst="rect">
            <a:avLst/>
          </a:prstGeom>
        </p:spPr>
      </p:pic>
      <p:pic>
        <p:nvPicPr>
          <p:cNvPr id="43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8350" y="165100"/>
            <a:ext cx="3429000" cy="3429000"/>
          </a:xfrm>
          <a:prstGeom prst="rect">
            <a:avLst/>
          </a:prstGeom>
        </p:spPr>
      </p:pic>
      <p:pic>
        <p:nvPicPr>
          <p:cNvPr id="44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-1073150"/>
            <a:ext cx="1352550" cy="135255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476500"/>
            <a:ext cx="3454400" cy="25146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8800" y="2476500"/>
            <a:ext cx="3454400" cy="25146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2600" y="2476500"/>
            <a:ext cx="3454400" cy="25146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221554DA-0A55-438B-817C-3E440E24AB83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DED1FAE4-156E-4946-81CC-78385A8E47C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КРИЧИТ В ТРЁХ СЛУЧАЯХ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FFF26AF-12B5-4F87-BF39-9E8E1365AA0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Вспомните свои последние срывы. Обычно это одна из трех перечисленных ситуаций. В каждой ситуации крик встаёт на место инструмента, которого вам не хватило.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681AE26-80FD-4349-AD4D-8046C9D3D482}"/>
              </a:ext>
            </a:extLst>
          </p:cNvPr>
          <p:cNvSpPr>
            <a:spLocks noGrp="1"/>
          </p:cNvSpPr>
          <p:nvPr/>
        </p:nvSpPr>
        <p:spPr>
          <a:xfrm>
            <a:off x="9652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ТРЕБОВАНИЕ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B863EC35-646B-4F82-A83D-09867371138B}"/>
              </a:ext>
            </a:extLst>
          </p:cNvPr>
          <p:cNvSpPr>
            <a:spLocks noGrp="1"/>
          </p:cNvSpPr>
          <p:nvPr/>
        </p:nvSpPr>
        <p:spPr>
          <a:xfrm>
            <a:off x="965200" y="3162300"/>
            <a:ext cx="2794000" cy="157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Требование не выполняют. Мастер третий раз говорит про каску, а каски на участке нет.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C48ED784-35E8-436B-81F0-F2E02BB8C3FE}"/>
              </a:ext>
            </a:extLst>
          </p:cNvPr>
          <p:cNvSpPr>
            <a:spLocks noGrp="1"/>
          </p:cNvSpPr>
          <p:nvPr/>
        </p:nvSpPr>
        <p:spPr>
          <a:xfrm>
            <a:off x="46990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ФАКТЫ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B1B2BDC7-35C6-42AD-8F87-EC1915139FEC}"/>
              </a:ext>
            </a:extLst>
          </p:cNvPr>
          <p:cNvSpPr>
            <a:spLocks noGrp="1"/>
          </p:cNvSpPr>
          <p:nvPr/>
        </p:nvSpPr>
        <p:spPr>
          <a:xfrm>
            <a:off x="46990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не понимает, что произошло, и слышит оправдания. Рабочий начал объяснять, мастер оборвал.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A7542817-9A37-4EFC-B319-727664B11DAC}"/>
              </a:ext>
            </a:extLst>
          </p:cNvPr>
          <p:cNvSpPr>
            <a:spLocks noGrp="1"/>
          </p:cNvSpPr>
          <p:nvPr/>
        </p:nvSpPr>
        <p:spPr>
          <a:xfrm>
            <a:off x="84328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САМОКОНТРОЛЬ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153FAA4A-1AE9-4629-9F11-31FD7416753A}"/>
              </a:ext>
            </a:extLst>
          </p:cNvPr>
          <p:cNvSpPr>
            <a:spLocks noGrp="1"/>
          </p:cNvSpPr>
          <p:nvPr/>
        </p:nvSpPr>
        <p:spPr>
          <a:xfrm>
            <a:off x="84328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не удержал себя. Давит план, рабочий нахамил, накопилось.</a:t>
            </a:r>
          </a:p>
        </p:txBody>
      </p:sp>
    </p:spTree>
    <p:extLst>
      <p:ext uri="{BB962C8B-B14F-4D97-AF65-F5344CB8AC3E}">
        <p14:creationId xmlns:p14="http://schemas.microsoft.com/office/powerpoint/2010/main" val="150440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37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38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39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40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41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4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F40CBF3B-5C3C-414B-8F19-FD9356A43885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E61DB92F-7E60-4226-84C8-544B4A4BC905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ТРЕБОВАНИЕ НЕ ВЫПОЛНЯЮТ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C0312BB6-0E0C-41A4-9B1C-522BCBF05954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Исполнения добиваются тремя вещами.</a:t>
            </a:r>
          </a:p>
          <a:p>
            <a:r>
              <a:t>Ясное требование. Что делать, по какому документу, к какому сроку (урок 3.1).</a:t>
            </a:r>
          </a:p>
          <a:p>
            <a:r>
              <a:t>Последствие. За невыполнением что-то следует, и рабочий знает что.</a:t>
            </a:r>
          </a:p>
          <a:p>
            <a:r>
              <a:t>Одинаково для всех и каждый раз. Требование, которое действует по настроению мастера, требованием не является.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D577813-C94E-4CC6-B2DD-BAD446849B08}"/>
              </a:ext>
            </a:extLst>
          </p:cNvPr>
          <p:cNvSpPr>
            <a:spLocks noGrp="1"/>
          </p:cNvSpPr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ПЕРВЫЙ МАСТЕР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8C0059C9-1192-4451-A97D-8B5CAAC90F3D}"/>
              </a:ext>
            </a:extLst>
          </p:cNvPr>
          <p:cNvSpPr>
            <a:spLocks noGrp="1"/>
          </p:cNvSpPr>
          <p:nvPr/>
        </p:nvSpPr>
        <p:spPr>
          <a:xfrm>
            <a:off x="10414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Пример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A4A58BC0-4B43-41BA-ABFD-847E7E96FF5B}"/>
              </a:ext>
            </a:extLst>
          </p:cNvPr>
          <p:cNvSpPr>
            <a:spLocks noGrp="1"/>
          </p:cNvSpPr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ВТОРОЙ МАСТЕР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7F9ABDAD-AC66-44AD-B9F4-F7E7D0DAAB21}"/>
              </a:ext>
            </a:extLst>
          </p:cNvPr>
          <p:cNvSpPr>
            <a:spLocks noGrp="1"/>
          </p:cNvSpPr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Два мастера столкнулись с одним нарушением.</a:t>
            </a:r>
          </a:p>
          <a:p>
            <a:r>
              <a:t>Первый полгода просил: «Вась, ну надень каску». Каски на участке не носили.</a:t>
            </a:r>
          </a:p>
          <a:p>
            <a:r>
              <a:t>Второй один раз объяснил, зачем каска нужна, и дальше применял лестницу: первый раз — разговор, второй — объяснительная, третий — объяснительной дали ход, и человек потерял 5% премии за культуру производства. После этого каски носили.</a:t>
            </a:r>
          </a:p>
          <a:p>
            <a:r>
              <a:t>Голос не повышал ни первый, ни второй.</a:t>
            </a:r>
          </a:p>
        </p:txBody>
      </p:sp>
    </p:spTree>
    <p:extLst>
      <p:ext uri="{BB962C8B-B14F-4D97-AF65-F5344CB8AC3E}">
        <p14:creationId xmlns:p14="http://schemas.microsoft.com/office/powerpoint/2010/main" val="315194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37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38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39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40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41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4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F40CBF3B-5C3C-414B-8F19-FD9356A43885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E61DB92F-7E60-4226-84C8-544B4A4BC905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/>
              <a:t>ТОН НИЖЕ, ТРЕБОВАНИЕ ТВЁРЖЕ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C0312BB6-0E0C-41A4-9B1C-522BCBF05954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Громкость и твёрдость независимы. Спокойная фраза, от которой мастер не отступает, весит больше, чем крик, после которого он уходит и ничего не проверяет.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D577813-C94E-4CC6-B2DD-BAD446849B08}"/>
              </a:ext>
            </a:extLst>
          </p:cNvPr>
          <p:cNvSpPr>
            <a:spLocks noGrp="1"/>
          </p:cNvSpPr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ПЕРВЫЙ МАСТЕР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8C0059C9-1192-4451-A97D-8B5CAAC90F3D}"/>
              </a:ext>
            </a:extLst>
          </p:cNvPr>
          <p:cNvSpPr>
            <a:spLocks noGrp="1"/>
          </p:cNvSpPr>
          <p:nvPr/>
        </p:nvSpPr>
        <p:spPr>
          <a:xfrm>
            <a:off x="10414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мастер</a:t>
            </a:r>
            <a:endParaRPr dirty="0"/>
          </a:p>
          <a:p>
            <a:r>
              <a:rPr dirty="0"/>
              <a:t>«</a:t>
            </a:r>
            <a:r>
              <a:rPr dirty="0" err="1"/>
              <a:t>Ты</a:t>
            </a:r>
            <a:r>
              <a:rPr dirty="0"/>
              <a:t> </a:t>
            </a:r>
            <a:r>
              <a:rPr dirty="0" err="1"/>
              <a:t>опять</a:t>
            </a:r>
            <a:r>
              <a:rPr dirty="0"/>
              <a:t> </a:t>
            </a:r>
            <a:r>
              <a:rPr dirty="0" err="1"/>
              <a:t>запорол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, </a:t>
            </a:r>
            <a:r>
              <a:rPr dirty="0" err="1"/>
              <a:t>руки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растут</a:t>
            </a:r>
            <a:r>
              <a:rPr dirty="0"/>
              <a:t>».</a:t>
            </a:r>
          </a:p>
          <a:p>
            <a:r>
              <a:rPr dirty="0" err="1"/>
              <a:t>Мастер</a:t>
            </a:r>
            <a:r>
              <a:rPr dirty="0"/>
              <a:t> </a:t>
            </a:r>
            <a:r>
              <a:rPr dirty="0" err="1"/>
              <a:t>прокричал</a:t>
            </a:r>
            <a:r>
              <a:rPr dirty="0"/>
              <a:t> и </a:t>
            </a:r>
            <a:r>
              <a:rPr dirty="0" err="1"/>
              <a:t>ушёл</a:t>
            </a:r>
            <a:r>
              <a:rPr dirty="0"/>
              <a:t>.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час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занят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 и </a:t>
            </a:r>
            <a:r>
              <a:rPr dirty="0" err="1"/>
              <a:t>про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вспомнил</a:t>
            </a:r>
            <a:r>
              <a:rPr dirty="0"/>
              <a:t>.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A4A58BC0-4B43-41BA-ABFD-847E7E96FF5B}"/>
              </a:ext>
            </a:extLst>
          </p:cNvPr>
          <p:cNvSpPr>
            <a:spLocks noGrp="1"/>
          </p:cNvSpPr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ВТОРОЙ МАСТЕР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7F9ABDAD-AC66-44AD-B9F4-F7E7D0DAAB21}"/>
              </a:ext>
            </a:extLst>
          </p:cNvPr>
          <p:cNvSpPr>
            <a:spLocks noGrp="1"/>
          </p:cNvSpPr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Второй мастер</a:t>
            </a:r>
          </a:p>
          <a:p>
            <a:r>
              <a:t>«Панель ушла без замера. Теперь меряй каждую перед передачей. В четыре подойду и посмотрю, как это делается».</a:t>
            </a:r>
          </a:p>
          <a:p>
            <a:r>
              <a:t>Мастер сказал спокойно и в четыре подошёл. Рабочий воспринял этот разговор серьёзнее, потому что за требованием последовала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31519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42950" y="1962150"/>
            <a:ext cx="984250" cy="984250"/>
          </a:xfrm>
          <a:prstGeom prst="rect">
            <a:avLst/>
          </a:prstGeom>
        </p:spPr>
      </p:pic>
      <p:pic>
        <p:nvPicPr>
          <p:cNvPr id="4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100" y="4083050"/>
            <a:ext cx="1949450" cy="1949450"/>
          </a:xfrm>
          <a:prstGeom prst="rect">
            <a:avLst/>
          </a:prstGeom>
        </p:spPr>
      </p:pic>
      <p:pic>
        <p:nvPicPr>
          <p:cNvPr id="41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4350" y="-2197100"/>
            <a:ext cx="2628900" cy="2628900"/>
          </a:xfrm>
          <a:prstGeom prst="rect">
            <a:avLst/>
          </a:prstGeom>
        </p:spPr>
      </p:pic>
      <p:pic>
        <p:nvPicPr>
          <p:cNvPr id="42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4800" y="6350000"/>
            <a:ext cx="1600200" cy="1600200"/>
          </a:xfrm>
          <a:prstGeom prst="rect">
            <a:avLst/>
          </a:prstGeom>
        </p:spPr>
      </p:pic>
      <p:pic>
        <p:nvPicPr>
          <p:cNvPr id="43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8350" y="165100"/>
            <a:ext cx="3429000" cy="3429000"/>
          </a:xfrm>
          <a:prstGeom prst="rect">
            <a:avLst/>
          </a:prstGeom>
        </p:spPr>
      </p:pic>
      <p:pic>
        <p:nvPicPr>
          <p:cNvPr id="44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-1073150"/>
            <a:ext cx="1352550" cy="135255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476500"/>
            <a:ext cx="3454400" cy="25146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8800" y="2476500"/>
            <a:ext cx="3454400" cy="25146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2600" y="2476500"/>
            <a:ext cx="3454400" cy="25146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221554DA-0A55-438B-817C-3E440E24AB83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DED1FAE4-156E-4946-81CC-78385A8E47C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ПРЕТЕНЗИЯ ПО ФАКТУ, А НЕ ПО ЧЕЛОВЕКУ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FFF26AF-12B5-4F87-BF39-9E8E1365AA0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 уроке 3.2 разбирали формулу замечания: факт, последствие, ожидание. Под эмоцией она слетает первой, и мастер переходит на человека.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681AE26-80FD-4349-AD4D-8046C9D3D482}"/>
              </a:ext>
            </a:extLst>
          </p:cNvPr>
          <p:cNvSpPr>
            <a:spLocks noGrp="1"/>
          </p:cNvSpPr>
          <p:nvPr/>
        </p:nvSpPr>
        <p:spPr>
          <a:xfrm>
            <a:off x="9652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ВИДНО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B863EC35-646B-4F82-A83D-09867371138B}"/>
              </a:ext>
            </a:extLst>
          </p:cNvPr>
          <p:cNvSpPr>
            <a:spLocks noGrp="1"/>
          </p:cNvSpPr>
          <p:nvPr/>
        </p:nvSpPr>
        <p:spPr>
          <a:xfrm>
            <a:off x="965200" y="3162300"/>
            <a:ext cx="2794000" cy="157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Удержать её помогает правило: говорить только про то, что видно, и про то, что нужно.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C48ED784-35E8-436B-81F0-F2E02BB8C3FE}"/>
              </a:ext>
            </a:extLst>
          </p:cNvPr>
          <p:cNvSpPr>
            <a:spLocks noGrp="1"/>
          </p:cNvSpPr>
          <p:nvPr/>
        </p:nvSpPr>
        <p:spPr>
          <a:xfrm>
            <a:off x="46990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ВЫШЛО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B1B2BDC7-35C6-42AD-8F87-EC1915139FEC}"/>
              </a:ext>
            </a:extLst>
          </p:cNvPr>
          <p:cNvSpPr>
            <a:spLocks noGrp="1"/>
          </p:cNvSpPr>
          <p:nvPr/>
        </p:nvSpPr>
        <p:spPr>
          <a:xfrm>
            <a:off x="46990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видно: «Три панели ушли на сборку без замера».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A7542817-9A37-4EFC-B319-727664B11DAC}"/>
              </a:ext>
            </a:extLst>
          </p:cNvPr>
          <p:cNvSpPr>
            <a:spLocks noGrp="1"/>
          </p:cNvSpPr>
          <p:nvPr/>
        </p:nvSpPr>
        <p:spPr>
          <a:xfrm>
            <a:off x="84328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НУЖНО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153FAA4A-1AE9-4629-9F11-31FD7416753A}"/>
              </a:ext>
            </a:extLst>
          </p:cNvPr>
          <p:cNvSpPr>
            <a:spLocks noGrp="1"/>
          </p:cNvSpPr>
          <p:nvPr/>
        </p:nvSpPr>
        <p:spPr>
          <a:xfrm>
            <a:off x="84328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вышло: «Сборка встала на два часа».</a:t>
            </a:r>
          </a:p>
          <a:p>
            <a:r>
              <a:t>Что нужно: «Каждую меряешь перед передачей».</a:t>
            </a:r>
          </a:p>
          <a:p>
            <a:r>
              <a:t>Личность рабочего в этих трёх фразах не появляется, а требование звучит жёстко.</a:t>
            </a:r>
          </a:p>
        </p:txBody>
      </p:sp>
    </p:spTree>
    <p:extLst>
      <p:ext uri="{BB962C8B-B14F-4D97-AF65-F5344CB8AC3E}">
        <p14:creationId xmlns:p14="http://schemas.microsoft.com/office/powerpoint/2010/main" val="150440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СНАЧАЛА ПОЛУЧИТЕ ФАКТЫ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Если мастер заранее решил, что слышит отговорку, и не дослушал рабочего, он начинает действовать по собственной версии причины.</a:t>
            </a:r>
          </a:p>
          <a:p>
            <a:r>
              <a:t>Он может давить на человека, которому не хватило оснастки, или отправить доучиваться того, кто просто не хотел работать. Причина останется на месте, завтра сбой повторится, и мастер снова окажется в той же ситуации.</a:t>
            </a:r>
          </a:p>
          <a:p>
            <a:r>
              <a:t>Отличать препятствие от отговорки учились в уроке 3.1. Чтобы отличить одно от другого, сначала нужно дослушать рабочего.</a:t>
            </a:r>
          </a:p>
          <a:p>
            <a:r>
              <a:t>Пример</a:t>
            </a:r>
          </a:p>
          <a:p>
            <a:r>
              <a:t>Рабочий начал объяснять, почему панели не были согнуты. Мастер заранее решил, что сейчас пойдут отмазки, и оборвал его. После этого он уже не мог понять, была ли проблема в оснастке, организации работы или в самом рабочем.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АКТИВНОЕ СЛУШАНИЕ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 1957 году Карл Роджерс и Ричард Фарсон выпустили работу «Активное слушание» в Центре производственных отношений Чикагского университета. Писали её как пособие для мастеров на заводах. После внедрения основных принципов активного слушания существенно поднялась производительность труда, потому что исчезли многие недопонимания, ведущие к проблемам.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Не перебивайте. Дайте рабочему договорить до конца, даже если уже поняли, что он хочет сказать.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Верните услышанное своими словами.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«Правильно понял: ты полсмены ждал оснастку и мне не сказал?»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Задайте уточняющий вопрос.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«Во сколько ты понял, что оснастки нет?»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ВЫДЕРЖИТЕ ПАУЗУ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Выдержите паузу. Самое важное люди часто договаривают после паузы.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37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38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39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40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41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4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F40CBF3B-5C3C-414B-8F19-FD9356A43885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E61DB92F-7E60-4226-84C8-544B4A4BC905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НЕ ПЕРЕБИВАЙТЕ И НЕ СТАВЬТЕ ДИАГНОЗ ДО ТОГО, КАК ПОЛУЧИЛИ ФАКТЫ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C0312BB6-0E0C-41A4-9B1C-522BCBF05954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Если мастер перебивает объяснение и сам решает, что произошло, он может начать исправлять не ту причину.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D577813-C94E-4CC6-B2DD-BAD446849B08}"/>
              </a:ext>
            </a:extLst>
          </p:cNvPr>
          <p:cNvSpPr>
            <a:spLocks noGrp="1"/>
          </p:cNvSpPr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ПЕРЕБИЛ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8C0059C9-1192-4451-A97D-8B5CAAC90F3D}"/>
              </a:ext>
            </a:extLst>
          </p:cNvPr>
          <p:cNvSpPr>
            <a:spLocks noGrp="1"/>
          </p:cNvSpPr>
          <p:nvPr/>
        </p:nvSpPr>
        <p:spPr>
          <a:xfrm>
            <a:off x="10414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Пример</a:t>
            </a:r>
          </a:p>
          <a:p>
            <a:r>
              <a:t>Рабочий не выполнил работу и начал объяснять почему.</a:t>
            </a:r>
          </a:p>
          <a:p>
            <a:r>
              <a:t>Мастер перебил</a:t>
            </a:r>
          </a:p>
          <a:p>
            <a:r>
              <a:t>«Хватит, знаю я твои сказки. Опять полсмены неизвестно где ходил».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A4A58BC0-4B43-41BA-ABFD-847E7E96FF5B}"/>
              </a:ext>
            </a:extLst>
          </p:cNvPr>
          <p:cNvSpPr>
            <a:spLocks noGrp="1"/>
          </p:cNvSpPr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ДОСЛУШАЛ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7F9ABDAD-AC66-44AD-B9F4-F7E7D0DAAB21}"/>
              </a:ext>
            </a:extLst>
          </p:cNvPr>
          <p:cNvSpPr>
            <a:spLocks noGrp="1"/>
          </p:cNvSpPr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Рабочий замолчал. Мастер решил, что тот отлынивал.</a:t>
            </a:r>
          </a:p>
          <a:p>
            <a:r>
              <a:t>Мастер дослушал и уточнил</a:t>
            </a:r>
          </a:p>
          <a:p>
            <a:r>
              <a:t>Рабочий рассказал, что с семи утра ждал оснастку, дважды ходил в инструменталку, а оснастку забрали на другой участок и не вернули.</a:t>
            </a:r>
          </a:p>
          <a:p>
            <a:r>
              <a:t>Мастер узнал настоящую причину и теперь может решить проблему с оснасткой.</a:t>
            </a:r>
          </a:p>
        </p:txBody>
      </p:sp>
    </p:spTree>
    <p:extLst>
      <p:ext uri="{BB962C8B-B14F-4D97-AF65-F5344CB8AC3E}">
        <p14:creationId xmlns:p14="http://schemas.microsoft.com/office/powerpoint/2010/main" val="315194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37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38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39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40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41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4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F40CBF3B-5C3C-414B-8F19-FD9356A43885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E61DB92F-7E60-4226-84C8-544B4A4BC905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 ВМЕСТО ПРИКАЗА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C0312BB6-0E0C-41A4-9B1C-522BCBF05954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 нужен, когда мастеру нужно получить информацию или заставить рабочего подумать самому. Если решение уже принято, нужен прямой приказ.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D577813-C94E-4CC6-B2DD-BAD446849B08}"/>
              </a:ext>
            </a:extLst>
          </p:cNvPr>
          <p:cNvSpPr>
            <a:spLocks noGrp="1"/>
          </p:cNvSpPr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8C0059C9-1192-4451-A97D-8B5CAAC90F3D}"/>
              </a:ext>
            </a:extLst>
          </p:cNvPr>
          <p:cNvSpPr>
            <a:spLocks noGrp="1"/>
          </p:cNvSpPr>
          <p:nvPr/>
        </p:nvSpPr>
        <p:spPr>
          <a:xfrm>
            <a:off x="10414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</a:t>
            </a:r>
          </a:p>
          <a:p>
            <a:r>
              <a:t>Используйте вопрос, когда рабочий знает операцию лучше мастера, когда нужно вскрыть причину или чтобы человек сам предложил решение.</a:t>
            </a:r>
          </a:p>
          <a:p>
            <a:r>
              <a:t>«Как думаешь, уложиться до обеда?»</a:t>
            </a:r>
          </a:p>
          <a:p>
            <a:r>
              <a:t>«Что тебе нужно, чтобы закрыть партию сегодня?»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A4A58BC0-4B43-41BA-ABFD-847E7E96FF5B}"/>
              </a:ext>
            </a:extLst>
          </p:cNvPr>
          <p:cNvSpPr>
            <a:spLocks noGrp="1"/>
          </p:cNvSpPr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ПРИКАЗ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7F9ABDAD-AC66-44AD-B9F4-F7E7D0DAAB21}"/>
              </a:ext>
            </a:extLst>
          </p:cNvPr>
          <p:cNvSpPr>
            <a:spLocks noGrp="1"/>
          </p:cNvSpPr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Приказ</a:t>
            </a:r>
          </a:p>
          <a:p>
            <a:r>
              <a:t>Приказ нужен, когда решение уже принято: срочность, безопасность, распоряжение сверху. Обсуждать нечего, и вопрос здесь только сбивает.</a:t>
            </a:r>
          </a:p>
          <a:p>
            <a:r>
              <a:t>«Работаешь в очках. Без очков к станку не подходишь».</a:t>
            </a:r>
          </a:p>
        </p:txBody>
      </p:sp>
    </p:spTree>
    <p:extLst>
      <p:ext uri="{BB962C8B-B14F-4D97-AF65-F5344CB8AC3E}">
        <p14:creationId xmlns:p14="http://schemas.microsoft.com/office/powerpoint/2010/main" val="315194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ПРИКАЗ, ЗАМАСКИРОВАННЫЙ ПОД ВОПРОС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Если выбора на самом деле нет, не оформляйте приказ как вопрос.</a:t>
            </a:r>
          </a:p>
          <a:p>
            <a:r>
              <a:t>Пример</a:t>
            </a:r>
          </a:p>
          <a:p>
            <a:r>
              <a:t>Мастер спросил рабочего: «Не хочешь остаться на переработку?»</a:t>
            </a:r>
          </a:p>
          <a:p>
            <a:r>
              <a:t>Рабочий понял, что выбора нет, и согласился. Вечером выяснилось, что остаться он не может: у него ребёнок в саду.</a:t>
            </a:r>
          </a:p>
          <a:p>
            <a:r>
              <a:t>Мастер получил согласие, за которым ничего не стояло.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СРЫВ ОЗНАЧАЕТ, ЧТО МАСТЕР НЕ УДЕРЖАЛ СЕБЯ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Есть позиция, которую произносят с гордостью: «Да, я кричу, зато потом подхожу и извиняюсь».</a:t>
            </a:r>
          </a:p>
          <a:p>
            <a:r>
              <a:t>Участок из этого узнаёт, что кричать можно: за это извинятся, и на этом всё закончится. Требование мастера при этом не становится весомее.</a:t>
            </a:r>
          </a:p>
          <a:p>
            <a:r>
              <a:t>Извинение снимает вину с самого мастера, и ему становится легче. Порог срыва от этого не поднимается, и следующий раз наступает раньше.</a:t>
            </a:r>
          </a:p>
          <a:p>
            <a:r>
              <a:t>Мастер, который сорвался, не удержал себя. Дальше идёт работа над тем, чтобы это не повторялось.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КАК ЗАМЕТИТЬ, ЧТО ЗАКИПАЕШЬ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Срыву предшествуют признаки, которые человек в себе замечает.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ЧЕЛЮСТИ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Сжались челюсти.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ГОЛОС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Голос пошёл вверх.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ДЫХАНИЕ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Сбилось дыхание.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ФРАЗА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 голове уже крутится фраза, которую хочется сказать.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ДЕЛАТЬ, КОГДА ЗАМЕТИЛИ, ЧТО ЗАКИПАЕТЕ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ОТОЙДИТЕ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Отойдите. Хотя бы на минуту, хотя бы отвернитесь к станку.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НАЗОВИТЕ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Назовите себе, что происходит. «Я на взводе». В уроке 1.3 разбирали механизм: названная эмоция переключает мозг из режима реакции в режим решения.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НАЗНАЧЬТЕ ВРЕМЯ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Назначьте время разговора вслух. «Подойду через час, разберёмся».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НЕ ОТМЕНЯЙТЕ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Отложить разговор можно, отменить нельзя. Мастер, который сказал «через час» и не подошёл, теряет больше, чем если бы наорал.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ЗАГОТОВКИ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Мастер срывается, потому что в горячий момент у него нет готовой фразы. Придумать её за секунду не выходит, и вылетает то, что первым попалось.</a:t>
            </a:r>
          </a:p>
          <a:p>
            <a:r>
              <a:t>Заготовку пишут заранее, на каждую ситуацию, в которой мастера регулярно несёт.</a:t>
            </a:r>
          </a:p>
          <a:p>
            <a:r>
              <a:t>Заготовку нужно выучить заранее. В момент, когда закипаешь, вспоминается то, что повторял.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Рабочий хамит в ответ.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«Со мной так не разговаривают. Вернёмся к панели».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Рабочий сыплет оправданиями.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«Стоп. Что конкретно мешало и когда ты это увидел?»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Рабочий третий раз делает одно и то же.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«Мы это обсуждали дважды. Сегодня пишешь объяснительную».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Начальник производства давит при рабочих.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«Понял, разберусь. Подойду к Вам через двадцать минут с решением».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9000" y="4387850"/>
            <a:ext cx="1416050" cy="1416050"/>
          </a:xfrm>
          <a:prstGeom prst="rect">
            <a:avLst/>
          </a:prstGeom>
        </p:spPr>
      </p:pic>
      <p:pic>
        <p:nvPicPr>
          <p:cNvPr id="39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" y="6426200"/>
            <a:ext cx="3276600" cy="3276600"/>
          </a:xfrm>
          <a:prstGeom prst="rect">
            <a:avLst/>
          </a:prstGeom>
        </p:spPr>
      </p:pic>
      <p:pic>
        <p:nvPicPr>
          <p:cNvPr id="40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5100" y="6235700"/>
            <a:ext cx="2114550" cy="2114550"/>
          </a:xfrm>
          <a:prstGeom prst="rect">
            <a:avLst/>
          </a:prstGeom>
        </p:spPr>
      </p:pic>
      <p:pic>
        <p:nvPicPr>
          <p:cNvPr id="41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6900" y="-1460500"/>
            <a:ext cx="1924050" cy="1924050"/>
          </a:xfrm>
          <a:prstGeom prst="rect">
            <a:avLst/>
          </a:prstGeom>
        </p:spPr>
      </p:pic>
      <p:pic>
        <p:nvPicPr>
          <p:cNvPr id="42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8500" y="-844550"/>
            <a:ext cx="1409700" cy="1409700"/>
          </a:xfrm>
          <a:prstGeom prst="rect">
            <a:avLst/>
          </a:prstGeom>
        </p:spPr>
      </p:pic>
      <p:pic>
        <p:nvPicPr>
          <p:cNvPr id="4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26900" y="5784850"/>
            <a:ext cx="1079500" cy="1079500"/>
          </a:xfrm>
          <a:prstGeom prst="rect">
            <a:avLst/>
          </a:prstGeom>
        </p:spPr>
      </p:pic>
      <p:pic>
        <p:nvPicPr>
          <p:cNvPr id="44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53800" y="546100"/>
            <a:ext cx="2044700" cy="204470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sp>
        <p:nvSpPr>
          <p:cNvPr id="18" name="Место под изображение">
            <a:extLst>
              <a:ext uri="{FF2B5EF4-FFF2-40B4-BE49-F238E27FC236}">
                <a16:creationId xmlns:a16="http://schemas.microsoft.com/office/drawing/2014/main" id="{BEF62A79-503E-4B52-AB3F-C6A367C88BE2}"/>
              </a:ext>
            </a:extLst>
          </p:cNvPr>
          <p:cNvSpPr>
            <a:spLocks noGrp="1"/>
          </p:cNvSpPr>
          <p:nvPr/>
        </p:nvSpPr>
        <p:spPr>
          <a:xfrm>
            <a:off x="698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Место под изображение">
            <a:extLst>
              <a:ext uri="{FF2B5EF4-FFF2-40B4-BE49-F238E27FC236}">
                <a16:creationId xmlns:a16="http://schemas.microsoft.com/office/drawing/2014/main" id="{59E7FAE0-9CE9-4736-BD5C-62F4A9B4A04A}"/>
              </a:ext>
            </a:extLst>
          </p:cNvPr>
          <p:cNvSpPr>
            <a:spLocks noGrp="1"/>
          </p:cNvSpPr>
          <p:nvPr/>
        </p:nvSpPr>
        <p:spPr>
          <a:xfrm>
            <a:off x="9080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Бабл">
            <a:extLst>
              <a:ext uri="{FF2B5EF4-FFF2-40B4-BE49-F238E27FC236}">
                <a16:creationId xmlns:a16="http://schemas.microsoft.com/office/drawing/2014/main" id="{FF9C173E-D37A-481A-A926-056CD181A49E}"/>
              </a:ext>
            </a:extLst>
          </p:cNvPr>
          <p:cNvSpPr>
            <a:spLocks noGrp="1"/>
          </p:cNvSpPr>
          <p:nvPr/>
        </p:nvSpPr>
        <p:spPr>
          <a:xfrm>
            <a:off x="3365500" y="1714500"/>
            <a:ext cx="4787900" cy="2247900"/>
          </a:xfrm>
          <a:prstGeom prst="wedgeRoundRectCallout">
            <a:avLst>
              <a:gd name="adj1" fmla="val -50058"/>
              <a:gd name="adj2" fmla="val -26695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Бабл">
            <a:extLst>
              <a:ext uri="{FF2B5EF4-FFF2-40B4-BE49-F238E27FC236}">
                <a16:creationId xmlns:a16="http://schemas.microsoft.com/office/drawing/2014/main" id="{FCA11471-E32C-42A1-8670-A89339C73607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4717504" cy="2396412"/>
          </a:xfrm>
          <a:prstGeom prst="wedgeRoundRectCallout">
            <a:avLst>
              <a:gd name="adj1" fmla="val 50050"/>
              <a:gd name="adj2" fmla="val -25000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2" name="Акцентная линия">
            <a:extLst>
              <a:ext uri="{FF2B5EF4-FFF2-40B4-BE49-F238E27FC236}">
                <a16:creationId xmlns:a16="http://schemas.microsoft.com/office/drawing/2014/main" id="{B660629D-F848-45A4-ABBA-1B32F99E18B9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Текст 1">
            <a:extLst>
              <a:ext uri="{FF2B5EF4-FFF2-40B4-BE49-F238E27FC236}">
                <a16:creationId xmlns:a16="http://schemas.microsoft.com/office/drawing/2014/main" id="{B00A8B6C-F8F0-4575-AFBD-EC667C2381C6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ЕСЛИ ВСЁ-ТАКИ СОРВАЛСЯ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F5A69B6C-2520-407B-9B2B-08DDBE248CE4}"/>
              </a:ext>
            </a:extLst>
          </p:cNvPr>
          <p:cNvSpPr>
            <a:spLocks noGrp="1"/>
          </p:cNvSpPr>
          <p:nvPr/>
        </p:nvSpPr>
        <p:spPr>
          <a:xfrm>
            <a:off x="704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0" spc="5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АЛЕКСЕЙ · В ПОЛНЫЙ РОСТ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E6CE0C45-613F-43F2-A328-87A991589A45}"/>
              </a:ext>
            </a:extLst>
          </p:cNvPr>
          <p:cNvSpPr>
            <a:spLocks noGrp="1"/>
          </p:cNvSpPr>
          <p:nvPr/>
        </p:nvSpPr>
        <p:spPr>
          <a:xfrm>
            <a:off x="9086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0" spc="5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ДЕНИС · В ПОЛНЫЙ РОСТ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D64BA1AC-7EAB-4893-B3B5-5C621C2A980E}"/>
              </a:ext>
            </a:extLst>
          </p:cNvPr>
          <p:cNvSpPr>
            <a:spLocks noGrp="1"/>
          </p:cNvSpPr>
          <p:nvPr/>
        </p:nvSpPr>
        <p:spPr>
          <a:xfrm>
            <a:off x="3702050" y="1987550"/>
            <a:ext cx="4787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Денис</a:t>
            </a: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B9C199C5-1818-4DE1-A918-CC5B6B4094C9}"/>
              </a:ext>
            </a:extLst>
          </p:cNvPr>
          <p:cNvSpPr>
            <a:spLocks noGrp="1"/>
          </p:cNvSpPr>
          <p:nvPr/>
        </p:nvSpPr>
        <p:spPr>
          <a:xfrm>
            <a:off x="3702050" y="2317750"/>
            <a:ext cx="4191648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Я в прошлом году наорал на сварщика при всей смене. Он третий день ставил раму с поводкой, а я в тот день зашивался с планом. Наорал и ушёл. Через час вернулся: я тебя облаял, это лишнее, извини. Диагонали меряешь после прихваток, это остаётся.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F9D0EE01-FB49-4D04-89F1-720B97C24636}"/>
              </a:ext>
            </a:extLst>
          </p:cNvPr>
          <p:cNvSpPr>
            <a:spLocks noGrp="1"/>
          </p:cNvSpPr>
          <p:nvPr/>
        </p:nvSpPr>
        <p:spPr>
          <a:xfrm>
            <a:off x="4532446" y="4419859"/>
            <a:ext cx="3779158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Алексей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DE1FF489-807B-4247-8376-67CB3CB5D8AB}"/>
              </a:ext>
            </a:extLst>
          </p:cNvPr>
          <p:cNvSpPr>
            <a:spLocks noGrp="1"/>
          </p:cNvSpPr>
          <p:nvPr/>
        </p:nvSpPr>
        <p:spPr>
          <a:xfrm>
            <a:off x="4532446" y="4794250"/>
            <a:ext cx="4039507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И всё?</a:t>
            </a:r>
          </a:p>
        </p:txBody>
      </p:sp>
    </p:spTree>
    <p:extLst>
      <p:ext uri="{BB962C8B-B14F-4D97-AF65-F5344CB8AC3E}">
        <p14:creationId xmlns:p14="http://schemas.microsoft.com/office/powerpoint/2010/main" val="611015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3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3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3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36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37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38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39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>
            <a:extLst>
              <a:ext uri="{FF2B5EF4-FFF2-40B4-BE49-F238E27FC236}">
                <a16:creationId xmlns:a16="http://schemas.microsoft.com/office/drawing/2014/main" id="{54423A81-1D47-478A-A964-2011DED9A071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>
            <a:extLst>
              <a:ext uri="{FF2B5EF4-FFF2-40B4-BE49-F238E27FC236}">
                <a16:creationId xmlns:a16="http://schemas.microsoft.com/office/drawing/2014/main" id="{2A071413-B3A9-4210-8A28-4ABC782623AE}"/>
              </a:ext>
            </a:extLst>
          </p:cNvPr>
          <p:cNvSpPr>
            <a:spLocks noGrp="1"/>
          </p:cNvSpPr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ЧТО ДЕЛАТЬ ПОСЛЕ СРЫВА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A5DC52A2-3B70-413D-B6E9-A55463598775}"/>
              </a:ext>
            </a:extLst>
          </p:cNvPr>
          <p:cNvSpPr>
            <a:spLocks noGrp="1"/>
          </p:cNvSpPr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Извинение не отменяет того, что рабочий и вся смена услышали. Важно не только извиниться, но и сделать так, чтобы следующий разговор прошёл иначе.</a:t>
            </a:r>
          </a:p>
          <a:p>
            <a:r>
              <a:t>Пример</a:t>
            </a:r>
          </a:p>
          <a:p>
            <a:r>
              <a:t>Вечером Денис сел разбирать свой срыв и понял, что его несёт каждый раз, когда ему говорят «я всё сделал», а он видит брак.</a:t>
            </a:r>
          </a:p>
          <a:p>
            <a:r>
              <a:t>Он написал себе фразу на этот случай и повторял её, пока она не легла на язык.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CA039C6-439B-4F88-B6CA-30E7495EBFC0}"/>
              </a:ext>
            </a:extLst>
          </p:cNvPr>
          <p:cNvSpPr>
            <a:spLocks noGrp="1"/>
          </p:cNvSpPr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sz="1700" b="0" spc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74175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42950" y="1962150"/>
            <a:ext cx="984250" cy="984250"/>
          </a:xfrm>
          <a:prstGeom prst="rect">
            <a:avLst/>
          </a:prstGeom>
        </p:spPr>
      </p:pic>
      <p:pic>
        <p:nvPicPr>
          <p:cNvPr id="4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100" y="4083050"/>
            <a:ext cx="1949450" cy="1949450"/>
          </a:xfrm>
          <a:prstGeom prst="rect">
            <a:avLst/>
          </a:prstGeom>
        </p:spPr>
      </p:pic>
      <p:pic>
        <p:nvPicPr>
          <p:cNvPr id="41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4350" y="-2197100"/>
            <a:ext cx="2628900" cy="2628900"/>
          </a:xfrm>
          <a:prstGeom prst="rect">
            <a:avLst/>
          </a:prstGeom>
        </p:spPr>
      </p:pic>
      <p:pic>
        <p:nvPicPr>
          <p:cNvPr id="42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4800" y="6350000"/>
            <a:ext cx="1600200" cy="1600200"/>
          </a:xfrm>
          <a:prstGeom prst="rect">
            <a:avLst/>
          </a:prstGeom>
        </p:spPr>
      </p:pic>
      <p:pic>
        <p:nvPicPr>
          <p:cNvPr id="43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8350" y="165100"/>
            <a:ext cx="3429000" cy="3429000"/>
          </a:xfrm>
          <a:prstGeom prst="rect">
            <a:avLst/>
          </a:prstGeom>
        </p:spPr>
      </p:pic>
      <p:pic>
        <p:nvPicPr>
          <p:cNvPr id="44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-1073150"/>
            <a:ext cx="1352550" cy="1352550"/>
          </a:xfrm>
          <a:prstGeom prst="rect">
            <a:avLst/>
          </a:prstGeom>
        </p:spPr>
      </p:pic>
      <p:pic>
        <p:nvPicPr>
          <p:cNvPr id="4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476500"/>
            <a:ext cx="3454400" cy="25146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8800" y="2476500"/>
            <a:ext cx="3454400" cy="25146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2600" y="2476500"/>
            <a:ext cx="3454400" cy="25146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221554DA-0A55-438B-817C-3E440E24AB83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DED1FAE4-156E-4946-81CC-78385A8E47C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ПРАКТИКА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FFF26AF-12B5-4F87-BF39-9E8E1365AA0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Три ситуации, в каждой мастера тянет закричать. Выберите ход и посмотрите на результат.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681AE26-80FD-4349-AD4D-8046C9D3D482}"/>
              </a:ext>
            </a:extLst>
          </p:cNvPr>
          <p:cNvSpPr>
            <a:spLocks noGrp="1"/>
          </p:cNvSpPr>
          <p:nvPr/>
        </p:nvSpPr>
        <p:spPr>
          <a:xfrm>
            <a:off x="9652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СИТУАЦИЯ 1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B863EC35-646B-4F82-A83D-09867371138B}"/>
              </a:ext>
            </a:extLst>
          </p:cNvPr>
          <p:cNvSpPr>
            <a:spLocks noGrp="1"/>
          </p:cNvSpPr>
          <p:nvPr/>
        </p:nvSpPr>
        <p:spPr>
          <a:xfrm>
            <a:off x="965200" y="3162300"/>
            <a:ext cx="2794000" cy="157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Рабочий второй раз за смену пришёл с недоделанной работой и говорит, что ему мешали.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C48ED784-35E8-436B-81F0-F2E02BB8C3FE}"/>
              </a:ext>
            </a:extLst>
          </p:cNvPr>
          <p:cNvSpPr>
            <a:spLocks noGrp="1"/>
          </p:cNvSpPr>
          <p:nvPr/>
        </p:nvSpPr>
        <p:spPr>
          <a:xfrm>
            <a:off x="46990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СИТУАЦИЯ 2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B1B2BDC7-35C6-42AD-8F87-EC1915139FEC}"/>
              </a:ext>
            </a:extLst>
          </p:cNvPr>
          <p:cNvSpPr>
            <a:spLocks noGrp="1"/>
          </p:cNvSpPr>
          <p:nvPr/>
        </p:nvSpPr>
        <p:spPr>
          <a:xfrm>
            <a:off x="46990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Начальник производства при всей смене отчитал мастера за срыв срока, а срок сорвался из-за поставки.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A7542817-9A37-4EFC-B319-727664B11DAC}"/>
              </a:ext>
            </a:extLst>
          </p:cNvPr>
          <p:cNvSpPr>
            <a:spLocks noGrp="1"/>
          </p:cNvSpPr>
          <p:nvPr/>
        </p:nvSpPr>
        <p:spPr>
          <a:xfrm>
            <a:off x="84328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СИТУАЦИЯ 3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153FAA4A-1AE9-4629-9F11-31FD7416753A}"/>
              </a:ext>
            </a:extLst>
          </p:cNvPr>
          <p:cNvSpPr>
            <a:spLocks noGrp="1"/>
          </p:cNvSpPr>
          <p:nvPr/>
        </p:nvSpPr>
        <p:spPr>
          <a:xfrm>
            <a:off x="84328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Рабочий на замечание отвечает: «Ну ясно, я тут крайний. Увольняй тогда».</a:t>
            </a:r>
          </a:p>
        </p:txBody>
      </p:sp>
    </p:spTree>
    <p:extLst>
      <p:ext uri="{BB962C8B-B14F-4D97-AF65-F5344CB8AC3E}">
        <p14:creationId xmlns:p14="http://schemas.microsoft.com/office/powerpoint/2010/main" val="150440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4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4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4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4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4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4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4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4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5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>
            <a:extLst>
              <a:ext uri="{FF2B5EF4-FFF2-40B4-BE49-F238E27FC236}">
                <a16:creationId xmlns:a16="http://schemas.microsoft.com/office/drawing/2014/main" id="{975EEB0D-E70A-4866-93F3-74FE35BA3A40}"/>
              </a:ext>
            </a:extLst>
          </p:cNvPr>
          <p:cNvSpPr>
            <a:spLocks noGrp="1"/>
          </p:cNvSpPr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>
            <a:extLst>
              <a:ext uri="{FF2B5EF4-FFF2-40B4-BE49-F238E27FC236}">
                <a16:creationId xmlns:a16="http://schemas.microsoft.com/office/drawing/2014/main" id="{E89CE3DA-3BB7-42DA-BE49-6CC414AD793C}"/>
              </a:ext>
            </a:extLst>
          </p:cNvPr>
          <p:cNvSpPr>
            <a:spLocks noGrp="1"/>
          </p:cNvSpPr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НА ОБХОДЕ</a:t>
            </a:r>
          </a:p>
        </p:txBody>
      </p:sp>
      <p:sp>
        <p:nvSpPr>
          <p:cNvPr id="22" name="Текст 2">
            <a:extLst>
              <a:ext uri="{FF2B5EF4-FFF2-40B4-BE49-F238E27FC236}">
                <a16:creationId xmlns:a16="http://schemas.microsoft.com/office/drawing/2014/main" id="{85F2820D-42D9-4ABB-B59D-8DA4BB84C62C}"/>
              </a:ext>
            </a:extLst>
          </p:cNvPr>
          <p:cNvSpPr>
            <a:spLocks noGrp="1"/>
          </p:cNvSpPr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Добавьте в чек-лист обхода вопросы про себя.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1103E3E8-11A9-494D-A5EA-7239FA22F8E2}"/>
              </a:ext>
            </a:extLst>
          </p:cNvPr>
          <p:cNvSpPr>
            <a:spLocks noGrp="1"/>
          </p:cNvSpPr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 1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6F937338-DD73-4643-8C25-96CACC874B3B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Сколько раз за неделю я повышал голос и что было причиной каждый раз?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F1E76D83-0DAB-4EC8-A2EB-21731A19FAA6}"/>
              </a:ext>
            </a:extLst>
          </p:cNvPr>
          <p:cNvSpPr>
            <a:spLocks noGrp="1"/>
          </p:cNvSpPr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 2</a:t>
            </a:r>
          </a:p>
        </p:txBody>
      </p:sp>
      <p:sp>
        <p:nvSpPr>
          <p:cNvPr id="26" name="Текст 6">
            <a:extLst>
              <a:ext uri="{FF2B5EF4-FFF2-40B4-BE49-F238E27FC236}">
                <a16:creationId xmlns:a16="http://schemas.microsoft.com/office/drawing/2014/main" id="{DD63D870-D044-4D16-B557-022B35A90E3E}"/>
              </a:ext>
            </a:extLst>
          </p:cNvPr>
          <p:cNvSpPr>
            <a:spLocks noGrp="1"/>
          </p:cNvSpPr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Есть рабочий, который со мной не разговаривает, а только отвечает на вопросы?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7E2A858F-2747-4B00-9FCD-4BF166928B80}"/>
              </a:ext>
            </a:extLst>
          </p:cNvPr>
          <p:cNvSpPr>
            <a:spLocks noGrp="1"/>
          </p:cNvSpPr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 3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64B73F82-472C-493C-B059-F8DCE14B3B26}"/>
              </a:ext>
            </a:extLst>
          </p:cNvPr>
          <p:cNvSpPr>
            <a:spLocks noGrp="1"/>
          </p:cNvSpPr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Когда я последний раз дослушал рабочего до конца, не перебив?</a:t>
            </a:r>
          </a:p>
        </p:txBody>
      </p:sp>
      <p:sp>
        <p:nvSpPr>
          <p:cNvPr id="29" name="Текст 9">
            <a:extLst>
              <a:ext uri="{FF2B5EF4-FFF2-40B4-BE49-F238E27FC236}">
                <a16:creationId xmlns:a16="http://schemas.microsoft.com/office/drawing/2014/main" id="{FDA4AB0A-894E-4AD7-95DA-E0A68B27D82A}"/>
              </a:ext>
            </a:extLst>
          </p:cNvPr>
          <p:cNvSpPr>
            <a:spLocks noGrp="1"/>
          </p:cNvSpPr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ВОПРОС 4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C17BA177-FFCE-4D10-BC99-CB86F7583481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t>Есть требование, которое я повторяю месяцами, и за которым ничего не следует?</a:t>
            </a:r>
          </a:p>
        </p:txBody>
      </p:sp>
    </p:spTree>
    <p:extLst>
      <p:ext uri="{BB962C8B-B14F-4D97-AF65-F5344CB8AC3E}">
        <p14:creationId xmlns:p14="http://schemas.microsoft.com/office/powerpoint/2010/main" val="63648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3274</Words>
  <Application>Microsoft Office PowerPoint</Application>
  <DocSecurity>0</DocSecurity>
  <PresentationFormat>Широкоэкранный</PresentationFormat>
  <Paragraphs>247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8" baseType="lpstr">
      <vt:lpstr>Arial</vt:lpstr>
      <vt:lpstr>Bahnschrift SemiBold Condensed</vt:lpstr>
      <vt:lpstr>Calibri</vt:lpstr>
      <vt:lpstr>Calibri Light</vt:lpstr>
      <vt:lpstr>Consolas</vt:lpstr>
      <vt:lpstr>Montserrat Light</vt:lpstr>
      <vt:lpstr>Nunito</vt:lpstr>
      <vt:lpstr>Roboto Condensed</vt:lpstr>
      <vt:lpstr>Office Theme</vt:lpstr>
      <vt:lpstr>Урок 3.3. Как добиваться результата без крика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Судьбинина Анастасия Игоревна</cp:lastModifiedBy>
  <cp:revision>2</cp:revision>
  <dcterms:created xsi:type="dcterms:W3CDTF">2026-08-19T12:58:10Z</dcterms:created>
  <dcterms:modified xsi:type="dcterms:W3CDTF">2026-08-20T06:13:21Z</dcterms:modified>
</cp:coreProperties>
</file>